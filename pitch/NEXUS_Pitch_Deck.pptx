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share</c:v>
                </c:pt>
              </c:strCache>
            </c:strRef>
          </c:tx>
          <c:dPt>
            <c:idx val="0"/>
            <c:spPr>
              <a:solidFill>
                <a:srgbClr val="22D3EE"/>
              </a:solidFill>
              <a:ln w="19050">
                <a:solidFill>
                  <a:srgbClr val="0A0D12"/>
                </a:solidFill>
              </a:ln>
            </c:spPr>
          </c:dPt>
          <c:dPt>
            <c:idx val="1"/>
            <c:spPr>
              <a:solidFill>
                <a:srgbClr val="A78BFA"/>
              </a:solidFill>
              <a:ln w="19050">
                <a:solidFill>
                  <a:srgbClr val="0A0D12"/>
                </a:solidFill>
              </a:ln>
            </c:spPr>
          </c:dPt>
          <c:dPt>
            <c:idx val="2"/>
            <c:spPr>
              <a:solidFill>
                <a:srgbClr val="22C55E"/>
              </a:solidFill>
              <a:ln w="19050">
                <a:solidFill>
                  <a:srgbClr val="0A0D12"/>
                </a:solidFill>
              </a:ln>
            </c:spPr>
          </c:dPt>
          <c:dPt>
            <c:idx val="3"/>
            <c:spPr>
              <a:solidFill>
                <a:srgbClr val="F59E0B"/>
              </a:solidFill>
              <a:ln w="19050">
                <a:solidFill>
                  <a:srgbClr val="0A0D12"/>
                </a:solidFill>
              </a:ln>
            </c:spPr>
          </c:dPt>
          <c:dPt>
            <c:idx val="4"/>
            <c:spPr>
              <a:solidFill>
                <a:srgbClr val="60A5FA"/>
              </a:solidFill>
              <a:ln w="19050">
                <a:solidFill>
                  <a:srgbClr val="0A0D12"/>
                </a:solidFill>
              </a:ln>
            </c:spPr>
          </c:dPt>
          <c:dPt>
            <c:idx val="5"/>
            <c:spPr>
              <a:solidFill>
                <a:srgbClr val="EF4444"/>
              </a:solidFill>
              <a:ln w="19050">
                <a:solidFill>
                  <a:srgbClr val="0A0D12"/>
                </a:solidFill>
              </a:ln>
            </c:spPr>
          </c:dPt>
          <c:dPt>
            <c:idx val="6"/>
            <c:spPr>
              <a:solidFill>
                <a:srgbClr val="8B98A5"/>
              </a:solidFill>
              <a:ln w="19050">
                <a:solidFill>
                  <a:srgbClr val="0A0D12"/>
                </a:solidFill>
              </a:ln>
            </c:spPr>
          </c:dPt>
          <c:dPt>
            <c:idx val="7"/>
            <c:spPr>
              <a:solidFill>
                <a:srgbClr val="38BDF8"/>
              </a:solidFill>
              <a:ln w="19050">
                <a:solidFill>
                  <a:srgbClr val="0A0D12"/>
                </a:solidFill>
              </a:ln>
            </c:spPr>
          </c:dPt>
          <c:dPt>
            <c:idx val="8"/>
            <c:spPr>
              <a:solidFill>
                <a:srgbClr val="F472B6"/>
              </a:solidFill>
              <a:ln w="19050">
                <a:solidFill>
                  <a:srgbClr val="0A0D12"/>
                </a:solidFill>
              </a:ln>
            </c:spPr>
          </c:dPt>
          <c:cat>
            <c:strRef>
              <c:f>Sheet1!$A$2:$A$10</c:f>
              <c:strCache>
                <c:ptCount val="9"/>
                <c:pt idx="0">
                  <c:v>agents (8)</c:v>
                </c:pt>
                <c:pt idx="1">
                  <c:v>api (6)</c:v>
                </c:pt>
                <c:pt idx="2">
                  <c:v>events (9)</c:v>
                </c:pt>
                <c:pt idx="3">
                  <c:v>forecasting (8)</c:v>
                </c:pt>
                <c:pt idx="4">
                  <c:v>nlq (15)</c:v>
                </c:pt>
                <c:pt idx="5">
                  <c:v>optimization (17)</c:v>
                </c:pt>
                <c:pt idx="6">
                  <c:v>simulation (14)</c:v>
                </c:pt>
                <c:pt idx="7">
                  <c:v>twin (11)</c:v>
                </c:pt>
                <c:pt idx="8">
                  <c:v>whatif (4)</c:v>
                </c:pt>
              </c:strCache>
            </c:strRef>
          </c:cat>
          <c:val>
            <c:numRef>
              <c:f>Sheet1!$B$2:$B$10</c:f>
              <c:numCache>
                <c:formatCode>General</c:formatCode>
                <c:ptCount val="9"/>
                <c:pt idx="0">
                  <c:v>8</c:v>
                </c:pt>
                <c:pt idx="1">
                  <c:v>6</c:v>
                </c:pt>
                <c:pt idx="2">
                  <c:v>9</c:v>
                </c:pt>
                <c:pt idx="3">
                  <c:v>8</c:v>
                </c:pt>
                <c:pt idx="4">
                  <c:v>15</c:v>
                </c:pt>
                <c:pt idx="5">
                  <c:v>17</c:v>
                </c:pt>
                <c:pt idx="6">
                  <c:v>14</c:v>
                </c:pt>
                <c:pt idx="7">
                  <c:v>11</c:v>
                </c:pt>
                <c:pt idx="8">
                  <c:v>4</c:v>
                </c:pt>
              </c:numCache>
            </c:numRef>
          </c:val>
        </c:ser>
        <c:dLbls>
          <c:numFmt formatCode="0%" sourceLinked="0"/>
          <c:txPr>
            <a:bodyPr/>
            <a:lstStyle/>
            <a:p>
              <a:pPr>
                <a:defRPr sz="950" b="1">
                  <a:solidFill>
                    <a:srgbClr val="E6EDF3"/>
                  </a:solidFill>
                  <a:latin typeface="Segoe UI"/>
                </a:defRPr>
              </a:pPr>
            </a:p>
          </c:txPr>
          <c:showLegendKey val="0"/>
          <c:showVal val="0"/>
          <c:showCatName val="0"/>
          <c:showSerName val="0"/>
          <c:showPercent val="1"/>
          <c:showBubbleSize val="0"/>
          <c:showLeaderLines val="1"/>
        </c:dLbls>
        <c:firstSliceAng val="0"/>
        <c:holeSize val="58"/>
      </c:doughnutChart>
      <c:spPr>
        <a:noFill/>
        <a:ln>
          <a:noFill/>
        </a:ln>
      </c:spPr>
    </c:plotArea>
    <c:legend>
      <c:legendPos/>
      <c:layout/>
      <c:overlay val="0"/>
      <c:txPr>
        <a:bodyPr/>
        <a:lstStyle/>
        <a:p>
          <a:pPr>
            <a:defRPr sz="1000">
              <a:solidFill>
                <a:srgbClr val="E6EDF3"/>
              </a:solidFill>
              <a:latin typeface="Segoe UI"/>
            </a:defRPr>
          </a:pPr>
        </a:p>
      </c:txPr>
    </c:legend>
    <c:plotVisOnly val="1"/>
    <c:dispBlanksAs val="gap"/>
    <c:showDLblsOverMax val="0"/>
  </c:chart>
  <c:spPr>
    <a:noFill/>
    <a:ln>
      <a:noFill/>
    </a:ln>
  </c:spPr>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share</c:v>
                </c:pt>
              </c:strCache>
            </c:strRef>
          </c:tx>
          <c:dPt>
            <c:idx val="0"/>
            <c:spPr>
              <a:solidFill>
                <a:srgbClr val="22D3EE"/>
              </a:solidFill>
              <a:ln w="19050">
                <a:solidFill>
                  <a:srgbClr val="0A0D12"/>
                </a:solidFill>
              </a:ln>
            </c:spPr>
          </c:dPt>
          <c:dPt>
            <c:idx val="1"/>
            <c:spPr>
              <a:solidFill>
                <a:srgbClr val="A78BFA"/>
              </a:solidFill>
              <a:ln w="19050">
                <a:solidFill>
                  <a:srgbClr val="0A0D12"/>
                </a:solidFill>
              </a:ln>
            </c:spPr>
          </c:dPt>
          <c:dPt>
            <c:idx val="2"/>
            <c:spPr>
              <a:solidFill>
                <a:srgbClr val="22C55E"/>
              </a:solidFill>
              <a:ln w="19050">
                <a:solidFill>
                  <a:srgbClr val="0A0D12"/>
                </a:solidFill>
              </a:ln>
            </c:spPr>
          </c:dPt>
          <c:dPt>
            <c:idx val="3"/>
            <c:spPr>
              <a:solidFill>
                <a:srgbClr val="F59E0B"/>
              </a:solidFill>
              <a:ln w="19050">
                <a:solidFill>
                  <a:srgbClr val="0A0D12"/>
                </a:solidFill>
              </a:ln>
            </c:spPr>
          </c:dPt>
          <c:dPt>
            <c:idx val="4"/>
            <c:spPr>
              <a:solidFill>
                <a:srgbClr val="60A5FA"/>
              </a:solidFill>
              <a:ln w="19050">
                <a:solidFill>
                  <a:srgbClr val="0A0D12"/>
                </a:solidFill>
              </a:ln>
            </c:spPr>
          </c:dPt>
          <c:cat>
            <c:strRef>
              <c:f>Sheet1!$A$2:$A$6</c:f>
              <c:strCache>
                <c:ptCount val="5"/>
                <c:pt idx="0">
                  <c:v>Python — engine, agents, API — 13,528 lines</c:v>
                </c:pt>
                <c:pt idx="1">
                  <c:v>Python — tests — 1,642 lines</c:v>
                </c:pt>
                <c:pt idx="2">
                  <c:v>TypeScript — twin UI — 8,688 lines</c:v>
                </c:pt>
                <c:pt idx="3">
                  <c:v>Docs, ADRs, README — 1,800 lines</c:v>
                </c:pt>
                <c:pt idx="4">
                  <c:v>Infra — compose, CI, Grafana, Docker — 303 lines</c:v>
                </c:pt>
              </c:strCache>
            </c:strRef>
          </c:cat>
          <c:val>
            <c:numRef>
              <c:f>Sheet1!$B$2:$B$6</c:f>
              <c:numCache>
                <c:formatCode>General</c:formatCode>
                <c:ptCount val="5"/>
                <c:pt idx="0">
                  <c:v>13528</c:v>
                </c:pt>
                <c:pt idx="1">
                  <c:v>1642</c:v>
                </c:pt>
                <c:pt idx="2">
                  <c:v>8688</c:v>
                </c:pt>
                <c:pt idx="3">
                  <c:v>1800</c:v>
                </c:pt>
                <c:pt idx="4">
                  <c:v>303</c:v>
                </c:pt>
              </c:numCache>
            </c:numRef>
          </c:val>
        </c:ser>
        <c:dLbls>
          <c:numFmt formatCode="0%" sourceLinked="0"/>
          <c:txPr>
            <a:bodyPr/>
            <a:lstStyle/>
            <a:p>
              <a:pPr>
                <a:defRPr sz="950" b="1">
                  <a:solidFill>
                    <a:srgbClr val="E6EDF3"/>
                  </a:solidFill>
                  <a:latin typeface="Segoe UI"/>
                </a:defRPr>
              </a:pPr>
            </a:p>
          </c:txPr>
          <c:showLegendKey val="0"/>
          <c:showVal val="0"/>
          <c:showCatName val="0"/>
          <c:showSerName val="0"/>
          <c:showPercent val="1"/>
          <c:showBubbleSize val="0"/>
          <c:showLeaderLines val="1"/>
        </c:dLbls>
        <c:firstSliceAng val="0"/>
        <c:holeSize val="58"/>
      </c:doughnutChart>
      <c:spPr>
        <a:noFill/>
        <a:ln>
          <a:noFill/>
        </a:ln>
      </c:spPr>
    </c:plotArea>
    <c:legend>
      <c:legendPos/>
      <c:layout/>
      <c:overlay val="0"/>
      <c:txPr>
        <a:bodyPr/>
        <a:lstStyle/>
        <a:p>
          <a:pPr>
            <a:defRPr sz="1000">
              <a:solidFill>
                <a:srgbClr val="E6EDF3"/>
              </a:solidFill>
              <a:latin typeface="Segoe UI"/>
            </a:defRPr>
          </a:pPr>
        </a:p>
      </c:txPr>
    </c:legend>
    <c:plotVisOnly val="1"/>
    <c:dispBlanksAs val="gap"/>
    <c:showDLblsOverMax val="0"/>
  </c:chart>
  <c:spPr>
    <a:noFill/>
    <a:ln>
      <a:noFill/>
    </a:ln>
  </c:spPr>
  <c:txPr>
    <a:bodyPr/>
    <a:lstStyle/>
    <a:p>
      <a:pPr>
        <a:defRPr sz="1800"/>
      </a:pPr>
      <a:endParaR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the name. One sentence: a virtual world that mirrors a physical operation, plus AI agents that understand, predict, simulate and optimize what happens inside it — and simulate before they act.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failure modes of today's operations software. The numbers at the bottom are from our own twin: one robot out of twelve at the peak is enough to put 39% of orders at risk within the hour if nobody acts.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exact operator briefing rendered by the platform on the demo incident. Every number is computed by simulating each candidate plan in a forked copy of the twin. The LLM only proposes candidates; mathematics disposes.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is moving from chat windows into physical operations. Analysts name physical AI, multi-agent systems, spatial AI and digital twins as strategic themes. NEXUS's thesis: the digital twin is the operating system of physical AI.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twin is the single source of truth. Around it: an event engine that makes every change auditable and replayable, a deterministic simulation engine that can fork the present into many futures, an optimization engine, a multi-agent runtime that plans, validates, simulates, risk-checks, approves and executes, plus forecasting, a what-if lab and a natural-language console.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timeline: the twin runs from 08:00; at 10:25 demand surges 20%; at 10:30 R07 fails; within 19 seconds NEXUS has simulated nine plans and 21 allocations; the recommended plan executes; the realised breach converges to the simulated projection.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every candidate's projected SLA breach after a 60-minute simulation in a forked twin. Reassignment plans don't beat doing nothing because the optimized scheduler already reassigns released tasks within seconds; capacity levers do. Right: the pipeline that produced the ranking.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UI talks to a FastAPI/WebSocket layer. Below it three planes share the world: the twin engine (state), the agent runtime (decisions) and the event engine (truth). The simulation engine runs the same code for the live twin and for every forked future; the optimization engine is called by the scheduler and by the agents.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twin is a dataclass world: fast to copy, trivial to hash. Four built-in scales from a tiny test world to 100 robots / 50 zones / 2,400 shelves. Forking a world costs milliseconds, which is what makes simulate-before-execute affordable.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the reducer mutates the world. Engines and agents emit events. Replay is a snapshot plus the external events; the deterministic engine regenerates the rest and the digest must match — this is tested.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engine is a discrete-time lockstep simulation with a fixed order of operations. Determinism is what makes forks, replays and benchmarks trustworthy. Speed: thousands of simulated seconds per wall second.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objective is a weighted multi-objective cost shared by the scheduler, the plan ranking and the what-if comparison. Assignment is a CP-SAT model with fallbacks; batching, deadline sequencing and routing policies are the levers the agents pull.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forecasters run every simulated minute: demand, battery, congestion and bottlenecks. They feed the planner prompt, the risk agent and the UI. Milliseconds, deterministic.</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Nine stages. The planner is the only place a language model appears, and it is optional: deterministic playbooks guarantee coverage. Everything downstream is validation, optimization, simulation, risk and policy.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Safety is a stack of controls, not a feature: closed vocabulary, validation, forked simulation, risk assessment including stability re-runs, approval policy, attributable idempotent events. The limitations are stated honestly.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semantic spatial graph is derived from the world on demand: zones, corridors, shelves, robots, orders and their relations. The planner uses it to pick helpers by zone hops and spare neighbours for inventory; the console uses it to explain.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scenario is a list of typed mutations applied to a forked world; each strategy runs it in parallel; results are compared on the shared KPIs and scored with the optimization objective. Twelve presets, or any question in the console.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answer is computed by the engine — attribution, forecast, what-if, entity lookup — then optionally rewritten by the local LLM, which is discarded if it changes a number. These examples were captured from a run with the LLM off.</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UI is a Next.js + Three.js twin: instanced shelves, congestion-tinted zones, robots coloured by status with their remaining paths, a KPI bar, fault injection, and the decision drawer. Seven pages; works fully offline in mock mode.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strategies see the same seeds, orders and incident schedule (robot failure at +30 min, demand surge at +60 min, aisle blocked at +90 min). SLA breach is the headline KPI.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Average fulfilment time and throughput per strategy and scale. Throughput is demand-limited when the fleet keeps up; the gap opens as the scheduler falls behind.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the summary table straight from the benchmark runner. Right: a normalised radar — each axis is scaled so that the best strategy scores 1.</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Queueing systems have a cliff: past capacity, backlog and lateness explode. Batching and optimized assignment roughly double the capacity of the same 12 robots, which is why the baseline collapses in the benchmarks at demand the optimized scheduler handles comfortably.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92 tests across nine areas, determinism and replay gates, ruff and mypy clean, three CI jobs, Docker images. The API contract is pydantic on the backend and mirrored in TypeScript.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Line counts are measured by walking the repository at build time. The entire stack costs nothing to run.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engine never imports the warehouse. A DomainModel supplies the layout, demand and vocabulary. Factory, hospital, airport, data center and fleets map onto the same shapes: agents, jobs, resources, sinks, energy, areas.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with a pilot on one site using historical events; expand to a per-site platform subscription; grow through domain packs and integrations. Buyers are operations leaders, 3PLs and robotics integrators who already own the fleets.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Dashboards describe, fleet managers execute, simulation tools plan offline, LLM copilots chat. NEXUS is the layer that connects prediction, simulation, optimization and safe execution — and it runs locally.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M0–M13 are done and in the repository. Next quarters: simulator bridges, reinforcement-learning dispatch policies, factory and hospital domain packs, multi-site, and enterprise hardening.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deliberate progression: an AI operating system for people, AI for software infrastructure, AI for security, and now AI for physical operations. Each project is public, benchmarked and local-first.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concrete asks: pilots, backing for the physical bridges, and advisors. Everything shown runs on a laptop today; the next step is a real site.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material: the KPI definitions shared by every component, and the sixteen action types a plan may contain.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REST surface and the WebSocket frames. Shapes are defined once in pydantic and mirrored in TypeScript.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6.png"/><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chart" Target="../charts/char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chart" Target="../charts/char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D12"/>
        </a:solidFill>
        <a:effectLst/>
      </p:bgPr>
    </p:bg>
    <p:spTree>
      <p:nvGrpSpPr>
        <p:cNvPr id="1" name=""/>
        <p:cNvGrpSpPr/>
        <p:nvPr/>
      </p:nvGrpSpPr>
      <p:grpSpPr/>
      <p:sp>
        <p:nvSpPr>
          <p:cNvPr id="2" name="Rectangle 1"/>
          <p:cNvSpPr/>
          <p:nvPr/>
        </p:nvSpPr>
        <p:spPr>
          <a:xfrm>
            <a:off x="822960" y="1691640"/>
            <a:ext cx="1371600" cy="5486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828800"/>
            <a:ext cx="6858000" cy="1280160"/>
          </a:xfrm>
          <a:prstGeom prst="rect">
            <a:avLst/>
          </a:prstGeom>
          <a:noFill/>
        </p:spPr>
        <p:txBody>
          <a:bodyPr wrap="square" anchor="t" lIns="36576" rIns="36576" tIns="36576" bIns="36576">
            <a:spAutoFit/>
          </a:bodyPr>
          <a:lstStyle/>
          <a:p>
            <a:pPr algn="l">
              <a:lnSpc>
                <a:spcPct val="110000"/>
              </a:lnSpc>
              <a:spcAft>
                <a:spcPts val="400"/>
              </a:spcAft>
            </a:pPr>
            <a:r>
              <a:rPr sz="6600" b="1" i="0">
                <a:solidFill>
                  <a:srgbClr val="E6EDF3"/>
                </a:solidFill>
                <a:latin typeface="Segoe UI"/>
              </a:rPr>
              <a:t>NEXUS</a:t>
            </a:r>
          </a:p>
        </p:txBody>
      </p:sp>
      <p:sp>
        <p:nvSpPr>
          <p:cNvPr id="4" name="TextBox 3"/>
          <p:cNvSpPr txBox="1"/>
          <p:nvPr/>
        </p:nvSpPr>
        <p:spPr>
          <a:xfrm>
            <a:off x="822960" y="3017520"/>
            <a:ext cx="6949440" cy="822960"/>
          </a:xfrm>
          <a:prstGeom prst="rect">
            <a:avLst/>
          </a:prstGeom>
          <a:noFill/>
        </p:spPr>
        <p:txBody>
          <a:bodyPr wrap="square" anchor="t" lIns="36576" rIns="36576" tIns="36576" bIns="36576">
            <a:spAutoFit/>
          </a:bodyPr>
          <a:lstStyle/>
          <a:p>
            <a:pPr algn="l">
              <a:lnSpc>
                <a:spcPct val="110000"/>
              </a:lnSpc>
              <a:spcAft>
                <a:spcPts val="400"/>
              </a:spcAft>
            </a:pPr>
            <a:r>
              <a:rPr sz="2200" b="1" i="0">
                <a:solidFill>
                  <a:srgbClr val="22D3EE"/>
                </a:solidFill>
                <a:latin typeface="Segoe UI"/>
              </a:rPr>
              <a:t>AI-native Digital Twin &amp; Autonomous Operations Platform</a:t>
            </a:r>
          </a:p>
        </p:txBody>
      </p:sp>
      <p:sp>
        <p:nvSpPr>
          <p:cNvPr id="5" name="TextBox 4"/>
          <p:cNvSpPr txBox="1"/>
          <p:nvPr/>
        </p:nvSpPr>
        <p:spPr>
          <a:xfrm>
            <a:off x="822960" y="3749039"/>
            <a:ext cx="6766560" cy="1097280"/>
          </a:xfrm>
          <a:prstGeom prst="rect">
            <a:avLst/>
          </a:prstGeom>
          <a:noFill/>
        </p:spPr>
        <p:txBody>
          <a:bodyPr wrap="square" anchor="t" lIns="36576" rIns="36576" tIns="36576" bIns="36576">
            <a:spAutoFit/>
          </a:bodyPr>
          <a:lstStyle/>
          <a:p>
            <a:pPr algn="l">
              <a:lnSpc>
                <a:spcPct val="120000"/>
              </a:lnSpc>
              <a:spcAft>
                <a:spcPts val="400"/>
              </a:spcAft>
            </a:pPr>
            <a:r>
              <a:rPr sz="1400" b="0" i="0">
                <a:solidFill>
                  <a:srgbClr val="8B98A5"/>
                </a:solidFill>
                <a:latin typeface="Segoe UI"/>
              </a:rPr>
              <a:t>A virtual world that mirrors a physical operation — and AI agents that understand, predict, simulate and optimize what happens inside it. Before executing an action, NEXUS simulates it.</a:t>
            </a:r>
          </a:p>
        </p:txBody>
      </p:sp>
      <p:sp>
        <p:nvSpPr>
          <p:cNvPr id="6" name="Rounded Rectangle 5"/>
          <p:cNvSpPr/>
          <p:nvPr/>
        </p:nvSpPr>
        <p:spPr>
          <a:xfrm>
            <a:off x="822960" y="4983480"/>
            <a:ext cx="1965960" cy="329184"/>
          </a:xfrm>
          <a:prstGeom prst="roundRect">
            <a:avLst>
              <a:gd name="adj" fmla="val 50000"/>
            </a:avLst>
          </a:prstGeom>
          <a:solidFill>
            <a:srgbClr val="11161D"/>
          </a:solidFill>
          <a:ln w="1143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tIns="9144" bIns="9144"/>
          <a:lstStyle/>
          <a:p>
            <a:pPr algn="ctr"/>
            <a:r>
              <a:rPr sz="900" b="1">
                <a:solidFill>
                  <a:srgbClr val="22C55E"/>
                </a:solidFill>
                <a:latin typeface="Segoe UI"/>
              </a:rPr>
              <a:t>Simulate before execute</a:t>
            </a:r>
          </a:p>
        </p:txBody>
      </p:sp>
      <p:sp>
        <p:nvSpPr>
          <p:cNvPr id="7" name="Rounded Rectangle 6"/>
          <p:cNvSpPr/>
          <p:nvPr/>
        </p:nvSpPr>
        <p:spPr>
          <a:xfrm>
            <a:off x="2898648" y="4983480"/>
            <a:ext cx="1965960" cy="329184"/>
          </a:xfrm>
          <a:prstGeom prst="roundRect">
            <a:avLst>
              <a:gd name="adj" fmla="val 50000"/>
            </a:avLst>
          </a:prstGeom>
          <a:solidFill>
            <a:srgbClr val="11161D"/>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9144" bIns="9144"/>
          <a:lstStyle/>
          <a:p>
            <a:pPr algn="ctr"/>
            <a:r>
              <a:rPr sz="900" b="1">
                <a:solidFill>
                  <a:srgbClr val="22D3EE"/>
                </a:solidFill>
                <a:latin typeface="Segoe UI"/>
              </a:rPr>
              <a:t>Local-first · no API keys</a:t>
            </a:r>
          </a:p>
        </p:txBody>
      </p:sp>
      <p:sp>
        <p:nvSpPr>
          <p:cNvPr id="8" name="Rounded Rectangle 7"/>
          <p:cNvSpPr/>
          <p:nvPr/>
        </p:nvSpPr>
        <p:spPr>
          <a:xfrm>
            <a:off x="4974336" y="4983480"/>
            <a:ext cx="1463040" cy="329184"/>
          </a:xfrm>
          <a:prstGeom prst="roundRect">
            <a:avLst>
              <a:gd name="adj" fmla="val 50000"/>
            </a:avLst>
          </a:prstGeom>
          <a:solidFill>
            <a:srgbClr val="11161D"/>
          </a:solidFill>
          <a:ln w="1143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tIns="9144" bIns="9144"/>
          <a:lstStyle/>
          <a:p>
            <a:pPr algn="ctr"/>
            <a:r>
              <a:rPr sz="900" b="1">
                <a:solidFill>
                  <a:srgbClr val="A78BFA"/>
                </a:solidFill>
                <a:latin typeface="Segoe UI"/>
              </a:rPr>
              <a:t>OR-Tools CP-SAT</a:t>
            </a:r>
          </a:p>
        </p:txBody>
      </p:sp>
      <p:sp>
        <p:nvSpPr>
          <p:cNvPr id="9" name="Rounded Rectangle 8"/>
          <p:cNvSpPr/>
          <p:nvPr/>
        </p:nvSpPr>
        <p:spPr>
          <a:xfrm>
            <a:off x="6547104" y="4983480"/>
            <a:ext cx="1143000" cy="329184"/>
          </a:xfrm>
          <a:prstGeom prst="roundRect">
            <a:avLst>
              <a:gd name="adj" fmla="val 50000"/>
            </a:avLst>
          </a:prstGeom>
          <a:solidFill>
            <a:srgbClr val="11161D"/>
          </a:solidFill>
          <a:ln w="11430">
            <a:solidFill>
              <a:srgbClr val="8B98A5"/>
            </a:solidFill>
          </a:ln>
          <a:effectLst/>
        </p:spPr>
        <p:style>
          <a:lnRef idx="1">
            <a:schemeClr val="accent1"/>
          </a:lnRef>
          <a:fillRef idx="3">
            <a:schemeClr val="accent1"/>
          </a:fillRef>
          <a:effectRef idx="2">
            <a:schemeClr val="accent1"/>
          </a:effectRef>
          <a:fontRef idx="minor">
            <a:schemeClr val="lt1"/>
          </a:fontRef>
        </p:style>
        <p:txBody>
          <a:bodyPr rtlCol="0" anchor="ctr" tIns="9144" bIns="9144"/>
          <a:lstStyle/>
          <a:p>
            <a:pPr algn="ctr"/>
            <a:r>
              <a:rPr sz="900" b="1">
                <a:solidFill>
                  <a:srgbClr val="8B98A5"/>
                </a:solidFill>
                <a:latin typeface="Segoe UI"/>
              </a:rPr>
              <a:t>Apache-2.0</a:t>
            </a:r>
          </a:p>
        </p:txBody>
      </p:sp>
      <p:sp>
        <p:nvSpPr>
          <p:cNvPr id="10" name="TextBox 9"/>
          <p:cNvSpPr txBox="1"/>
          <p:nvPr/>
        </p:nvSpPr>
        <p:spPr>
          <a:xfrm>
            <a:off x="822960" y="5715000"/>
            <a:ext cx="7315200" cy="365760"/>
          </a:xfrm>
          <a:prstGeom prst="rect">
            <a:avLst/>
          </a:prstGeom>
          <a:noFill/>
        </p:spPr>
        <p:txBody>
          <a:bodyPr wrap="square" anchor="t" lIns="36576" rIns="36576" tIns="36576" bIns="36576">
            <a:spAutoFit/>
          </a:bodyPr>
          <a:lstStyle/>
          <a:p>
            <a:pPr algn="l">
              <a:lnSpc>
                <a:spcPct val="110000"/>
              </a:lnSpc>
              <a:spcAft>
                <a:spcPts val="400"/>
              </a:spcAft>
            </a:pPr>
            <a:r>
              <a:rPr sz="1200" b="0" i="0">
                <a:solidFill>
                  <a:srgbClr val="8B98A5"/>
                </a:solidFill>
                <a:latin typeface="Segoe UI"/>
              </a:rPr>
              <a:t>Raunit Thakur  ·  raunit.thakur@gmail.com  ·  github.com/raunitgrey7/nexus</a:t>
            </a:r>
          </a:p>
        </p:txBody>
      </p:sp>
      <p:sp>
        <p:nvSpPr>
          <p:cNvPr id="11" name="TextBox 10"/>
          <p:cNvSpPr txBox="1"/>
          <p:nvPr/>
        </p:nvSpPr>
        <p:spPr>
          <a:xfrm>
            <a:off x="822960" y="6035040"/>
            <a:ext cx="7315200" cy="320040"/>
          </a:xfrm>
          <a:prstGeom prst="rect">
            <a:avLst/>
          </a:prstGeom>
          <a:noFill/>
        </p:spPr>
        <p:txBody>
          <a:bodyPr wrap="square" anchor="t" lIns="36576" rIns="36576" tIns="36576" bIns="36576">
            <a:spAutoFit/>
          </a:bodyPr>
          <a:lstStyle/>
          <a:p>
            <a:pPr algn="l">
              <a:lnSpc>
                <a:spcPct val="110000"/>
              </a:lnSpc>
              <a:spcAft>
                <a:spcPts val="400"/>
              </a:spcAft>
            </a:pPr>
            <a:r>
              <a:rPr sz="1050" b="0" i="0">
                <a:solidFill>
                  <a:srgbClr val="8B98A5"/>
                </a:solidFill>
                <a:latin typeface="Segoe UI"/>
              </a:rPr>
              <a:t>August 2026  ·  Digital Twin + Physical AI + Multi-Agent AI + Simulation + Operations Research</a:t>
            </a:r>
          </a:p>
        </p:txBody>
      </p:sp>
      <p:sp>
        <p:nvSpPr>
          <p:cNvPr id="12" name="Rounded Rectangle 11"/>
          <p:cNvSpPr/>
          <p:nvPr/>
        </p:nvSpPr>
        <p:spPr>
          <a:xfrm>
            <a:off x="8001000" y="1417320"/>
            <a:ext cx="3611880" cy="4480560"/>
          </a:xfrm>
          <a:prstGeom prst="roundRect">
            <a:avLst>
              <a:gd name="adj" fmla="val 5000"/>
            </a:avLst>
          </a:prstGeom>
          <a:solidFill>
            <a:srgbClr val="0E1319"/>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60" y="1527048"/>
            <a:ext cx="2743200" cy="274320"/>
          </a:xfrm>
          <a:prstGeom prst="rect">
            <a:avLst/>
          </a:prstGeom>
          <a:noFill/>
        </p:spPr>
        <p:txBody>
          <a:bodyPr wrap="square" anchor="t" lIns="36576" rIns="36576" tIns="36576" bIns="36576">
            <a:spAutoFit/>
          </a:bodyPr>
          <a:lstStyle/>
          <a:p>
            <a:pPr algn="l">
              <a:lnSpc>
                <a:spcPct val="110000"/>
              </a:lnSpc>
              <a:spcAft>
                <a:spcPts val="400"/>
              </a:spcAft>
            </a:pPr>
            <a:r>
              <a:rPr sz="900" b="1" i="0">
                <a:solidFill>
                  <a:srgbClr val="22D3EE"/>
                </a:solidFill>
                <a:latin typeface="Segoe UI"/>
              </a:rPr>
              <a:t>LIVE DIGITAL TWIN</a:t>
            </a:r>
          </a:p>
        </p:txBody>
      </p:sp>
      <p:sp>
        <p:nvSpPr>
          <p:cNvPr id="14" name="TextBox 13"/>
          <p:cNvSpPr txBox="1"/>
          <p:nvPr/>
        </p:nvSpPr>
        <p:spPr>
          <a:xfrm>
            <a:off x="10149840" y="1527048"/>
            <a:ext cx="1371600" cy="274320"/>
          </a:xfrm>
          <a:prstGeom prst="rect">
            <a:avLst/>
          </a:prstGeom>
          <a:noFill/>
        </p:spPr>
        <p:txBody>
          <a:bodyPr wrap="square" anchor="t" lIns="36576" rIns="36576" tIns="36576" bIns="36576">
            <a:spAutoFit/>
          </a:bodyPr>
          <a:lstStyle/>
          <a:p>
            <a:pPr algn="r">
              <a:lnSpc>
                <a:spcPct val="110000"/>
              </a:lnSpc>
              <a:spcAft>
                <a:spcPts val="400"/>
              </a:spcAft>
            </a:pPr>
            <a:r>
              <a:rPr sz="900" b="1" i="0">
                <a:solidFill>
                  <a:srgbClr val="EF4444"/>
                </a:solidFill>
                <a:latin typeface="Consolas"/>
              </a:rPr>
              <a:t>10:30  ·  R07 ⚠</a:t>
            </a:r>
          </a:p>
        </p:txBody>
      </p:sp>
      <p:sp>
        <p:nvSpPr>
          <p:cNvPr id="15" name="Rectangle 14"/>
          <p:cNvSpPr/>
          <p:nvPr/>
        </p:nvSpPr>
        <p:spPr>
          <a:xfrm>
            <a:off x="8183879" y="1965960"/>
            <a:ext cx="201168" cy="384048"/>
          </a:xfrm>
          <a:prstGeom prst="rect">
            <a:avLst/>
          </a:prstGeom>
          <a:solidFill>
            <a:srgbClr val="143A2A"/>
          </a:solidFill>
          <a:ln w="635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83879" y="2743200"/>
            <a:ext cx="201168" cy="384048"/>
          </a:xfrm>
          <a:prstGeom prst="rect">
            <a:avLst/>
          </a:prstGeom>
          <a:solidFill>
            <a:srgbClr val="143A2A"/>
          </a:solidFill>
          <a:ln w="635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83879" y="3520439"/>
            <a:ext cx="201168" cy="384048"/>
          </a:xfrm>
          <a:prstGeom prst="rect">
            <a:avLst/>
          </a:prstGeom>
          <a:solidFill>
            <a:srgbClr val="143A2A"/>
          </a:solidFill>
          <a:ln w="635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83879" y="4297679"/>
            <a:ext cx="201168" cy="384048"/>
          </a:xfrm>
          <a:prstGeom prst="rect">
            <a:avLst/>
          </a:prstGeom>
          <a:solidFill>
            <a:srgbClr val="143A2A"/>
          </a:solidFill>
          <a:ln w="635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641080" y="1920240"/>
            <a:ext cx="868680" cy="960120"/>
          </a:xfrm>
          <a:prstGeom prst="rect">
            <a:avLst/>
          </a:prstGeom>
          <a:solidFill>
            <a:srgbClr val="11161D"/>
          </a:solidFill>
          <a:ln w="6350">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732519" y="2029968"/>
            <a:ext cx="128016" cy="73152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06840" y="2029968"/>
            <a:ext cx="128016" cy="73152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281159" y="2029968"/>
            <a:ext cx="128016" cy="73152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641080" y="3017520"/>
            <a:ext cx="868680" cy="960120"/>
          </a:xfrm>
          <a:prstGeom prst="rect">
            <a:avLst/>
          </a:prstGeom>
          <a:solidFill>
            <a:srgbClr val="11161D"/>
          </a:solidFill>
          <a:ln w="6350">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732519" y="3127248"/>
            <a:ext cx="128016" cy="73152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06840" y="3127248"/>
            <a:ext cx="128016" cy="73152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281159" y="3127248"/>
            <a:ext cx="128016" cy="73152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641080" y="4114800"/>
            <a:ext cx="868680" cy="960120"/>
          </a:xfrm>
          <a:prstGeom prst="rect">
            <a:avLst/>
          </a:prstGeom>
          <a:solidFill>
            <a:srgbClr val="11161D"/>
          </a:solidFill>
          <a:ln w="6350">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732519" y="4224528"/>
            <a:ext cx="128016" cy="73152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006840" y="4224528"/>
            <a:ext cx="128016" cy="73152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281159" y="4224528"/>
            <a:ext cx="128016" cy="73152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646919" y="1920240"/>
            <a:ext cx="868680" cy="960120"/>
          </a:xfrm>
          <a:prstGeom prst="rect">
            <a:avLst/>
          </a:prstGeom>
          <a:solidFill>
            <a:srgbClr val="11161D"/>
          </a:solidFill>
          <a:ln w="6350">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738359" y="2029968"/>
            <a:ext cx="128016" cy="73152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012680" y="2029968"/>
            <a:ext cx="128016" cy="73152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0286999" y="2029968"/>
            <a:ext cx="128016" cy="73152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646919" y="3017520"/>
            <a:ext cx="868680" cy="960120"/>
          </a:xfrm>
          <a:prstGeom prst="rect">
            <a:avLst/>
          </a:prstGeom>
          <a:solidFill>
            <a:srgbClr val="2A2416"/>
          </a:solidFill>
          <a:ln w="6350">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738359" y="3127248"/>
            <a:ext cx="128016" cy="73152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012680" y="3127248"/>
            <a:ext cx="128016" cy="73152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286999" y="3127248"/>
            <a:ext cx="128016" cy="73152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646919" y="4114800"/>
            <a:ext cx="868680" cy="960120"/>
          </a:xfrm>
          <a:prstGeom prst="rect">
            <a:avLst/>
          </a:prstGeom>
          <a:solidFill>
            <a:srgbClr val="11161D"/>
          </a:solidFill>
          <a:ln w="6350">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738359" y="4224528"/>
            <a:ext cx="128016" cy="73152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0012680" y="4224528"/>
            <a:ext cx="128016" cy="73152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286999" y="4224528"/>
            <a:ext cx="128016" cy="73152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0652759" y="1920240"/>
            <a:ext cx="868680" cy="960120"/>
          </a:xfrm>
          <a:prstGeom prst="rect">
            <a:avLst/>
          </a:prstGeom>
          <a:solidFill>
            <a:srgbClr val="11161D"/>
          </a:solidFill>
          <a:ln w="6350">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744199" y="2029968"/>
            <a:ext cx="128016" cy="73152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1018519" y="2029968"/>
            <a:ext cx="128016" cy="73152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1292839" y="2029968"/>
            <a:ext cx="128016" cy="73152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652759" y="3017520"/>
            <a:ext cx="868680" cy="960120"/>
          </a:xfrm>
          <a:prstGeom prst="rect">
            <a:avLst/>
          </a:prstGeom>
          <a:solidFill>
            <a:srgbClr val="11161D"/>
          </a:solidFill>
          <a:ln w="6350">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0744199" y="3127248"/>
            <a:ext cx="128016" cy="73152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1018519" y="3127248"/>
            <a:ext cx="128016" cy="73152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1292839" y="3127248"/>
            <a:ext cx="128016" cy="73152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10652759" y="4114800"/>
            <a:ext cx="868680" cy="960120"/>
          </a:xfrm>
          <a:prstGeom prst="rect">
            <a:avLst/>
          </a:prstGeom>
          <a:solidFill>
            <a:srgbClr val="11161D"/>
          </a:solidFill>
          <a:ln w="6350">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0744199" y="4224528"/>
            <a:ext cx="128016" cy="73152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11018519" y="4224528"/>
            <a:ext cx="128016" cy="73152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11292839" y="4224528"/>
            <a:ext cx="128016" cy="73152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8869680" y="2240280"/>
            <a:ext cx="182880" cy="182880"/>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778240" y="2404872"/>
            <a:ext cx="365760" cy="201168"/>
          </a:xfrm>
          <a:prstGeom prst="rect">
            <a:avLst/>
          </a:prstGeom>
          <a:noFill/>
        </p:spPr>
        <p:txBody>
          <a:bodyPr wrap="square" anchor="t" lIns="36576" rIns="36576" tIns="36576" bIns="36576">
            <a:spAutoFit/>
          </a:bodyPr>
          <a:lstStyle/>
          <a:p>
            <a:pPr algn="ctr">
              <a:lnSpc>
                <a:spcPct val="110000"/>
              </a:lnSpc>
              <a:spcAft>
                <a:spcPts val="400"/>
              </a:spcAft>
            </a:pPr>
            <a:r>
              <a:rPr sz="700" b="1" i="0">
                <a:solidFill>
                  <a:srgbClr val="22D3EE"/>
                </a:solidFill>
                <a:latin typeface="Consolas"/>
              </a:rPr>
              <a:t>R1</a:t>
            </a:r>
          </a:p>
        </p:txBody>
      </p:sp>
      <p:sp>
        <p:nvSpPr>
          <p:cNvPr id="57" name="Oval 56"/>
          <p:cNvSpPr/>
          <p:nvPr/>
        </p:nvSpPr>
        <p:spPr>
          <a:xfrm>
            <a:off x="9921240" y="2788920"/>
            <a:ext cx="182880" cy="182880"/>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829800" y="2953512"/>
            <a:ext cx="365760" cy="201168"/>
          </a:xfrm>
          <a:prstGeom prst="rect">
            <a:avLst/>
          </a:prstGeom>
          <a:noFill/>
        </p:spPr>
        <p:txBody>
          <a:bodyPr wrap="square" anchor="t" lIns="36576" rIns="36576" tIns="36576" bIns="36576">
            <a:spAutoFit/>
          </a:bodyPr>
          <a:lstStyle/>
          <a:p>
            <a:pPr algn="ctr">
              <a:lnSpc>
                <a:spcPct val="110000"/>
              </a:lnSpc>
              <a:spcAft>
                <a:spcPts val="400"/>
              </a:spcAft>
            </a:pPr>
            <a:r>
              <a:rPr sz="700" b="1" i="0">
                <a:solidFill>
                  <a:srgbClr val="22D3EE"/>
                </a:solidFill>
                <a:latin typeface="Consolas"/>
              </a:rPr>
              <a:t>R4</a:t>
            </a:r>
          </a:p>
        </p:txBody>
      </p:sp>
      <p:sp>
        <p:nvSpPr>
          <p:cNvPr id="59" name="Oval 58"/>
          <p:cNvSpPr/>
          <p:nvPr/>
        </p:nvSpPr>
        <p:spPr>
          <a:xfrm>
            <a:off x="9418320" y="3794760"/>
            <a:ext cx="182880" cy="182880"/>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326880" y="3959352"/>
            <a:ext cx="365760" cy="201168"/>
          </a:xfrm>
          <a:prstGeom prst="rect">
            <a:avLst/>
          </a:prstGeom>
          <a:noFill/>
        </p:spPr>
        <p:txBody>
          <a:bodyPr wrap="square" anchor="t" lIns="36576" rIns="36576" tIns="36576" bIns="36576">
            <a:spAutoFit/>
          </a:bodyPr>
          <a:lstStyle/>
          <a:p>
            <a:pPr algn="ctr">
              <a:lnSpc>
                <a:spcPct val="110000"/>
              </a:lnSpc>
              <a:spcAft>
                <a:spcPts val="400"/>
              </a:spcAft>
            </a:pPr>
            <a:r>
              <a:rPr sz="700" b="1" i="0">
                <a:solidFill>
                  <a:srgbClr val="22D3EE"/>
                </a:solidFill>
                <a:latin typeface="Consolas"/>
              </a:rPr>
              <a:t>R9</a:t>
            </a:r>
          </a:p>
        </p:txBody>
      </p:sp>
      <p:sp>
        <p:nvSpPr>
          <p:cNvPr id="61" name="Oval 60"/>
          <p:cNvSpPr/>
          <p:nvPr/>
        </p:nvSpPr>
        <p:spPr>
          <a:xfrm>
            <a:off x="10881360" y="2468880"/>
            <a:ext cx="182880" cy="182880"/>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0789920" y="2633472"/>
            <a:ext cx="365760" cy="201168"/>
          </a:xfrm>
          <a:prstGeom prst="rect">
            <a:avLst/>
          </a:prstGeom>
          <a:noFill/>
        </p:spPr>
        <p:txBody>
          <a:bodyPr wrap="square" anchor="t" lIns="36576" rIns="36576" tIns="36576" bIns="36576">
            <a:spAutoFit/>
          </a:bodyPr>
          <a:lstStyle/>
          <a:p>
            <a:pPr algn="ctr">
              <a:lnSpc>
                <a:spcPct val="110000"/>
              </a:lnSpc>
              <a:spcAft>
                <a:spcPts val="400"/>
              </a:spcAft>
            </a:pPr>
            <a:r>
              <a:rPr sz="700" b="1" i="0">
                <a:solidFill>
                  <a:srgbClr val="22D3EE"/>
                </a:solidFill>
                <a:latin typeface="Consolas"/>
              </a:rPr>
              <a:t>R3</a:t>
            </a:r>
          </a:p>
        </p:txBody>
      </p:sp>
      <p:sp>
        <p:nvSpPr>
          <p:cNvPr id="63" name="Oval 62"/>
          <p:cNvSpPr/>
          <p:nvPr/>
        </p:nvSpPr>
        <p:spPr>
          <a:xfrm>
            <a:off x="10515600" y="4297680"/>
            <a:ext cx="182880" cy="182880"/>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0424160" y="4462272"/>
            <a:ext cx="365760" cy="201168"/>
          </a:xfrm>
          <a:prstGeom prst="rect">
            <a:avLst/>
          </a:prstGeom>
          <a:noFill/>
        </p:spPr>
        <p:txBody>
          <a:bodyPr wrap="square" anchor="t" lIns="36576" rIns="36576" tIns="36576" bIns="36576">
            <a:spAutoFit/>
          </a:bodyPr>
          <a:lstStyle/>
          <a:p>
            <a:pPr algn="ctr">
              <a:lnSpc>
                <a:spcPct val="110000"/>
              </a:lnSpc>
              <a:spcAft>
                <a:spcPts val="400"/>
              </a:spcAft>
            </a:pPr>
            <a:r>
              <a:rPr sz="700" b="1" i="0">
                <a:solidFill>
                  <a:srgbClr val="22D3EE"/>
                </a:solidFill>
                <a:latin typeface="Consolas"/>
              </a:rPr>
              <a:t>R2</a:t>
            </a:r>
          </a:p>
        </p:txBody>
      </p:sp>
      <p:sp>
        <p:nvSpPr>
          <p:cNvPr id="65" name="Oval 64"/>
          <p:cNvSpPr/>
          <p:nvPr/>
        </p:nvSpPr>
        <p:spPr>
          <a:xfrm>
            <a:off x="9784080" y="3291839"/>
            <a:ext cx="182880" cy="182880"/>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692640" y="3456432"/>
            <a:ext cx="365760" cy="201168"/>
          </a:xfrm>
          <a:prstGeom prst="rect">
            <a:avLst/>
          </a:prstGeom>
          <a:noFill/>
        </p:spPr>
        <p:txBody>
          <a:bodyPr wrap="square" anchor="t" lIns="36576" rIns="36576" tIns="36576" bIns="36576">
            <a:spAutoFit/>
          </a:bodyPr>
          <a:lstStyle/>
          <a:p>
            <a:pPr algn="ctr">
              <a:lnSpc>
                <a:spcPct val="110000"/>
              </a:lnSpc>
              <a:spcAft>
                <a:spcPts val="400"/>
              </a:spcAft>
            </a:pPr>
            <a:r>
              <a:rPr sz="700" b="1" i="0">
                <a:solidFill>
                  <a:srgbClr val="EF4444"/>
                </a:solidFill>
                <a:latin typeface="Consolas"/>
              </a:rPr>
              <a:t>R7</a:t>
            </a:r>
          </a:p>
        </p:txBody>
      </p:sp>
      <p:sp>
        <p:nvSpPr>
          <p:cNvPr id="67" name="Rectangle 66"/>
          <p:cNvSpPr/>
          <p:nvPr/>
        </p:nvSpPr>
        <p:spPr>
          <a:xfrm>
            <a:off x="8686800" y="5184648"/>
            <a:ext cx="457200" cy="237744"/>
          </a:xfrm>
          <a:prstGeom prst="rect">
            <a:avLst/>
          </a:prstGeom>
          <a:solidFill>
            <a:srgbClr val="3A2E12"/>
          </a:solidFill>
          <a:ln w="63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9436608" y="5184648"/>
            <a:ext cx="457200" cy="237744"/>
          </a:xfrm>
          <a:prstGeom prst="rect">
            <a:avLst/>
          </a:prstGeom>
          <a:solidFill>
            <a:srgbClr val="3A2E12"/>
          </a:solidFill>
          <a:ln w="63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10186416" y="5184648"/>
            <a:ext cx="457200" cy="237744"/>
          </a:xfrm>
          <a:prstGeom prst="rect">
            <a:avLst/>
          </a:prstGeom>
          <a:solidFill>
            <a:srgbClr val="3A2E12"/>
          </a:solidFill>
          <a:ln w="63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10936224" y="5184648"/>
            <a:ext cx="457200" cy="237744"/>
          </a:xfrm>
          <a:prstGeom prst="rect">
            <a:avLst/>
          </a:prstGeom>
          <a:solidFill>
            <a:srgbClr val="3A2E12"/>
          </a:solidFill>
          <a:ln w="63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138160" y="5532120"/>
            <a:ext cx="3383280" cy="274320"/>
          </a:xfrm>
          <a:prstGeom prst="rect">
            <a:avLst/>
          </a:prstGeom>
          <a:noFill/>
        </p:spPr>
        <p:txBody>
          <a:bodyPr wrap="square" anchor="t" lIns="36576" rIns="36576" tIns="36576" bIns="36576">
            <a:spAutoFit/>
          </a:bodyPr>
          <a:lstStyle/>
          <a:p>
            <a:pPr algn="l">
              <a:lnSpc>
                <a:spcPct val="110000"/>
              </a:lnSpc>
              <a:spcAft>
                <a:spcPts val="400"/>
              </a:spcAft>
            </a:pPr>
            <a:r>
              <a:rPr sz="750" b="0" i="0">
                <a:solidFill>
                  <a:srgbClr val="8B98A5"/>
                </a:solidFill>
                <a:latin typeface="Consolas"/>
              </a:rPr>
              <a:t>orders 46  ·  robots 11/12  ·  predicted breach 39.4%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D12"/>
        </a:solidFill>
        <a:effectLst/>
      </p:bgPr>
    </p:bg>
    <p:spTree>
      <p:nvGrpSpPr>
        <p:cNvPr id="1" name=""/>
        <p:cNvGrpSpPr/>
        <p:nvPr/>
      </p:nvGrpSpPr>
      <p:grpSpPr/>
      <p:sp>
        <p:nvSpPr>
          <p:cNvPr id="2" name="TextBox 1"/>
          <p:cNvSpPr txBox="1"/>
          <p:nvPr/>
        </p:nvSpPr>
        <p:spPr>
          <a:xfrm>
            <a:off x="548640" y="256032"/>
            <a:ext cx="8229600" cy="274320"/>
          </a:xfrm>
          <a:prstGeom prst="rect">
            <a:avLst/>
          </a:prstGeom>
          <a:noFill/>
        </p:spPr>
        <p:txBody>
          <a:bodyPr wrap="square" anchor="t" lIns="36576" rIns="36576" tIns="36576" bIns="36576">
            <a:spAutoFit/>
          </a:bodyPr>
          <a:lstStyle/>
          <a:p>
            <a:pPr algn="l">
              <a:lnSpc>
                <a:spcPct val="110000"/>
              </a:lnSpc>
              <a:spcAft>
                <a:spcPts val="400"/>
              </a:spcAft>
            </a:pPr>
            <a:r>
              <a:rPr sz="1050" b="1" i="0">
                <a:solidFill>
                  <a:srgbClr val="22D3EE"/>
                </a:solidFill>
                <a:latin typeface="Segoe UI"/>
              </a:rPr>
              <a:t>THE PROBLEM</a:t>
            </a:r>
          </a:p>
        </p:txBody>
      </p:sp>
      <p:sp>
        <p:nvSpPr>
          <p:cNvPr id="3" name="TextBox 2"/>
          <p:cNvSpPr txBox="1"/>
          <p:nvPr/>
        </p:nvSpPr>
        <p:spPr>
          <a:xfrm>
            <a:off x="548640" y="502920"/>
            <a:ext cx="10607040" cy="731520"/>
          </a:xfrm>
          <a:prstGeom prst="rect">
            <a:avLst/>
          </a:prstGeom>
          <a:noFill/>
        </p:spPr>
        <p:txBody>
          <a:bodyPr wrap="square" anchor="ctr" lIns="36576" rIns="36576" tIns="36576" bIns="36576">
            <a:spAutoFit/>
          </a:bodyPr>
          <a:lstStyle/>
          <a:p>
            <a:pPr algn="l">
              <a:lnSpc>
                <a:spcPct val="110000"/>
              </a:lnSpc>
              <a:spcAft>
                <a:spcPts val="400"/>
              </a:spcAft>
            </a:pPr>
            <a:r>
              <a:rPr sz="2400" b="1" i="0">
                <a:solidFill>
                  <a:srgbClr val="E6EDF3"/>
                </a:solidFill>
                <a:latin typeface="Segoe UI"/>
              </a:rPr>
              <a:t>Operations react. Dashboards describe. Nobody simulates.</a:t>
            </a:r>
          </a:p>
        </p:txBody>
      </p:sp>
      <p:sp>
        <p:nvSpPr>
          <p:cNvPr id="4" name="Rectangle 3"/>
          <p:cNvSpPr/>
          <p:nvPr/>
        </p:nvSpPr>
        <p:spPr>
          <a:xfrm>
            <a:off x="566928" y="1216152"/>
            <a:ext cx="100584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6400800" cy="274320"/>
          </a:xfrm>
          <a:prstGeom prst="rect">
            <a:avLst/>
          </a:prstGeom>
          <a:noFill/>
        </p:spPr>
        <p:txBody>
          <a:bodyPr wrap="square" anchor="t" lIns="36576" rIns="36576" tIns="36576" bIns="36576">
            <a:spAutoFit/>
          </a:bodyPr>
          <a:lstStyle/>
          <a:p>
            <a:pPr algn="l">
              <a:lnSpc>
                <a:spcPct val="110000"/>
              </a:lnSpc>
              <a:spcAft>
                <a:spcPts val="400"/>
              </a:spcAft>
            </a:pPr>
            <a:r>
              <a:rPr sz="950" b="0" i="0">
                <a:solidFill>
                  <a:srgbClr val="8B98A5"/>
                </a:solidFill>
                <a:latin typeface="Segoe UI"/>
              </a:rPr>
              <a:t>NEXUS · Autonomous Operations Intelligence</a:t>
            </a:r>
          </a:p>
        </p:txBody>
      </p:sp>
      <p:sp>
        <p:nvSpPr>
          <p:cNvPr id="6" name="TextBox 5"/>
          <p:cNvSpPr txBox="1"/>
          <p:nvPr/>
        </p:nvSpPr>
        <p:spPr>
          <a:xfrm>
            <a:off x="10607040" y="6446520"/>
            <a:ext cx="1051560" cy="274320"/>
          </a:xfrm>
          <a:prstGeom prst="rect">
            <a:avLst/>
          </a:prstGeom>
          <a:noFill/>
        </p:spPr>
        <p:txBody>
          <a:bodyPr wrap="square" anchor="t" lIns="36576" rIns="36576" tIns="36576" bIns="36576">
            <a:spAutoFit/>
          </a:bodyPr>
          <a:lstStyle/>
          <a:p>
            <a:pPr algn="r">
              <a:lnSpc>
                <a:spcPct val="110000"/>
              </a:lnSpc>
              <a:spcAft>
                <a:spcPts val="400"/>
              </a:spcAft>
            </a:pPr>
            <a:r>
              <a:rPr sz="950" b="0" i="0">
                <a:solidFill>
                  <a:srgbClr val="8B98A5"/>
                </a:solidFill>
                <a:latin typeface="Consolas"/>
              </a:rPr>
              <a:t>02</a:t>
            </a:r>
          </a:p>
        </p:txBody>
      </p:sp>
      <p:sp>
        <p:nvSpPr>
          <p:cNvPr id="7" name="Rounded Rectangle 6"/>
          <p:cNvSpPr/>
          <p:nvPr/>
        </p:nvSpPr>
        <p:spPr>
          <a:xfrm>
            <a:off x="548640" y="1463040"/>
            <a:ext cx="3566160" cy="274320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00200"/>
            <a:ext cx="3200400" cy="457200"/>
          </a:xfrm>
          <a:prstGeom prst="rect">
            <a:avLst/>
          </a:prstGeom>
          <a:noFill/>
        </p:spPr>
        <p:txBody>
          <a:bodyPr wrap="square" anchor="t" lIns="36576" rIns="36576" tIns="36576" bIns="36576">
            <a:spAutoFit/>
          </a:bodyPr>
          <a:lstStyle/>
          <a:p>
            <a:pPr algn="l">
              <a:lnSpc>
                <a:spcPct val="110000"/>
              </a:lnSpc>
              <a:spcAft>
                <a:spcPts val="400"/>
              </a:spcAft>
            </a:pPr>
            <a:r>
              <a:rPr sz="1800" b="1" i="0">
                <a:solidFill>
                  <a:srgbClr val="EF4444"/>
                </a:solidFill>
                <a:latin typeface="Segoe UI"/>
              </a:rPr>
              <a:t>Reactive</a:t>
            </a:r>
          </a:p>
        </p:txBody>
      </p:sp>
      <p:sp>
        <p:nvSpPr>
          <p:cNvPr id="9" name="TextBox 8"/>
          <p:cNvSpPr txBox="1"/>
          <p:nvPr/>
        </p:nvSpPr>
        <p:spPr>
          <a:xfrm>
            <a:off x="685800" y="2103120"/>
            <a:ext cx="3291840" cy="2011680"/>
          </a:xfrm>
          <a:prstGeom prst="rect">
            <a:avLst/>
          </a:prstGeom>
          <a:noFill/>
        </p:spPr>
        <p:txBody>
          <a:bodyPr wrap="square" lIns="45720" rIns="45720">
            <a:spAutoFit/>
          </a:bodyPr>
          <a:lstStyle/>
          <a:p>
            <a:pPr>
              <a:lnSpc>
                <a:spcPct val="112000"/>
              </a:lnSpc>
              <a:spcAft>
                <a:spcPts val="600"/>
              </a:spcAft>
            </a:pPr>
            <a:r>
              <a:rPr sz="1250" b="1">
                <a:solidFill>
                  <a:srgbClr val="EF4444"/>
                </a:solidFill>
                <a:latin typeface="Segoe UI"/>
              </a:rPr>
              <a:t>•  </a:t>
            </a:r>
            <a:r>
              <a:rPr sz="1250">
                <a:solidFill>
                  <a:srgbClr val="E6EDF3"/>
                </a:solidFill>
                <a:latin typeface="Segoe UI"/>
              </a:rPr>
              <a:t>A robot fails → an alert fires → whoever is on shift improvises.</a:t>
            </a:r>
          </a:p>
          <a:p>
            <a:pPr>
              <a:lnSpc>
                <a:spcPct val="112000"/>
              </a:lnSpc>
              <a:spcAft>
                <a:spcPts val="600"/>
              </a:spcAft>
            </a:pPr>
            <a:r>
              <a:rPr sz="1250" b="1">
                <a:solidFill>
                  <a:srgbClr val="EF4444"/>
                </a:solidFill>
                <a:latin typeface="Segoe UI"/>
              </a:rPr>
              <a:t>•  </a:t>
            </a:r>
            <a:r>
              <a:rPr sz="1250">
                <a:solidFill>
                  <a:srgbClr val="E6EDF3"/>
                </a:solidFill>
                <a:latin typeface="Segoe UI"/>
              </a:rPr>
              <a:t>Every minute of delay compounds into missed SLAs; the recovery plan is invented under pressure.</a:t>
            </a:r>
          </a:p>
        </p:txBody>
      </p:sp>
      <p:sp>
        <p:nvSpPr>
          <p:cNvPr id="10" name="Rounded Rectangle 9"/>
          <p:cNvSpPr/>
          <p:nvPr/>
        </p:nvSpPr>
        <p:spPr>
          <a:xfrm>
            <a:off x="4297679" y="1463040"/>
            <a:ext cx="3566160" cy="274320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59" y="1600200"/>
            <a:ext cx="3200400" cy="457200"/>
          </a:xfrm>
          <a:prstGeom prst="rect">
            <a:avLst/>
          </a:prstGeom>
          <a:noFill/>
        </p:spPr>
        <p:txBody>
          <a:bodyPr wrap="square" anchor="t" lIns="36576" rIns="36576" tIns="36576" bIns="36576">
            <a:spAutoFit/>
          </a:bodyPr>
          <a:lstStyle/>
          <a:p>
            <a:pPr algn="l">
              <a:lnSpc>
                <a:spcPct val="110000"/>
              </a:lnSpc>
              <a:spcAft>
                <a:spcPts val="400"/>
              </a:spcAft>
            </a:pPr>
            <a:r>
              <a:rPr sz="1800" b="1" i="0">
                <a:solidFill>
                  <a:srgbClr val="F59E0B"/>
                </a:solidFill>
                <a:latin typeface="Segoe UI"/>
              </a:rPr>
              <a:t>Descriptive</a:t>
            </a:r>
          </a:p>
        </p:txBody>
      </p:sp>
      <p:sp>
        <p:nvSpPr>
          <p:cNvPr id="12" name="TextBox 11"/>
          <p:cNvSpPr txBox="1"/>
          <p:nvPr/>
        </p:nvSpPr>
        <p:spPr>
          <a:xfrm>
            <a:off x="4434840" y="2103120"/>
            <a:ext cx="3291840" cy="2011680"/>
          </a:xfrm>
          <a:prstGeom prst="rect">
            <a:avLst/>
          </a:prstGeom>
          <a:noFill/>
        </p:spPr>
        <p:txBody>
          <a:bodyPr wrap="square" lIns="45720" rIns="45720">
            <a:spAutoFit/>
          </a:bodyPr>
          <a:lstStyle/>
          <a:p>
            <a:pPr>
              <a:lnSpc>
                <a:spcPct val="112000"/>
              </a:lnSpc>
              <a:spcAft>
                <a:spcPts val="600"/>
              </a:spcAft>
            </a:pPr>
            <a:r>
              <a:rPr sz="1250" b="1">
                <a:solidFill>
                  <a:srgbClr val="F59E0B"/>
                </a:solidFill>
                <a:latin typeface="Segoe UI"/>
              </a:rPr>
              <a:t>•  </a:t>
            </a:r>
            <a:r>
              <a:rPr sz="1250">
                <a:solidFill>
                  <a:srgbClr val="E6EDF3"/>
                </a:solidFill>
                <a:latin typeface="Segoe UI"/>
              </a:rPr>
              <a:t>WMS and BI dashboards show what has happened — not what will happen next, nor what to do about it.</a:t>
            </a:r>
          </a:p>
          <a:p>
            <a:pPr>
              <a:lnSpc>
                <a:spcPct val="112000"/>
              </a:lnSpc>
              <a:spcAft>
                <a:spcPts val="600"/>
              </a:spcAft>
            </a:pPr>
            <a:r>
              <a:rPr sz="1250" b="1">
                <a:solidFill>
                  <a:srgbClr val="F59E0B"/>
                </a:solidFill>
                <a:latin typeface="Segoe UI"/>
              </a:rPr>
              <a:t>•  </a:t>
            </a:r>
            <a:r>
              <a:rPr sz="1250">
                <a:solidFill>
                  <a:srgbClr val="E6EDF3"/>
                </a:solidFill>
                <a:latin typeface="Segoe UI"/>
              </a:rPr>
              <a:t>Forecasts, if any, live in spreadsheets far from the floor.</a:t>
            </a:r>
          </a:p>
        </p:txBody>
      </p:sp>
      <p:sp>
        <p:nvSpPr>
          <p:cNvPr id="13" name="Rounded Rectangle 12"/>
          <p:cNvSpPr/>
          <p:nvPr/>
        </p:nvSpPr>
        <p:spPr>
          <a:xfrm>
            <a:off x="8046719" y="1463040"/>
            <a:ext cx="3566160" cy="274320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9" y="1600200"/>
            <a:ext cx="3200400" cy="457200"/>
          </a:xfrm>
          <a:prstGeom prst="rect">
            <a:avLst/>
          </a:prstGeom>
          <a:noFill/>
        </p:spPr>
        <p:txBody>
          <a:bodyPr wrap="square" anchor="t" lIns="36576" rIns="36576" tIns="36576" bIns="36576">
            <a:spAutoFit/>
          </a:bodyPr>
          <a:lstStyle/>
          <a:p>
            <a:pPr algn="l">
              <a:lnSpc>
                <a:spcPct val="110000"/>
              </a:lnSpc>
              <a:spcAft>
                <a:spcPts val="400"/>
              </a:spcAft>
            </a:pPr>
            <a:r>
              <a:rPr sz="1800" b="1" i="0">
                <a:solidFill>
                  <a:srgbClr val="A78BFA"/>
                </a:solidFill>
                <a:latin typeface="Segoe UI"/>
              </a:rPr>
              <a:t>Untested</a:t>
            </a:r>
          </a:p>
        </p:txBody>
      </p:sp>
      <p:sp>
        <p:nvSpPr>
          <p:cNvPr id="15" name="TextBox 14"/>
          <p:cNvSpPr txBox="1"/>
          <p:nvPr/>
        </p:nvSpPr>
        <p:spPr>
          <a:xfrm>
            <a:off x="8183879" y="2103120"/>
            <a:ext cx="3291840" cy="2011680"/>
          </a:xfrm>
          <a:prstGeom prst="rect">
            <a:avLst/>
          </a:prstGeom>
          <a:noFill/>
        </p:spPr>
        <p:txBody>
          <a:bodyPr wrap="square" lIns="45720" rIns="45720">
            <a:spAutoFit/>
          </a:bodyPr>
          <a:lstStyle/>
          <a:p>
            <a:pPr>
              <a:lnSpc>
                <a:spcPct val="112000"/>
              </a:lnSpc>
              <a:spcAft>
                <a:spcPts val="600"/>
              </a:spcAft>
            </a:pPr>
            <a:r>
              <a:rPr sz="1250" b="1">
                <a:solidFill>
                  <a:srgbClr val="A78BFA"/>
                </a:solidFill>
                <a:latin typeface="Segoe UI"/>
              </a:rPr>
              <a:t>•  </a:t>
            </a:r>
            <a:r>
              <a:rPr sz="1250">
                <a:solidFill>
                  <a:srgbClr val="E6EDF3"/>
                </a:solidFill>
                <a:latin typeface="Segoe UI"/>
              </a:rPr>
              <a:t>Interventions are executed on the real floor. The first time a plan is tried is in production.</a:t>
            </a:r>
          </a:p>
          <a:p>
            <a:pPr>
              <a:lnSpc>
                <a:spcPct val="112000"/>
              </a:lnSpc>
              <a:spcAft>
                <a:spcPts val="600"/>
              </a:spcAft>
            </a:pPr>
            <a:r>
              <a:rPr sz="1250" b="1">
                <a:solidFill>
                  <a:srgbClr val="A78BFA"/>
                </a:solidFill>
                <a:latin typeface="Segoe UI"/>
              </a:rPr>
              <a:t>•  </a:t>
            </a:r>
            <a:r>
              <a:rPr sz="1250">
                <a:solidFill>
                  <a:srgbClr val="E6EDF3"/>
                </a:solidFill>
                <a:latin typeface="Segoe UI"/>
              </a:rPr>
              <a:t>There is no way to compare alternatives before committing robots, people and inventory.</a:t>
            </a:r>
          </a:p>
        </p:txBody>
      </p:sp>
      <p:sp>
        <p:nvSpPr>
          <p:cNvPr id="16" name="Rounded Rectangle 15"/>
          <p:cNvSpPr/>
          <p:nvPr/>
        </p:nvSpPr>
        <p:spPr>
          <a:xfrm>
            <a:off x="548640" y="4526280"/>
            <a:ext cx="3566160" cy="160020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4617720"/>
            <a:ext cx="3346704" cy="880110"/>
          </a:xfrm>
          <a:prstGeom prst="rect">
            <a:avLst/>
          </a:prstGeom>
          <a:noFill/>
        </p:spPr>
        <p:txBody>
          <a:bodyPr wrap="square" anchor="ctr" lIns="36576" rIns="36576" tIns="36576" bIns="36576">
            <a:spAutoFit/>
          </a:bodyPr>
          <a:lstStyle/>
          <a:p>
            <a:pPr algn="l">
              <a:lnSpc>
                <a:spcPct val="110000"/>
              </a:lnSpc>
              <a:spcAft>
                <a:spcPts val="400"/>
              </a:spcAft>
            </a:pPr>
            <a:r>
              <a:rPr sz="2600" b="1" i="0">
                <a:solidFill>
                  <a:srgbClr val="EF4444"/>
                </a:solidFill>
                <a:latin typeface="Consolas"/>
              </a:rPr>
              <a:t>39.4%</a:t>
            </a:r>
          </a:p>
        </p:txBody>
      </p:sp>
      <p:sp>
        <p:nvSpPr>
          <p:cNvPr id="18" name="TextBox 17"/>
          <p:cNvSpPr txBox="1"/>
          <p:nvPr/>
        </p:nvSpPr>
        <p:spPr>
          <a:xfrm>
            <a:off x="658368" y="5454396"/>
            <a:ext cx="3346704" cy="640080"/>
          </a:xfrm>
          <a:prstGeom prst="rect">
            <a:avLst/>
          </a:prstGeom>
          <a:noFill/>
        </p:spPr>
        <p:txBody>
          <a:bodyPr wrap="square" anchor="t" lIns="36576" rIns="36576" tIns="36576" bIns="36576">
            <a:spAutoFit/>
          </a:bodyPr>
          <a:lstStyle/>
          <a:p>
            <a:pPr algn="l">
              <a:lnSpc>
                <a:spcPct val="105000"/>
              </a:lnSpc>
              <a:spcAft>
                <a:spcPts val="400"/>
              </a:spcAft>
            </a:pPr>
            <a:r>
              <a:rPr sz="1000" b="0" i="0">
                <a:solidFill>
                  <a:srgbClr val="8B98A5"/>
                </a:solidFill>
                <a:latin typeface="Segoe UI"/>
              </a:rPr>
              <a:t>of orders projected late within the hour after one robot of twelve fails at the peak — if nobody acts</a:t>
            </a:r>
          </a:p>
        </p:txBody>
      </p:sp>
      <p:sp>
        <p:nvSpPr>
          <p:cNvPr id="19" name="Rounded Rectangle 18"/>
          <p:cNvSpPr/>
          <p:nvPr/>
        </p:nvSpPr>
        <p:spPr>
          <a:xfrm>
            <a:off x="4297680" y="4526280"/>
            <a:ext cx="3566160" cy="160020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07408" y="4617720"/>
            <a:ext cx="3346704" cy="880110"/>
          </a:xfrm>
          <a:prstGeom prst="rect">
            <a:avLst/>
          </a:prstGeom>
          <a:noFill/>
        </p:spPr>
        <p:txBody>
          <a:bodyPr wrap="square" anchor="ctr" lIns="36576" rIns="36576" tIns="36576" bIns="36576">
            <a:spAutoFit/>
          </a:bodyPr>
          <a:lstStyle/>
          <a:p>
            <a:pPr algn="l">
              <a:lnSpc>
                <a:spcPct val="110000"/>
              </a:lnSpc>
              <a:spcAft>
                <a:spcPts val="400"/>
              </a:spcAft>
            </a:pPr>
            <a:r>
              <a:rPr sz="2600" b="1" i="0">
                <a:solidFill>
                  <a:srgbClr val="F59E0B"/>
                </a:solidFill>
                <a:latin typeface="Consolas"/>
              </a:rPr>
              <a:t>+332%</a:t>
            </a:r>
          </a:p>
        </p:txBody>
      </p:sp>
      <p:sp>
        <p:nvSpPr>
          <p:cNvPr id="21" name="TextBox 20"/>
          <p:cNvSpPr txBox="1"/>
          <p:nvPr/>
        </p:nvSpPr>
        <p:spPr>
          <a:xfrm>
            <a:off x="4407408" y="5454396"/>
            <a:ext cx="3346704" cy="640080"/>
          </a:xfrm>
          <a:prstGeom prst="rect">
            <a:avLst/>
          </a:prstGeom>
          <a:noFill/>
        </p:spPr>
        <p:txBody>
          <a:bodyPr wrap="square" anchor="t" lIns="36576" rIns="36576" tIns="36576" bIns="36576">
            <a:spAutoFit/>
          </a:bodyPr>
          <a:lstStyle/>
          <a:p>
            <a:pPr algn="l">
              <a:lnSpc>
                <a:spcPct val="105000"/>
              </a:lnSpc>
              <a:spcAft>
                <a:spcPts val="400"/>
              </a:spcAft>
            </a:pPr>
            <a:r>
              <a:rPr sz="1000" b="0" i="0">
                <a:solidFill>
                  <a:srgbClr val="8B98A5"/>
                </a:solidFill>
                <a:latin typeface="Segoe UI"/>
              </a:rPr>
              <a:t>average fulfilment time without intervention (2.1 → 9.2 min)</a:t>
            </a:r>
          </a:p>
        </p:txBody>
      </p:sp>
      <p:sp>
        <p:nvSpPr>
          <p:cNvPr id="22" name="Rounded Rectangle 21"/>
          <p:cNvSpPr/>
          <p:nvPr/>
        </p:nvSpPr>
        <p:spPr>
          <a:xfrm>
            <a:off x="8046720" y="4526280"/>
            <a:ext cx="3566160" cy="160020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56448" y="4617720"/>
            <a:ext cx="3346704" cy="880110"/>
          </a:xfrm>
          <a:prstGeom prst="rect">
            <a:avLst/>
          </a:prstGeom>
          <a:noFill/>
        </p:spPr>
        <p:txBody>
          <a:bodyPr wrap="square" anchor="ctr" lIns="36576" rIns="36576" tIns="36576" bIns="36576">
            <a:spAutoFit/>
          </a:bodyPr>
          <a:lstStyle/>
          <a:p>
            <a:pPr algn="l">
              <a:lnSpc>
                <a:spcPct val="110000"/>
              </a:lnSpc>
              <a:spcAft>
                <a:spcPts val="400"/>
              </a:spcAft>
            </a:pPr>
            <a:r>
              <a:rPr sz="2600" b="1" i="0">
                <a:solidFill>
                  <a:srgbClr val="22D3EE"/>
                </a:solidFill>
                <a:latin typeface="Consolas"/>
              </a:rPr>
              <a:t>18.8 s</a:t>
            </a:r>
          </a:p>
        </p:txBody>
      </p:sp>
      <p:sp>
        <p:nvSpPr>
          <p:cNvPr id="24" name="TextBox 23"/>
          <p:cNvSpPr txBox="1"/>
          <p:nvPr/>
        </p:nvSpPr>
        <p:spPr>
          <a:xfrm>
            <a:off x="8156448" y="5454396"/>
            <a:ext cx="3346704" cy="640080"/>
          </a:xfrm>
          <a:prstGeom prst="rect">
            <a:avLst/>
          </a:prstGeom>
          <a:noFill/>
        </p:spPr>
        <p:txBody>
          <a:bodyPr wrap="square" anchor="t" lIns="36576" rIns="36576" tIns="36576" bIns="36576">
            <a:spAutoFit/>
          </a:bodyPr>
          <a:lstStyle/>
          <a:p>
            <a:pPr algn="l">
              <a:lnSpc>
                <a:spcPct val="105000"/>
              </a:lnSpc>
              <a:spcAft>
                <a:spcPts val="400"/>
              </a:spcAft>
            </a:pPr>
            <a:r>
              <a:rPr sz="1000" b="0" i="0">
                <a:solidFill>
                  <a:srgbClr val="8B98A5"/>
                </a:solidFill>
                <a:latin typeface="Segoe UI"/>
              </a:rPr>
              <a:t>for NEXUS to evaluate 9 candidate plans and 21 task allocations in forked twins — and pick one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D12"/>
        </a:solidFill>
        <a:effectLst/>
      </p:bgPr>
    </p:bg>
    <p:spTree>
      <p:nvGrpSpPr>
        <p:cNvPr id="1" name=""/>
        <p:cNvGrpSpPr/>
        <p:nvPr/>
      </p:nvGrpSpPr>
      <p:grpSpPr/>
      <p:sp>
        <p:nvSpPr>
          <p:cNvPr id="2" name="TextBox 1"/>
          <p:cNvSpPr txBox="1"/>
          <p:nvPr/>
        </p:nvSpPr>
        <p:spPr>
          <a:xfrm>
            <a:off x="548640" y="256032"/>
            <a:ext cx="8229600" cy="274320"/>
          </a:xfrm>
          <a:prstGeom prst="rect">
            <a:avLst/>
          </a:prstGeom>
          <a:noFill/>
        </p:spPr>
        <p:txBody>
          <a:bodyPr wrap="square" anchor="t" lIns="36576" rIns="36576" tIns="36576" bIns="36576">
            <a:spAutoFit/>
          </a:bodyPr>
          <a:lstStyle/>
          <a:p>
            <a:pPr algn="l">
              <a:lnSpc>
                <a:spcPct val="110000"/>
              </a:lnSpc>
              <a:spcAft>
                <a:spcPts val="400"/>
              </a:spcAft>
            </a:pPr>
            <a:r>
              <a:rPr sz="1050" b="1" i="0">
                <a:solidFill>
                  <a:srgbClr val="22D3EE"/>
                </a:solidFill>
                <a:latin typeface="Segoe UI"/>
              </a:rPr>
              <a:t>THE DIFFERENCE</a:t>
            </a:r>
          </a:p>
        </p:txBody>
      </p:sp>
      <p:sp>
        <p:nvSpPr>
          <p:cNvPr id="3" name="TextBox 2"/>
          <p:cNvSpPr txBox="1"/>
          <p:nvPr/>
        </p:nvSpPr>
        <p:spPr>
          <a:xfrm>
            <a:off x="548640" y="502920"/>
            <a:ext cx="10607040" cy="731520"/>
          </a:xfrm>
          <a:prstGeom prst="rect">
            <a:avLst/>
          </a:prstGeom>
          <a:noFill/>
        </p:spPr>
        <p:txBody>
          <a:bodyPr wrap="square" anchor="ctr" lIns="36576" rIns="36576" tIns="36576" bIns="36576">
            <a:spAutoFit/>
          </a:bodyPr>
          <a:lstStyle/>
          <a:p>
            <a:pPr algn="l">
              <a:lnSpc>
                <a:spcPct val="110000"/>
              </a:lnSpc>
              <a:spcAft>
                <a:spcPts val="400"/>
              </a:spcAft>
            </a:pPr>
            <a:r>
              <a:rPr sz="2800" b="1" i="0">
                <a:solidFill>
                  <a:srgbClr val="E6EDF3"/>
                </a:solidFill>
                <a:latin typeface="Segoe UI"/>
              </a:rPr>
              <a:t>What a normal system says — and what NEXUS says</a:t>
            </a:r>
          </a:p>
        </p:txBody>
      </p:sp>
      <p:sp>
        <p:nvSpPr>
          <p:cNvPr id="4" name="Rectangle 3"/>
          <p:cNvSpPr/>
          <p:nvPr/>
        </p:nvSpPr>
        <p:spPr>
          <a:xfrm>
            <a:off x="566928" y="1216152"/>
            <a:ext cx="100584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6400800" cy="274320"/>
          </a:xfrm>
          <a:prstGeom prst="rect">
            <a:avLst/>
          </a:prstGeom>
          <a:noFill/>
        </p:spPr>
        <p:txBody>
          <a:bodyPr wrap="square" anchor="t" lIns="36576" rIns="36576" tIns="36576" bIns="36576">
            <a:spAutoFit/>
          </a:bodyPr>
          <a:lstStyle/>
          <a:p>
            <a:pPr algn="l">
              <a:lnSpc>
                <a:spcPct val="110000"/>
              </a:lnSpc>
              <a:spcAft>
                <a:spcPts val="400"/>
              </a:spcAft>
            </a:pPr>
            <a:r>
              <a:rPr sz="950" b="0" i="0">
                <a:solidFill>
                  <a:srgbClr val="8B98A5"/>
                </a:solidFill>
                <a:latin typeface="Segoe UI"/>
              </a:rPr>
              <a:t>NEXUS · Autonomous Operations Intelligence</a:t>
            </a:r>
          </a:p>
        </p:txBody>
      </p:sp>
      <p:sp>
        <p:nvSpPr>
          <p:cNvPr id="6" name="TextBox 5"/>
          <p:cNvSpPr txBox="1"/>
          <p:nvPr/>
        </p:nvSpPr>
        <p:spPr>
          <a:xfrm>
            <a:off x="10607040" y="6446520"/>
            <a:ext cx="1051560" cy="274320"/>
          </a:xfrm>
          <a:prstGeom prst="rect">
            <a:avLst/>
          </a:prstGeom>
          <a:noFill/>
        </p:spPr>
        <p:txBody>
          <a:bodyPr wrap="square" anchor="t" lIns="36576" rIns="36576" tIns="36576" bIns="36576">
            <a:spAutoFit/>
          </a:bodyPr>
          <a:lstStyle/>
          <a:p>
            <a:pPr algn="r">
              <a:lnSpc>
                <a:spcPct val="110000"/>
              </a:lnSpc>
              <a:spcAft>
                <a:spcPts val="400"/>
              </a:spcAft>
            </a:pPr>
            <a:r>
              <a:rPr sz="950" b="0" i="0">
                <a:solidFill>
                  <a:srgbClr val="8B98A5"/>
                </a:solidFill>
                <a:latin typeface="Consolas"/>
              </a:rPr>
              <a:t>03</a:t>
            </a:r>
          </a:p>
        </p:txBody>
      </p:sp>
      <p:sp>
        <p:nvSpPr>
          <p:cNvPr id="7" name="Rounded Rectangle 6"/>
          <p:cNvSpPr/>
          <p:nvPr/>
        </p:nvSpPr>
        <p:spPr>
          <a:xfrm>
            <a:off x="548640" y="1463040"/>
            <a:ext cx="4937760" cy="420624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6656" y="1554480"/>
            <a:ext cx="4681728" cy="274320"/>
          </a:xfrm>
          <a:prstGeom prst="rect">
            <a:avLst/>
          </a:prstGeom>
          <a:noFill/>
        </p:spPr>
        <p:txBody>
          <a:bodyPr wrap="square" anchor="t" lIns="36576" rIns="36576" tIns="36576" bIns="36576">
            <a:spAutoFit/>
          </a:bodyPr>
          <a:lstStyle/>
          <a:p>
            <a:pPr algn="l">
              <a:lnSpc>
                <a:spcPct val="110000"/>
              </a:lnSpc>
              <a:spcAft>
                <a:spcPts val="400"/>
              </a:spcAft>
            </a:pPr>
            <a:r>
              <a:rPr sz="950" b="1" i="0">
                <a:solidFill>
                  <a:srgbClr val="22D3EE"/>
                </a:solidFill>
                <a:latin typeface="Segoe UI"/>
              </a:rPr>
              <a:t>A NORMAL SYSTEM SAYS</a:t>
            </a:r>
          </a:p>
        </p:txBody>
      </p:sp>
      <p:sp>
        <p:nvSpPr>
          <p:cNvPr id="9" name="TextBox 8"/>
          <p:cNvSpPr txBox="1"/>
          <p:nvPr/>
        </p:nvSpPr>
        <p:spPr>
          <a:xfrm>
            <a:off x="777240" y="2103120"/>
            <a:ext cx="4572000" cy="914400"/>
          </a:xfrm>
          <a:prstGeom prst="rect">
            <a:avLst/>
          </a:prstGeom>
          <a:noFill/>
        </p:spPr>
        <p:txBody>
          <a:bodyPr wrap="square" anchor="t" lIns="36576" rIns="36576" tIns="36576" bIns="36576">
            <a:spAutoFit/>
          </a:bodyPr>
          <a:lstStyle/>
          <a:p>
            <a:pPr algn="l">
              <a:lnSpc>
                <a:spcPct val="110000"/>
              </a:lnSpc>
              <a:spcAft>
                <a:spcPts val="400"/>
              </a:spcAft>
            </a:pPr>
            <a:r>
              <a:rPr sz="3000" b="1" i="0">
                <a:solidFill>
                  <a:srgbClr val="8B98A5"/>
                </a:solidFill>
                <a:latin typeface="Consolas"/>
              </a:rPr>
              <a:t>Robot R07 offline.</a:t>
            </a:r>
          </a:p>
        </p:txBody>
      </p:sp>
      <p:sp>
        <p:nvSpPr>
          <p:cNvPr id="10" name="TextBox 9"/>
          <p:cNvSpPr txBox="1"/>
          <p:nvPr/>
        </p:nvSpPr>
        <p:spPr>
          <a:xfrm>
            <a:off x="777240" y="3108960"/>
            <a:ext cx="4480560" cy="2286000"/>
          </a:xfrm>
          <a:prstGeom prst="rect">
            <a:avLst/>
          </a:prstGeom>
          <a:noFill/>
        </p:spPr>
        <p:txBody>
          <a:bodyPr wrap="square" anchor="t" lIns="36576" rIns="36576" tIns="36576" bIns="36576">
            <a:spAutoFit/>
          </a:bodyPr>
          <a:lstStyle/>
          <a:p>
            <a:pPr algn="l">
              <a:lnSpc>
                <a:spcPct val="125000"/>
              </a:lnSpc>
              <a:spcAft>
                <a:spcPts val="400"/>
              </a:spcAft>
            </a:pPr>
            <a:r>
              <a:rPr sz="1300" b="0" i="0">
                <a:solidFill>
                  <a:srgbClr val="8B98A5"/>
                </a:solidFill>
                <a:latin typeface="Segoe UI"/>
              </a:rPr>
              <a:t>…and a tile turns red. Tasks pile up in R07's zone, the SLA clock keeps running, and what happens next depends on whoever is on shift — with no way to know which reaction would actually help.</a:t>
            </a:r>
          </a:p>
        </p:txBody>
      </p:sp>
      <p:sp>
        <p:nvSpPr>
          <p:cNvPr id="11" name="Rounded Rectangle 10"/>
          <p:cNvSpPr/>
          <p:nvPr/>
        </p:nvSpPr>
        <p:spPr>
          <a:xfrm>
            <a:off x="5760720" y="1463040"/>
            <a:ext cx="5897880" cy="4206240"/>
          </a:xfrm>
          <a:prstGeom prst="roundRect">
            <a:avLst>
              <a:gd name="adj" fmla="val 5000"/>
            </a:avLst>
          </a:prstGeom>
          <a:solidFill>
            <a:srgbClr val="11161D"/>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88736" y="1554480"/>
            <a:ext cx="5641848" cy="274320"/>
          </a:xfrm>
          <a:prstGeom prst="rect">
            <a:avLst/>
          </a:prstGeom>
          <a:noFill/>
        </p:spPr>
        <p:txBody>
          <a:bodyPr wrap="square" anchor="t" lIns="36576" rIns="36576" tIns="36576" bIns="36576">
            <a:spAutoFit/>
          </a:bodyPr>
          <a:lstStyle/>
          <a:p>
            <a:pPr algn="l">
              <a:lnSpc>
                <a:spcPct val="110000"/>
              </a:lnSpc>
              <a:spcAft>
                <a:spcPts val="400"/>
              </a:spcAft>
            </a:pPr>
            <a:r>
              <a:rPr sz="950" b="1" i="0">
                <a:solidFill>
                  <a:srgbClr val="22D3EE"/>
                </a:solidFill>
                <a:latin typeface="Segoe UI"/>
              </a:rPr>
              <a:t>NEXUS SAYS</a:t>
            </a:r>
          </a:p>
        </p:txBody>
      </p:sp>
      <p:sp>
        <p:nvSpPr>
          <p:cNvPr id="13" name="TextBox 12"/>
          <p:cNvSpPr txBox="1"/>
          <p:nvPr/>
        </p:nvSpPr>
        <p:spPr>
          <a:xfrm>
            <a:off x="5943600" y="1874519"/>
            <a:ext cx="5577840" cy="3657600"/>
          </a:xfrm>
          <a:prstGeom prst="rect">
            <a:avLst/>
          </a:prstGeom>
          <a:noFill/>
        </p:spPr>
        <p:txBody>
          <a:bodyPr wrap="square" anchor="t" lIns="45720" rIns="45720">
            <a:spAutoFit/>
          </a:bodyPr>
          <a:lstStyle/>
          <a:p>
            <a:pPr>
              <a:lnSpc>
                <a:spcPct val="120000"/>
              </a:lnSpc>
              <a:spcAft>
                <a:spcPts val="900"/>
              </a:spcAft>
            </a:pPr>
            <a:r>
              <a:rPr sz="1250" b="0" i="0">
                <a:solidFill>
                  <a:srgbClr val="E6EDF3"/>
                </a:solidFill>
                <a:latin typeface="Segoe UI"/>
              </a:rPr>
              <a:t>R07 failure (motor fault) will increase average order fulfilment time from </a:t>
            </a:r>
            <a:r>
              <a:rPr sz="1250" b="1" i="0">
                <a:solidFill>
                  <a:srgbClr val="E6EDF3"/>
                </a:solidFill>
                <a:latin typeface="Segoe UI"/>
              </a:rPr>
              <a:t>2.1 to 9.2 min</a:t>
            </a:r>
            <a:r>
              <a:rPr sz="1250" b="0" i="0">
                <a:solidFill>
                  <a:srgbClr val="E6EDF3"/>
                </a:solidFill>
                <a:latin typeface="Segoe UI"/>
              </a:rPr>
              <a:t> over the next 60 minutes — projected SLA breach </a:t>
            </a:r>
            <a:r>
              <a:rPr sz="1250" b="1" i="0">
                <a:solidFill>
                  <a:srgbClr val="EF4444"/>
                </a:solidFill>
                <a:latin typeface="Segoe UI"/>
              </a:rPr>
              <a:t>39.4%</a:t>
            </a:r>
            <a:r>
              <a:rPr sz="1250" b="0" i="0">
                <a:solidFill>
                  <a:srgbClr val="E6EDF3"/>
                </a:solidFill>
                <a:latin typeface="Segoe UI"/>
              </a:rPr>
              <a:t> without intervention.</a:t>
            </a:r>
          </a:p>
          <a:p>
            <a:pPr>
              <a:lnSpc>
                <a:spcPct val="120000"/>
              </a:lnSpc>
              <a:spcAft>
                <a:spcPts val="900"/>
              </a:spcAft>
            </a:pPr>
            <a:r>
              <a:rPr sz="1250" b="0" i="0">
                <a:solidFill>
                  <a:srgbClr val="E6EDF3"/>
                </a:solidFill>
                <a:latin typeface="Segoe UI"/>
              </a:rPr>
              <a:t>I evaluated </a:t>
            </a:r>
            <a:r>
              <a:rPr sz="1250" b="1" i="0">
                <a:solidFill>
                  <a:srgbClr val="E6EDF3"/>
                </a:solidFill>
                <a:latin typeface="Segoe UI"/>
              </a:rPr>
              <a:t>9 candidate plans and 21 task allocations</a:t>
            </a:r>
            <a:r>
              <a:rPr sz="1250" b="0" i="0">
                <a:solidFill>
                  <a:srgbClr val="E6EDF3"/>
                </a:solidFill>
                <a:latin typeface="Segoe UI"/>
              </a:rPr>
              <a:t> in 18.8 s.</a:t>
            </a:r>
          </a:p>
          <a:p>
            <a:pPr>
              <a:lnSpc>
                <a:spcPct val="120000"/>
              </a:lnSpc>
              <a:spcAft>
                <a:spcPts val="900"/>
              </a:spcAft>
            </a:pPr>
            <a:r>
              <a:rPr sz="1250" b="1" i="0">
                <a:solidFill>
                  <a:srgbClr val="22D3EE"/>
                </a:solidFill>
                <a:latin typeface="Segoe UI"/>
              </a:rPr>
              <a:t>Recommended plan #1 — Add 2 robots + batching. </a:t>
            </a:r>
            <a:r>
              <a:rPr sz="1250" b="0" i="0">
                <a:solidFill>
                  <a:srgbClr val="E6EDF3"/>
                </a:solidFill>
                <a:latin typeface="Segoe UI"/>
              </a:rPr>
              <a:t>Estimated impact: SLA breach </a:t>
            </a:r>
            <a:r>
              <a:rPr sz="1250" b="1" i="0">
                <a:solidFill>
                  <a:srgbClr val="22C55E"/>
                </a:solidFill>
                <a:latin typeface="Segoe UI"/>
              </a:rPr>
              <a:t>39.4% → 3.1%</a:t>
            </a:r>
            <a:r>
              <a:rPr sz="1250" b="0" i="0">
                <a:solidFill>
                  <a:srgbClr val="E6EDF3"/>
                </a:solidFill>
                <a:latin typeface="Segoe UI"/>
              </a:rPr>
              <a:t>, average fulfilment 9.2 → 4.5 min, throughput 438 → 546 orders/h.</a:t>
            </a:r>
          </a:p>
          <a:p>
            <a:pPr>
              <a:lnSpc>
                <a:spcPct val="120000"/>
              </a:lnSpc>
              <a:spcAft>
                <a:spcPts val="900"/>
              </a:spcAft>
            </a:pPr>
            <a:r>
              <a:rPr sz="1250" b="1" i="0">
                <a:solidFill>
                  <a:srgbClr val="22C55E"/>
                </a:solidFill>
                <a:latin typeface="Segoe UI"/>
              </a:rPr>
              <a:t>Risk LOW</a:t>
            </a:r>
            <a:r>
              <a:rPr sz="1250" b="0" i="0">
                <a:solidFill>
                  <a:srgbClr val="E6EDF3"/>
                </a:solidFill>
                <a:latin typeface="Segoe UI"/>
              </a:rPr>
              <a:t> (stable across 3 seeds, σ 0.2%); auto-approved — projected SLA breach improves by ≥ 2 pp.</a:t>
            </a:r>
          </a:p>
        </p:txBody>
      </p:sp>
      <p:sp>
        <p:nvSpPr>
          <p:cNvPr id="14" name="TextBox 13"/>
          <p:cNvSpPr txBox="1"/>
          <p:nvPr/>
        </p:nvSpPr>
        <p:spPr>
          <a:xfrm>
            <a:off x="548640" y="5806440"/>
            <a:ext cx="11064240" cy="548640"/>
          </a:xfrm>
          <a:prstGeom prst="rect">
            <a:avLst/>
          </a:prstGeom>
          <a:noFill/>
        </p:spPr>
        <p:txBody>
          <a:bodyPr wrap="square" anchor="t" lIns="36576" rIns="36576" tIns="36576" bIns="36576">
            <a:spAutoFit/>
          </a:bodyPr>
          <a:lstStyle/>
          <a:p>
            <a:pPr algn="l">
              <a:lnSpc>
                <a:spcPct val="110000"/>
              </a:lnSpc>
              <a:spcAft>
                <a:spcPts val="400"/>
              </a:spcAft>
            </a:pPr>
            <a:r>
              <a:rPr sz="1000" b="0" i="1">
                <a:solidFill>
                  <a:srgbClr val="8B98A5"/>
                </a:solidFill>
                <a:latin typeface="Segoe UI"/>
              </a:rPr>
              <a:t>Rendered from a decision record (nexus/agents/explain.py). Every number comes from simulating each candidate in a forked copy of the twin, scoring it with a multi-objective cost and risk-checking it. Numbers: `uv run nexus demo`, 2026-08-30.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D12"/>
        </a:solidFill>
        <a:effectLst/>
      </p:bgPr>
    </p:bg>
    <p:spTree>
      <p:nvGrpSpPr>
        <p:cNvPr id="1" name=""/>
        <p:cNvGrpSpPr/>
        <p:nvPr/>
      </p:nvGrpSpPr>
      <p:grpSpPr/>
      <p:sp>
        <p:nvSpPr>
          <p:cNvPr id="2" name="TextBox 1"/>
          <p:cNvSpPr txBox="1"/>
          <p:nvPr/>
        </p:nvSpPr>
        <p:spPr>
          <a:xfrm>
            <a:off x="548640" y="256032"/>
            <a:ext cx="8229600" cy="274320"/>
          </a:xfrm>
          <a:prstGeom prst="rect">
            <a:avLst/>
          </a:prstGeom>
          <a:noFill/>
        </p:spPr>
        <p:txBody>
          <a:bodyPr wrap="square" anchor="t" lIns="36576" rIns="36576" tIns="36576" bIns="36576">
            <a:spAutoFit/>
          </a:bodyPr>
          <a:lstStyle/>
          <a:p>
            <a:pPr algn="l">
              <a:lnSpc>
                <a:spcPct val="110000"/>
              </a:lnSpc>
              <a:spcAft>
                <a:spcPts val="400"/>
              </a:spcAft>
            </a:pPr>
            <a:r>
              <a:rPr sz="1050" b="1" i="0">
                <a:solidFill>
                  <a:srgbClr val="22D3EE"/>
                </a:solidFill>
                <a:latin typeface="Segoe UI"/>
              </a:rPr>
              <a:t>THE VISION</a:t>
            </a:r>
          </a:p>
        </p:txBody>
      </p:sp>
      <p:sp>
        <p:nvSpPr>
          <p:cNvPr id="3" name="TextBox 2"/>
          <p:cNvSpPr txBox="1"/>
          <p:nvPr/>
        </p:nvSpPr>
        <p:spPr>
          <a:xfrm>
            <a:off x="548640" y="502920"/>
            <a:ext cx="10607040" cy="731520"/>
          </a:xfrm>
          <a:prstGeom prst="rect">
            <a:avLst/>
          </a:prstGeom>
          <a:noFill/>
        </p:spPr>
        <p:txBody>
          <a:bodyPr wrap="square" anchor="ctr" lIns="36576" rIns="36576" tIns="36576" bIns="36576">
            <a:spAutoFit/>
          </a:bodyPr>
          <a:lstStyle/>
          <a:p>
            <a:pPr algn="l">
              <a:lnSpc>
                <a:spcPct val="110000"/>
              </a:lnSpc>
              <a:spcAft>
                <a:spcPts val="400"/>
              </a:spcAft>
            </a:pPr>
            <a:r>
              <a:rPr sz="2800" b="1" i="0">
                <a:solidFill>
                  <a:srgbClr val="E6EDF3"/>
                </a:solidFill>
                <a:latin typeface="Segoe UI"/>
              </a:rPr>
              <a:t>From screens into environments</a:t>
            </a:r>
          </a:p>
        </p:txBody>
      </p:sp>
      <p:sp>
        <p:nvSpPr>
          <p:cNvPr id="4" name="Rectangle 3"/>
          <p:cNvSpPr/>
          <p:nvPr/>
        </p:nvSpPr>
        <p:spPr>
          <a:xfrm>
            <a:off x="566928" y="1216152"/>
            <a:ext cx="100584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6400800" cy="274320"/>
          </a:xfrm>
          <a:prstGeom prst="rect">
            <a:avLst/>
          </a:prstGeom>
          <a:noFill/>
        </p:spPr>
        <p:txBody>
          <a:bodyPr wrap="square" anchor="t" lIns="36576" rIns="36576" tIns="36576" bIns="36576">
            <a:spAutoFit/>
          </a:bodyPr>
          <a:lstStyle/>
          <a:p>
            <a:pPr algn="l">
              <a:lnSpc>
                <a:spcPct val="110000"/>
              </a:lnSpc>
              <a:spcAft>
                <a:spcPts val="400"/>
              </a:spcAft>
            </a:pPr>
            <a:r>
              <a:rPr sz="950" b="0" i="0">
                <a:solidFill>
                  <a:srgbClr val="8B98A5"/>
                </a:solidFill>
                <a:latin typeface="Segoe UI"/>
              </a:rPr>
              <a:t>NEXUS · Autonomous Operations Intelligence</a:t>
            </a:r>
          </a:p>
        </p:txBody>
      </p:sp>
      <p:sp>
        <p:nvSpPr>
          <p:cNvPr id="6" name="TextBox 5"/>
          <p:cNvSpPr txBox="1"/>
          <p:nvPr/>
        </p:nvSpPr>
        <p:spPr>
          <a:xfrm>
            <a:off x="10607040" y="6446520"/>
            <a:ext cx="1051560" cy="274320"/>
          </a:xfrm>
          <a:prstGeom prst="rect">
            <a:avLst/>
          </a:prstGeom>
          <a:noFill/>
        </p:spPr>
        <p:txBody>
          <a:bodyPr wrap="square" anchor="t" lIns="36576" rIns="36576" tIns="36576" bIns="36576">
            <a:spAutoFit/>
          </a:bodyPr>
          <a:lstStyle/>
          <a:p>
            <a:pPr algn="r">
              <a:lnSpc>
                <a:spcPct val="110000"/>
              </a:lnSpc>
              <a:spcAft>
                <a:spcPts val="400"/>
              </a:spcAft>
            </a:pPr>
            <a:r>
              <a:rPr sz="950" b="0" i="0">
                <a:solidFill>
                  <a:srgbClr val="8B98A5"/>
                </a:solidFill>
                <a:latin typeface="Consolas"/>
              </a:rPr>
              <a:t>04</a:t>
            </a:r>
          </a:p>
        </p:txBody>
      </p:sp>
      <p:sp>
        <p:nvSpPr>
          <p:cNvPr id="7" name="TextBox 6"/>
          <p:cNvSpPr txBox="1"/>
          <p:nvPr/>
        </p:nvSpPr>
        <p:spPr>
          <a:xfrm>
            <a:off x="548640" y="1463040"/>
            <a:ext cx="5852160" cy="3291840"/>
          </a:xfrm>
          <a:prstGeom prst="rect">
            <a:avLst/>
          </a:prstGeom>
          <a:noFill/>
        </p:spPr>
        <p:txBody>
          <a:bodyPr wrap="square" lIns="45720" rIns="45720">
            <a:spAutoFit/>
          </a:bodyPr>
          <a:lstStyle/>
          <a:p>
            <a:pPr>
              <a:lnSpc>
                <a:spcPct val="112000"/>
              </a:lnSpc>
              <a:spcAft>
                <a:spcPts val="800"/>
              </a:spcAft>
            </a:pPr>
            <a:r>
              <a:rPr sz="1250" b="1">
                <a:solidFill>
                  <a:srgbClr val="22D3EE"/>
                </a:solidFill>
                <a:latin typeface="Segoe UI"/>
              </a:rPr>
              <a:t>•  </a:t>
            </a:r>
            <a:r>
              <a:rPr b="1" sz="1250">
                <a:solidFill>
                  <a:srgbClr val="E6EDF3"/>
                </a:solidFill>
                <a:latin typeface="Segoe UI"/>
              </a:rPr>
              <a:t>The shift. </a:t>
            </a:r>
            <a:r>
              <a:rPr sz="1250">
                <a:solidFill>
                  <a:srgbClr val="E6EDF3"/>
                </a:solidFill>
                <a:latin typeface="Segoe UI"/>
              </a:rPr>
              <a:t>AI is moving from answering questions on a screen to perceiving, reasoning and acting inside physical operations — warehouses, factories, hospitals, airports.</a:t>
            </a:r>
          </a:p>
          <a:p>
            <a:pPr>
              <a:lnSpc>
                <a:spcPct val="112000"/>
              </a:lnSpc>
              <a:spcAft>
                <a:spcPts val="800"/>
              </a:spcAft>
            </a:pPr>
            <a:r>
              <a:rPr sz="1250" b="1">
                <a:solidFill>
                  <a:srgbClr val="22D3EE"/>
                </a:solidFill>
                <a:latin typeface="Segoe UI"/>
              </a:rPr>
              <a:t>•  </a:t>
            </a:r>
            <a:r>
              <a:rPr b="1" sz="1250">
                <a:solidFill>
                  <a:srgbClr val="E6EDF3"/>
                </a:solidFill>
                <a:latin typeface="Segoe UI"/>
              </a:rPr>
              <a:t>The gap. </a:t>
            </a:r>
            <a:r>
              <a:rPr sz="1250">
                <a:solidFill>
                  <a:srgbClr val="E6EDF3"/>
                </a:solidFill>
                <a:latin typeface="Segoe UI"/>
              </a:rPr>
              <a:t>Robots and sensors produce the data; nobody turns it into safe, explainable decisions in real time.</a:t>
            </a:r>
          </a:p>
          <a:p>
            <a:pPr>
              <a:lnSpc>
                <a:spcPct val="112000"/>
              </a:lnSpc>
              <a:spcAft>
                <a:spcPts val="800"/>
              </a:spcAft>
            </a:pPr>
            <a:r>
              <a:rPr sz="1250" b="1">
                <a:solidFill>
                  <a:srgbClr val="22D3EE"/>
                </a:solidFill>
                <a:latin typeface="Segoe UI"/>
              </a:rPr>
              <a:t>•  </a:t>
            </a:r>
            <a:r>
              <a:rPr b="1" sz="1250">
                <a:solidFill>
                  <a:srgbClr val="E6EDF3"/>
                </a:solidFill>
                <a:latin typeface="Segoe UI"/>
              </a:rPr>
              <a:t>Analyst themes 2025–26. </a:t>
            </a:r>
            <a:r>
              <a:rPr sz="1250">
                <a:solidFill>
                  <a:srgbClr val="E6EDF3"/>
                </a:solidFill>
                <a:latin typeface="Segoe UI"/>
              </a:rPr>
              <a:t>physical AI, multi-agent systems, domain-specific intelligence and spatial AI (strategic technology trends); digital twins, autonomous systems, logistics optimization and foundation models (smart-manufacturing roadmap); robotics, autonomous forklifts, inspection drones and digital twins (physical-AI briefs).</a:t>
            </a:r>
          </a:p>
          <a:p>
            <a:pPr>
              <a:lnSpc>
                <a:spcPct val="112000"/>
              </a:lnSpc>
              <a:spcAft>
                <a:spcPts val="800"/>
              </a:spcAft>
            </a:pPr>
            <a:r>
              <a:rPr sz="1250" b="1">
                <a:solidFill>
                  <a:srgbClr val="22D3EE"/>
                </a:solidFill>
                <a:latin typeface="Segoe UI"/>
              </a:rPr>
              <a:t>•  </a:t>
            </a:r>
            <a:r>
              <a:rPr b="1" sz="1250">
                <a:solidFill>
                  <a:srgbClr val="E6EDF3"/>
                </a:solidFill>
                <a:latin typeface="Segoe UI"/>
              </a:rPr>
              <a:t>The market. </a:t>
            </a:r>
            <a:r>
              <a:rPr sz="1250">
                <a:solidFill>
                  <a:srgbClr val="E6EDF3"/>
                </a:solidFill>
                <a:latin typeface="Segoe UI"/>
              </a:rPr>
              <a:t>warehouse automation and industrial digital twins are multi-billion-dollar categories growing at double-digit rates; every site that adds robots needs an intelligence layer above the fleet manager.</a:t>
            </a:r>
          </a:p>
        </p:txBody>
      </p:sp>
      <p:sp>
        <p:nvSpPr>
          <p:cNvPr id="8" name="Rounded Rectangle 7"/>
          <p:cNvSpPr/>
          <p:nvPr/>
        </p:nvSpPr>
        <p:spPr>
          <a:xfrm>
            <a:off x="6675120" y="1463040"/>
            <a:ext cx="4983480" cy="3291840"/>
          </a:xfrm>
          <a:prstGeom prst="roundRect">
            <a:avLst>
              <a:gd name="adj" fmla="val 5000"/>
            </a:avLst>
          </a:prstGeom>
          <a:solidFill>
            <a:srgbClr val="11161D"/>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03136" y="1554480"/>
            <a:ext cx="4727448" cy="274320"/>
          </a:xfrm>
          <a:prstGeom prst="rect">
            <a:avLst/>
          </a:prstGeom>
          <a:noFill/>
        </p:spPr>
        <p:txBody>
          <a:bodyPr wrap="square" anchor="t" lIns="36576" rIns="36576" tIns="36576" bIns="36576">
            <a:spAutoFit/>
          </a:bodyPr>
          <a:lstStyle/>
          <a:p>
            <a:pPr algn="l">
              <a:lnSpc>
                <a:spcPct val="110000"/>
              </a:lnSpc>
              <a:spcAft>
                <a:spcPts val="400"/>
              </a:spcAft>
            </a:pPr>
            <a:r>
              <a:rPr sz="950" b="1" i="0">
                <a:solidFill>
                  <a:srgbClr val="22D3EE"/>
                </a:solidFill>
                <a:latin typeface="Segoe UI"/>
              </a:rPr>
              <a:t>NEXUS THESIS</a:t>
            </a:r>
          </a:p>
        </p:txBody>
      </p:sp>
      <p:sp>
        <p:nvSpPr>
          <p:cNvPr id="10" name="TextBox 9"/>
          <p:cNvSpPr txBox="1"/>
          <p:nvPr/>
        </p:nvSpPr>
        <p:spPr>
          <a:xfrm>
            <a:off x="6858000" y="1874519"/>
            <a:ext cx="4617720" cy="1005840"/>
          </a:xfrm>
          <a:prstGeom prst="rect">
            <a:avLst/>
          </a:prstGeom>
          <a:noFill/>
        </p:spPr>
        <p:txBody>
          <a:bodyPr wrap="square" anchor="t" lIns="36576" rIns="36576" tIns="36576" bIns="36576">
            <a:spAutoFit/>
          </a:bodyPr>
          <a:lstStyle/>
          <a:p>
            <a:pPr algn="l">
              <a:lnSpc>
                <a:spcPct val="120000"/>
              </a:lnSpc>
              <a:spcAft>
                <a:spcPts val="400"/>
              </a:spcAft>
            </a:pPr>
            <a:r>
              <a:rPr sz="1400" b="1" i="0">
                <a:solidFill>
                  <a:srgbClr val="E6EDF3"/>
                </a:solidFill>
                <a:latin typeface="Segoe UI"/>
              </a:rPr>
              <a:t>The digital twin is the operating system of physical AI: the place where agents perceive, reason, simulate and act — safely.</a:t>
            </a:r>
          </a:p>
        </p:txBody>
      </p:sp>
      <p:sp>
        <p:nvSpPr>
          <p:cNvPr id="11" name="TextBox 10"/>
          <p:cNvSpPr txBox="1"/>
          <p:nvPr/>
        </p:nvSpPr>
        <p:spPr>
          <a:xfrm>
            <a:off x="6812280" y="2926080"/>
            <a:ext cx="4663440" cy="1737360"/>
          </a:xfrm>
          <a:prstGeom prst="rect">
            <a:avLst/>
          </a:prstGeom>
          <a:noFill/>
        </p:spPr>
        <p:txBody>
          <a:bodyPr wrap="square" lIns="45720" rIns="45720">
            <a:spAutoFit/>
          </a:bodyPr>
          <a:lstStyle/>
          <a:p>
            <a:pPr>
              <a:lnSpc>
                <a:spcPct val="112000"/>
              </a:lnSpc>
              <a:spcAft>
                <a:spcPts val="500"/>
              </a:spcAft>
            </a:pPr>
            <a:r>
              <a:rPr sz="1150" b="1">
                <a:solidFill>
                  <a:srgbClr val="22D3EE"/>
                </a:solidFill>
                <a:latin typeface="Segoe UI"/>
              </a:rPr>
              <a:t>•  </a:t>
            </a:r>
            <a:r>
              <a:rPr b="1" sz="1150">
                <a:solidFill>
                  <a:srgbClr val="E6EDF3"/>
                </a:solidFill>
                <a:latin typeface="Segoe UI"/>
              </a:rPr>
              <a:t>Perceive — </a:t>
            </a:r>
            <a:r>
              <a:rPr sz="1150">
                <a:solidFill>
                  <a:srgbClr val="E6EDF3"/>
                </a:solidFill>
                <a:latin typeface="Segoe UI"/>
              </a:rPr>
              <a:t>the twin knows where everything is, what is happening and what is supposed to happen.</a:t>
            </a:r>
          </a:p>
          <a:p>
            <a:pPr>
              <a:lnSpc>
                <a:spcPct val="112000"/>
              </a:lnSpc>
              <a:spcAft>
                <a:spcPts val="500"/>
              </a:spcAft>
            </a:pPr>
            <a:r>
              <a:rPr sz="1150" b="1">
                <a:solidFill>
                  <a:srgbClr val="22D3EE"/>
                </a:solidFill>
                <a:latin typeface="Segoe UI"/>
              </a:rPr>
              <a:t>•  </a:t>
            </a:r>
            <a:r>
              <a:rPr b="1" sz="1150">
                <a:solidFill>
                  <a:srgbClr val="E6EDF3"/>
                </a:solidFill>
                <a:latin typeface="Segoe UI"/>
              </a:rPr>
              <a:t>Reason — </a:t>
            </a:r>
            <a:r>
              <a:rPr sz="1150">
                <a:solidFill>
                  <a:srgbClr val="E6EDF3"/>
                </a:solidFill>
                <a:latin typeface="Segoe UI"/>
              </a:rPr>
              <a:t>agents forecast, plan and explain in the operator's language.</a:t>
            </a:r>
          </a:p>
          <a:p>
            <a:pPr>
              <a:lnSpc>
                <a:spcPct val="112000"/>
              </a:lnSpc>
              <a:spcAft>
                <a:spcPts val="500"/>
              </a:spcAft>
            </a:pPr>
            <a:r>
              <a:rPr sz="1150" b="1">
                <a:solidFill>
                  <a:srgbClr val="22D3EE"/>
                </a:solidFill>
                <a:latin typeface="Segoe UI"/>
              </a:rPr>
              <a:t>•  </a:t>
            </a:r>
            <a:r>
              <a:rPr b="1" sz="1150">
                <a:solidFill>
                  <a:srgbClr val="E6EDF3"/>
                </a:solidFill>
                <a:latin typeface="Segoe UI"/>
              </a:rPr>
              <a:t>Act — </a:t>
            </a:r>
            <a:r>
              <a:rPr sz="1150">
                <a:solidFill>
                  <a:srgbClr val="E6EDF3"/>
                </a:solidFill>
                <a:latin typeface="Segoe UI"/>
              </a:rPr>
              <a:t>only after simulation, risk assessment and policy or human approval.</a:t>
            </a:r>
          </a:p>
        </p:txBody>
      </p:sp>
      <p:sp>
        <p:nvSpPr>
          <p:cNvPr id="12" name="Rounded Rectangle 11"/>
          <p:cNvSpPr/>
          <p:nvPr/>
        </p:nvSpPr>
        <p:spPr>
          <a:xfrm>
            <a:off x="548640" y="5074920"/>
            <a:ext cx="1325880" cy="329184"/>
          </a:xfrm>
          <a:prstGeom prst="roundRect">
            <a:avLst>
              <a:gd name="adj" fmla="val 50000"/>
            </a:avLst>
          </a:prstGeom>
          <a:solidFill>
            <a:srgbClr val="11161D"/>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9144" bIns="9144"/>
          <a:lstStyle/>
          <a:p>
            <a:pPr algn="ctr"/>
            <a:r>
              <a:rPr sz="850" b="1">
                <a:solidFill>
                  <a:srgbClr val="22D3EE"/>
                </a:solidFill>
                <a:latin typeface="Segoe UI"/>
              </a:rPr>
              <a:t>Physical AI</a:t>
            </a:r>
          </a:p>
        </p:txBody>
      </p:sp>
      <p:sp>
        <p:nvSpPr>
          <p:cNvPr id="13" name="Rounded Rectangle 12"/>
          <p:cNvSpPr/>
          <p:nvPr/>
        </p:nvSpPr>
        <p:spPr>
          <a:xfrm>
            <a:off x="1947672" y="5074920"/>
            <a:ext cx="1325880" cy="329184"/>
          </a:xfrm>
          <a:prstGeom prst="roundRect">
            <a:avLst>
              <a:gd name="adj" fmla="val 50000"/>
            </a:avLst>
          </a:prstGeom>
          <a:solidFill>
            <a:srgbClr val="11161D"/>
          </a:solidFill>
          <a:ln w="1143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tIns="9144" bIns="9144"/>
          <a:lstStyle/>
          <a:p>
            <a:pPr algn="ctr"/>
            <a:r>
              <a:rPr sz="850" b="1">
                <a:solidFill>
                  <a:srgbClr val="A78BFA"/>
                </a:solidFill>
                <a:latin typeface="Segoe UI"/>
              </a:rPr>
              <a:t>Multi-agent systems</a:t>
            </a:r>
          </a:p>
        </p:txBody>
      </p:sp>
      <p:sp>
        <p:nvSpPr>
          <p:cNvPr id="14" name="Rounded Rectangle 13"/>
          <p:cNvSpPr/>
          <p:nvPr/>
        </p:nvSpPr>
        <p:spPr>
          <a:xfrm>
            <a:off x="3346704" y="5074920"/>
            <a:ext cx="1325880" cy="329184"/>
          </a:xfrm>
          <a:prstGeom prst="roundRect">
            <a:avLst>
              <a:gd name="adj" fmla="val 50000"/>
            </a:avLst>
          </a:prstGeom>
          <a:solidFill>
            <a:srgbClr val="11161D"/>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9144" bIns="9144"/>
          <a:lstStyle/>
          <a:p>
            <a:pPr algn="ctr"/>
            <a:r>
              <a:rPr sz="850" b="1">
                <a:solidFill>
                  <a:srgbClr val="22D3EE"/>
                </a:solidFill>
                <a:latin typeface="Segoe UI"/>
              </a:rPr>
              <a:t>Spatial AI</a:t>
            </a:r>
          </a:p>
        </p:txBody>
      </p:sp>
      <p:sp>
        <p:nvSpPr>
          <p:cNvPr id="15" name="Rounded Rectangle 14"/>
          <p:cNvSpPr/>
          <p:nvPr/>
        </p:nvSpPr>
        <p:spPr>
          <a:xfrm>
            <a:off x="4745736" y="5074920"/>
            <a:ext cx="1325880" cy="329184"/>
          </a:xfrm>
          <a:prstGeom prst="roundRect">
            <a:avLst>
              <a:gd name="adj" fmla="val 50000"/>
            </a:avLst>
          </a:prstGeom>
          <a:solidFill>
            <a:srgbClr val="11161D"/>
          </a:solidFill>
          <a:ln w="1143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tIns="9144" bIns="9144"/>
          <a:lstStyle/>
          <a:p>
            <a:pPr algn="ctr"/>
            <a:r>
              <a:rPr sz="850" b="1">
                <a:solidFill>
                  <a:srgbClr val="A78BFA"/>
                </a:solidFill>
                <a:latin typeface="Segoe UI"/>
              </a:rPr>
              <a:t>Digital twins</a:t>
            </a:r>
          </a:p>
        </p:txBody>
      </p:sp>
      <p:sp>
        <p:nvSpPr>
          <p:cNvPr id="16" name="Rounded Rectangle 15"/>
          <p:cNvSpPr/>
          <p:nvPr/>
        </p:nvSpPr>
        <p:spPr>
          <a:xfrm>
            <a:off x="6144768" y="5074920"/>
            <a:ext cx="1325880" cy="329184"/>
          </a:xfrm>
          <a:prstGeom prst="roundRect">
            <a:avLst>
              <a:gd name="adj" fmla="val 50000"/>
            </a:avLst>
          </a:prstGeom>
          <a:solidFill>
            <a:srgbClr val="11161D"/>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9144" bIns="9144"/>
          <a:lstStyle/>
          <a:p>
            <a:pPr algn="ctr"/>
            <a:r>
              <a:rPr sz="850" b="1">
                <a:solidFill>
                  <a:srgbClr val="22D3EE"/>
                </a:solidFill>
                <a:latin typeface="Segoe UI"/>
              </a:rPr>
              <a:t>Autonomous systems</a:t>
            </a:r>
          </a:p>
        </p:txBody>
      </p:sp>
      <p:sp>
        <p:nvSpPr>
          <p:cNvPr id="17" name="Rounded Rectangle 16"/>
          <p:cNvSpPr/>
          <p:nvPr/>
        </p:nvSpPr>
        <p:spPr>
          <a:xfrm>
            <a:off x="7543800" y="5074920"/>
            <a:ext cx="1325880" cy="329184"/>
          </a:xfrm>
          <a:prstGeom prst="roundRect">
            <a:avLst>
              <a:gd name="adj" fmla="val 50000"/>
            </a:avLst>
          </a:prstGeom>
          <a:solidFill>
            <a:srgbClr val="11161D"/>
          </a:solidFill>
          <a:ln w="1143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tIns="9144" bIns="9144"/>
          <a:lstStyle/>
          <a:p>
            <a:pPr algn="ctr"/>
            <a:r>
              <a:rPr sz="850" b="1">
                <a:solidFill>
                  <a:srgbClr val="A78BFA"/>
                </a:solidFill>
                <a:latin typeface="Segoe UI"/>
              </a:rPr>
              <a:t>Logistics optimization</a:t>
            </a:r>
          </a:p>
        </p:txBody>
      </p:sp>
      <p:sp>
        <p:nvSpPr>
          <p:cNvPr id="18" name="Rounded Rectangle 17"/>
          <p:cNvSpPr/>
          <p:nvPr/>
        </p:nvSpPr>
        <p:spPr>
          <a:xfrm>
            <a:off x="8942832" y="5074920"/>
            <a:ext cx="1325880" cy="329184"/>
          </a:xfrm>
          <a:prstGeom prst="roundRect">
            <a:avLst>
              <a:gd name="adj" fmla="val 50000"/>
            </a:avLst>
          </a:prstGeom>
          <a:solidFill>
            <a:srgbClr val="11161D"/>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9144" bIns="9144"/>
          <a:lstStyle/>
          <a:p>
            <a:pPr algn="ctr"/>
            <a:r>
              <a:rPr sz="850" b="1">
                <a:solidFill>
                  <a:srgbClr val="22D3EE"/>
                </a:solidFill>
                <a:latin typeface="Segoe UI"/>
              </a:rPr>
              <a:t>Foundation models</a:t>
            </a:r>
          </a:p>
        </p:txBody>
      </p:sp>
      <p:sp>
        <p:nvSpPr>
          <p:cNvPr id="19" name="Rounded Rectangle 18"/>
          <p:cNvSpPr/>
          <p:nvPr/>
        </p:nvSpPr>
        <p:spPr>
          <a:xfrm>
            <a:off x="10341864" y="5074920"/>
            <a:ext cx="1325880" cy="329184"/>
          </a:xfrm>
          <a:prstGeom prst="roundRect">
            <a:avLst>
              <a:gd name="adj" fmla="val 50000"/>
            </a:avLst>
          </a:prstGeom>
          <a:solidFill>
            <a:srgbClr val="11161D"/>
          </a:solidFill>
          <a:ln w="1143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tIns="9144" bIns="9144"/>
          <a:lstStyle/>
          <a:p>
            <a:pPr algn="ctr"/>
            <a:r>
              <a:rPr sz="850" b="1">
                <a:solidFill>
                  <a:srgbClr val="A78BFA"/>
                </a:solidFill>
                <a:latin typeface="Segoe UI"/>
              </a:rPr>
              <a:t>Domain intelligence</a:t>
            </a:r>
          </a:p>
        </p:txBody>
      </p:sp>
      <p:sp>
        <p:nvSpPr>
          <p:cNvPr id="20" name="TextBox 19"/>
          <p:cNvSpPr txBox="1"/>
          <p:nvPr/>
        </p:nvSpPr>
        <p:spPr>
          <a:xfrm>
            <a:off x="548640" y="5623560"/>
            <a:ext cx="11064240" cy="548640"/>
          </a:xfrm>
          <a:prstGeom prst="rect">
            <a:avLst/>
          </a:prstGeom>
          <a:noFill/>
        </p:spPr>
        <p:txBody>
          <a:bodyPr wrap="square" anchor="t" lIns="36576" rIns="36576" tIns="36576" bIns="36576">
            <a:spAutoFit/>
          </a:bodyPr>
          <a:lstStyle/>
          <a:p>
            <a:pPr algn="l">
              <a:lnSpc>
                <a:spcPct val="110000"/>
              </a:lnSpc>
              <a:spcAft>
                <a:spcPts val="400"/>
              </a:spcAft>
            </a:pPr>
            <a:r>
              <a:rPr sz="950" b="0" i="1">
                <a:solidFill>
                  <a:srgbClr val="8B98A5"/>
                </a:solidFill>
                <a:latin typeface="Segoe UI"/>
              </a:rPr>
              <a:t>Themes as named in 2025–26 industry analyst publications (Gartner strategic technology trends; NIST smart-manufacturing roadmap; World Economic Forum physical-AI briefs). Market sizing is described qualitatively on purpose — figures differ by source.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D12"/>
        </a:solidFill>
        <a:effectLst/>
      </p:bgPr>
    </p:bg>
    <p:spTree>
      <p:nvGrpSpPr>
        <p:cNvPr id="1" name=""/>
        <p:cNvGrpSpPr/>
        <p:nvPr/>
      </p:nvGrpSpPr>
      <p:grpSpPr/>
      <p:sp>
        <p:nvSpPr>
          <p:cNvPr id="2" name="TextBox 1"/>
          <p:cNvSpPr txBox="1"/>
          <p:nvPr/>
        </p:nvSpPr>
        <p:spPr>
          <a:xfrm>
            <a:off x="548640" y="256032"/>
            <a:ext cx="8229600" cy="274320"/>
          </a:xfrm>
          <a:prstGeom prst="rect">
            <a:avLst/>
          </a:prstGeom>
          <a:noFill/>
        </p:spPr>
        <p:txBody>
          <a:bodyPr wrap="square" anchor="t" lIns="36576" rIns="36576" tIns="36576" bIns="36576">
            <a:spAutoFit/>
          </a:bodyPr>
          <a:lstStyle/>
          <a:p>
            <a:pPr algn="l">
              <a:lnSpc>
                <a:spcPct val="110000"/>
              </a:lnSpc>
              <a:spcAft>
                <a:spcPts val="400"/>
              </a:spcAft>
            </a:pPr>
            <a:r>
              <a:rPr sz="1050" b="1" i="0">
                <a:solidFill>
                  <a:srgbClr val="22D3EE"/>
                </a:solidFill>
                <a:latin typeface="Segoe UI"/>
              </a:rPr>
              <a:t>THE PRODUCT</a:t>
            </a:r>
          </a:p>
        </p:txBody>
      </p:sp>
      <p:sp>
        <p:nvSpPr>
          <p:cNvPr id="3" name="TextBox 2"/>
          <p:cNvSpPr txBox="1"/>
          <p:nvPr/>
        </p:nvSpPr>
        <p:spPr>
          <a:xfrm>
            <a:off x="548640" y="502920"/>
            <a:ext cx="10607040" cy="731520"/>
          </a:xfrm>
          <a:prstGeom prst="rect">
            <a:avLst/>
          </a:prstGeom>
          <a:noFill/>
        </p:spPr>
        <p:txBody>
          <a:bodyPr wrap="square" anchor="ctr" lIns="36576" rIns="36576" tIns="36576" bIns="36576">
            <a:spAutoFit/>
          </a:bodyPr>
          <a:lstStyle/>
          <a:p>
            <a:pPr algn="l">
              <a:lnSpc>
                <a:spcPct val="110000"/>
              </a:lnSpc>
              <a:spcAft>
                <a:spcPts val="400"/>
              </a:spcAft>
            </a:pPr>
            <a:r>
              <a:rPr sz="2800" b="1" i="0">
                <a:solidFill>
                  <a:srgbClr val="E6EDF3"/>
                </a:solidFill>
                <a:latin typeface="Segoe UI"/>
              </a:rPr>
              <a:t>NEXUS in one picture</a:t>
            </a:r>
          </a:p>
        </p:txBody>
      </p:sp>
      <p:sp>
        <p:nvSpPr>
          <p:cNvPr id="4" name="Rectangle 3"/>
          <p:cNvSpPr/>
          <p:nvPr/>
        </p:nvSpPr>
        <p:spPr>
          <a:xfrm>
            <a:off x="566928" y="1216152"/>
            <a:ext cx="100584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6400800" cy="274320"/>
          </a:xfrm>
          <a:prstGeom prst="rect">
            <a:avLst/>
          </a:prstGeom>
          <a:noFill/>
        </p:spPr>
        <p:txBody>
          <a:bodyPr wrap="square" anchor="t" lIns="36576" rIns="36576" tIns="36576" bIns="36576">
            <a:spAutoFit/>
          </a:bodyPr>
          <a:lstStyle/>
          <a:p>
            <a:pPr algn="l">
              <a:lnSpc>
                <a:spcPct val="110000"/>
              </a:lnSpc>
              <a:spcAft>
                <a:spcPts val="400"/>
              </a:spcAft>
            </a:pPr>
            <a:r>
              <a:rPr sz="950" b="0" i="0">
                <a:solidFill>
                  <a:srgbClr val="8B98A5"/>
                </a:solidFill>
                <a:latin typeface="Segoe UI"/>
              </a:rPr>
              <a:t>NEXUS · Autonomous Operations Intelligence</a:t>
            </a:r>
          </a:p>
        </p:txBody>
      </p:sp>
      <p:sp>
        <p:nvSpPr>
          <p:cNvPr id="6" name="TextBox 5"/>
          <p:cNvSpPr txBox="1"/>
          <p:nvPr/>
        </p:nvSpPr>
        <p:spPr>
          <a:xfrm>
            <a:off x="10607040" y="6446520"/>
            <a:ext cx="1051560" cy="274320"/>
          </a:xfrm>
          <a:prstGeom prst="rect">
            <a:avLst/>
          </a:prstGeom>
          <a:noFill/>
        </p:spPr>
        <p:txBody>
          <a:bodyPr wrap="square" anchor="t" lIns="36576" rIns="36576" tIns="36576" bIns="36576">
            <a:spAutoFit/>
          </a:bodyPr>
          <a:lstStyle/>
          <a:p>
            <a:pPr algn="r">
              <a:lnSpc>
                <a:spcPct val="110000"/>
              </a:lnSpc>
              <a:spcAft>
                <a:spcPts val="400"/>
              </a:spcAft>
            </a:pPr>
            <a:r>
              <a:rPr sz="950" b="0" i="0">
                <a:solidFill>
                  <a:srgbClr val="8B98A5"/>
                </a:solidFill>
                <a:latin typeface="Consolas"/>
              </a:rPr>
              <a:t>05</a:t>
            </a:r>
          </a:p>
        </p:txBody>
      </p:sp>
      <p:sp>
        <p:nvSpPr>
          <p:cNvPr id="7" name="Rounded Rectangle 6"/>
          <p:cNvSpPr/>
          <p:nvPr/>
        </p:nvSpPr>
        <p:spPr>
          <a:xfrm>
            <a:off x="4617720" y="2971800"/>
            <a:ext cx="2971800" cy="1417320"/>
          </a:xfrm>
          <a:prstGeom prst="roundRect">
            <a:avLst>
              <a:gd name="adj" fmla="val 12000"/>
            </a:avLst>
          </a:prstGeom>
          <a:solidFill>
            <a:srgbClr val="182130"/>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1">
                <a:solidFill>
                  <a:srgbClr val="22D3EE"/>
                </a:solidFill>
                <a:latin typeface="Segoe UI"/>
              </a:rPr>
              <a:t>DIGITAL TWIN</a:t>
            </a:r>
          </a:p>
          <a:p>
            <a:pPr algn="ctr">
              <a:spcBef>
                <a:spcPts val="200"/>
              </a:spcBef>
            </a:pPr>
            <a:r>
              <a:rPr sz="950">
                <a:solidFill>
                  <a:srgbClr val="8B98A5"/>
                </a:solidFill>
                <a:latin typeface="Segoe UI"/>
              </a:rPr>
              <a:t>single source of truth · zones, shelves, robots, workers, orders, inventory, docks, chargers · spatial graph</a:t>
            </a:r>
          </a:p>
        </p:txBody>
      </p:sp>
      <p:sp>
        <p:nvSpPr>
          <p:cNvPr id="8" name="Rounded Rectangle 7"/>
          <p:cNvSpPr/>
          <p:nvPr/>
        </p:nvSpPr>
        <p:spPr>
          <a:xfrm>
            <a:off x="822960" y="1463040"/>
            <a:ext cx="2971800" cy="1097280"/>
          </a:xfrm>
          <a:prstGeom prst="roundRect">
            <a:avLst>
              <a:gd name="adj" fmla="val 12000"/>
            </a:avLst>
          </a:prstGeom>
          <a:solidFill>
            <a:srgbClr val="11161D"/>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A78BFA"/>
                </a:solidFill>
                <a:latin typeface="Segoe UI"/>
              </a:rPr>
              <a:t>EVENT ENGINE</a:t>
            </a:r>
          </a:p>
          <a:p>
            <a:pPr algn="ctr">
              <a:spcBef>
                <a:spcPts val="200"/>
              </a:spcBef>
            </a:pPr>
            <a:r>
              <a:rPr sz="900">
                <a:solidFill>
                  <a:srgbClr val="8B98A5"/>
                </a:solidFill>
                <a:latin typeface="Segoe UI"/>
              </a:rPr>
              <a:t>every change is a typed event · idempotent store · replay · audit</a:t>
            </a:r>
          </a:p>
        </p:txBody>
      </p:sp>
      <p:cxnSp>
        <p:nvCxnSpPr>
          <p:cNvPr id="9" name="Connector 8"/>
          <p:cNvCxnSpPr/>
          <p:nvPr/>
        </p:nvCxnSpPr>
        <p:spPr>
          <a:xfrm>
            <a:off x="3606269" y="2239899"/>
            <a:ext cx="1141348" cy="1153446"/>
          </a:xfrm>
          <a:prstGeom prst="line">
            <a:avLst/>
          </a:prstGeom>
          <a:ln w="19050">
            <a:solidFill>
              <a:srgbClr val="1F2933"/>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8412480" y="1463040"/>
            <a:ext cx="2971800" cy="1097280"/>
          </a:xfrm>
          <a:prstGeom prst="roundRect">
            <a:avLst>
              <a:gd name="adj" fmla="val 12000"/>
            </a:avLst>
          </a:prstGeom>
          <a:solidFill>
            <a:srgbClr val="11161D"/>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22D3EE"/>
                </a:solidFill>
                <a:latin typeface="Segoe UI"/>
              </a:rPr>
              <a:t>SIMULATION ENGINE</a:t>
            </a:r>
          </a:p>
          <a:p>
            <a:pPr algn="ctr">
              <a:spcBef>
                <a:spcPts val="200"/>
              </a:spcBef>
            </a:pPr>
            <a:r>
              <a:rPr sz="900">
                <a:solidFill>
                  <a:srgbClr val="8B98A5"/>
                </a:solidFill>
                <a:latin typeface="Segoe UI"/>
              </a:rPr>
              <a:t>deterministic ticks · fork the present into many futures · 6k ticks/s</a:t>
            </a:r>
          </a:p>
        </p:txBody>
      </p:sp>
      <p:cxnSp>
        <p:nvCxnSpPr>
          <p:cNvPr id="11" name="Connector 10"/>
          <p:cNvCxnSpPr/>
          <p:nvPr/>
        </p:nvCxnSpPr>
        <p:spPr>
          <a:xfrm flipH="1">
            <a:off x="7459622" y="2239899"/>
            <a:ext cx="1141348" cy="1153446"/>
          </a:xfrm>
          <a:prstGeom prst="line">
            <a:avLst/>
          </a:prstGeom>
          <a:ln w="19050">
            <a:solidFill>
              <a:srgbClr val="1F2933"/>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48640" y="3108960"/>
            <a:ext cx="2971800" cy="1097280"/>
          </a:xfrm>
          <a:prstGeom prst="roundRect">
            <a:avLst>
              <a:gd name="adj" fmla="val 12000"/>
            </a:avLst>
          </a:prstGeom>
          <a:solidFill>
            <a:srgbClr val="11161D"/>
          </a:solidFill>
          <a:ln w="12700">
            <a:solidFill>
              <a:srgbClr val="60A5F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60A5FA"/>
                </a:solidFill>
                <a:latin typeface="Segoe UI"/>
              </a:rPr>
              <a:t>OPTIMIZATION</a:t>
            </a:r>
          </a:p>
          <a:p>
            <a:pPr algn="ctr">
              <a:spcBef>
                <a:spcPts val="200"/>
              </a:spcBef>
            </a:pPr>
            <a:r>
              <a:rPr sz="900">
                <a:solidFill>
                  <a:srgbClr val="8B98A5"/>
                </a:solidFill>
                <a:latin typeface="Segoe UI"/>
              </a:rPr>
              <a:t>CP-SAT assignment · order batching · deadline sequencing · routing policies</a:t>
            </a:r>
          </a:p>
        </p:txBody>
      </p:sp>
      <p:cxnSp>
        <p:nvCxnSpPr>
          <p:cNvPr id="13" name="Connector 12"/>
          <p:cNvCxnSpPr/>
          <p:nvPr/>
        </p:nvCxnSpPr>
        <p:spPr>
          <a:xfrm>
            <a:off x="3451837" y="3660784"/>
            <a:ext cx="1170478" cy="15669"/>
          </a:xfrm>
          <a:prstGeom prst="line">
            <a:avLst/>
          </a:prstGeom>
          <a:ln w="19050">
            <a:solidFill>
              <a:srgbClr val="1F2933"/>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686800" y="3108960"/>
            <a:ext cx="2971800" cy="1097280"/>
          </a:xfrm>
          <a:prstGeom prst="roundRect">
            <a:avLst>
              <a:gd name="adj" fmla="val 12000"/>
            </a:avLst>
          </a:prstGeom>
          <a:solidFill>
            <a:srgbClr val="11161D"/>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22C55E"/>
                </a:solidFill>
                <a:latin typeface="Segoe UI"/>
              </a:rPr>
              <a:t>MULTI-AGENT RUNTIME</a:t>
            </a:r>
          </a:p>
          <a:p>
            <a:pPr algn="ctr">
              <a:spcBef>
                <a:spcPts val="200"/>
              </a:spcBef>
            </a:pPr>
            <a:r>
              <a:rPr sz="900">
                <a:solidFill>
                  <a:srgbClr val="8B98A5"/>
                </a:solidFill>
                <a:latin typeface="Segoe UI"/>
              </a:rPr>
              <a:t>plan → validate → optimize → simulate → risk → approve → execute</a:t>
            </a:r>
          </a:p>
        </p:txBody>
      </p:sp>
      <p:cxnSp>
        <p:nvCxnSpPr>
          <p:cNvPr id="15" name="Connector 14"/>
          <p:cNvCxnSpPr/>
          <p:nvPr/>
        </p:nvCxnSpPr>
        <p:spPr>
          <a:xfrm flipH="1">
            <a:off x="7584924" y="3660784"/>
            <a:ext cx="1170478" cy="15669"/>
          </a:xfrm>
          <a:prstGeom prst="line">
            <a:avLst/>
          </a:prstGeom>
          <a:ln w="19050">
            <a:solidFill>
              <a:srgbClr val="1F2933"/>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822960" y="4754880"/>
            <a:ext cx="2971800" cy="1097280"/>
          </a:xfrm>
          <a:prstGeom prst="roundRect">
            <a:avLst>
              <a:gd name="adj" fmla="val 12000"/>
            </a:avLst>
          </a:prstGeom>
          <a:solidFill>
            <a:srgbClr val="11161D"/>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F59E0B"/>
                </a:solidFill>
                <a:latin typeface="Segoe UI"/>
              </a:rPr>
              <a:t>FORECASTING</a:t>
            </a:r>
          </a:p>
          <a:p>
            <a:pPr algn="ctr">
              <a:spcBef>
                <a:spcPts val="200"/>
              </a:spcBef>
            </a:pPr>
            <a:r>
              <a:rPr sz="900">
                <a:solidFill>
                  <a:srgbClr val="8B98A5"/>
                </a:solidFill>
                <a:latin typeface="Segoe UI"/>
              </a:rPr>
              <a:t>demand (Holt-Winters + prior) · battery · congestion · bottlenecks</a:t>
            </a:r>
          </a:p>
        </p:txBody>
      </p:sp>
      <p:cxnSp>
        <p:nvCxnSpPr>
          <p:cNvPr id="17" name="Connector 16"/>
          <p:cNvCxnSpPr/>
          <p:nvPr/>
        </p:nvCxnSpPr>
        <p:spPr>
          <a:xfrm flipV="1">
            <a:off x="3611988" y="3960939"/>
            <a:ext cx="1129652" cy="1119636"/>
          </a:xfrm>
          <a:prstGeom prst="line">
            <a:avLst/>
          </a:prstGeom>
          <a:ln w="19050">
            <a:solidFill>
              <a:srgbClr val="1F2933"/>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412480" y="4754880"/>
            <a:ext cx="2971800" cy="1097280"/>
          </a:xfrm>
          <a:prstGeom prst="roundRect">
            <a:avLst>
              <a:gd name="adj" fmla="val 12000"/>
            </a:avLst>
          </a:prstGeom>
          <a:solidFill>
            <a:srgbClr val="11161D"/>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A78BFA"/>
                </a:solidFill>
                <a:latin typeface="Segoe UI"/>
              </a:rPr>
              <a:t>WHAT-IF · NL CONSOLE</a:t>
            </a:r>
          </a:p>
          <a:p>
            <a:pPr algn="ctr">
              <a:spcBef>
                <a:spcPts val="200"/>
              </a:spcBef>
            </a:pPr>
            <a:r>
              <a:rPr sz="900">
                <a:solidFill>
                  <a:srgbClr val="8B98A5"/>
                </a:solidFill>
                <a:latin typeface="Segoe UI"/>
              </a:rPr>
              <a:t>scenario DSL, 12 presets, multi-strategy comparison · grounded answers</a:t>
            </a:r>
          </a:p>
        </p:txBody>
      </p:sp>
      <p:cxnSp>
        <p:nvCxnSpPr>
          <p:cNvPr id="19" name="Connector 18"/>
          <p:cNvCxnSpPr/>
          <p:nvPr/>
        </p:nvCxnSpPr>
        <p:spPr>
          <a:xfrm flipH="1" flipV="1">
            <a:off x="7465599" y="3960939"/>
            <a:ext cx="1129652" cy="1119636"/>
          </a:xfrm>
          <a:prstGeom prst="line">
            <a:avLst/>
          </a:prstGeom>
          <a:ln w="19050">
            <a:solidFill>
              <a:srgbClr val="1F2933"/>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617720" y="1417320"/>
            <a:ext cx="2971800" cy="1097280"/>
          </a:xfrm>
          <a:prstGeom prst="roundRect">
            <a:avLst>
              <a:gd name="adj" fmla="val 12000"/>
            </a:avLst>
          </a:prstGeom>
          <a:solidFill>
            <a:srgbClr val="11161D"/>
          </a:solidFill>
          <a:ln w="12700">
            <a:solidFill>
              <a:srgbClr val="E6EDF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E6EDF3"/>
                </a:solidFill>
                <a:latin typeface="Segoe UI"/>
              </a:rPr>
              <a:t>LIVE UI · API</a:t>
            </a:r>
          </a:p>
          <a:p>
            <a:pPr algn="ctr">
              <a:spcBef>
                <a:spcPts val="200"/>
              </a:spcBef>
            </a:pPr>
            <a:r>
              <a:rPr sz="900">
                <a:solidFill>
                  <a:srgbClr val="8B98A5"/>
                </a:solidFill>
                <a:latin typeface="Segoe UI"/>
              </a:rPr>
              <a:t>Next.js + Three.js 3D twin · FastAPI + WebSocket</a:t>
            </a:r>
          </a:p>
        </p:txBody>
      </p:sp>
      <p:cxnSp>
        <p:nvCxnSpPr>
          <p:cNvPr id="21" name="Connector 20"/>
          <p:cNvCxnSpPr/>
          <p:nvPr/>
        </p:nvCxnSpPr>
        <p:spPr>
          <a:xfrm>
            <a:off x="6103620" y="2532888"/>
            <a:ext cx="0" cy="434340"/>
          </a:xfrm>
          <a:prstGeom prst="line">
            <a:avLst/>
          </a:prstGeom>
          <a:ln w="19050">
            <a:solidFill>
              <a:srgbClr val="1F2933"/>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617720" y="5074920"/>
            <a:ext cx="2971800" cy="1097280"/>
          </a:xfrm>
          <a:prstGeom prst="roundRect">
            <a:avLst>
              <a:gd name="adj" fmla="val 12000"/>
            </a:avLst>
          </a:prstGeom>
          <a:solidFill>
            <a:srgbClr val="11161D"/>
          </a:solidFill>
          <a:ln w="12700">
            <a:solidFill>
              <a:srgbClr val="E6EDF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E6EDF3"/>
                </a:solidFill>
                <a:latin typeface="Segoe UI"/>
              </a:rPr>
              <a:t>PERSISTENCE · OBSERVABILITY</a:t>
            </a:r>
          </a:p>
          <a:p>
            <a:pPr algn="ctr">
              <a:spcBef>
                <a:spcPts val="200"/>
              </a:spcBef>
            </a:pPr>
            <a:r>
              <a:rPr sz="900">
                <a:solidFill>
                  <a:srgbClr val="8B98A5"/>
                </a:solidFill>
                <a:latin typeface="Segoe UI"/>
              </a:rPr>
              <a:t>PostgreSQL · Redis · Prometheus · Grafana · OpenTelemetry</a:t>
            </a:r>
          </a:p>
        </p:txBody>
      </p:sp>
      <p:cxnSp>
        <p:nvCxnSpPr>
          <p:cNvPr id="23" name="Connector 22"/>
          <p:cNvCxnSpPr/>
          <p:nvPr/>
        </p:nvCxnSpPr>
        <p:spPr>
          <a:xfrm flipV="1">
            <a:off x="6103620" y="4393692"/>
            <a:ext cx="0" cy="662939"/>
          </a:xfrm>
          <a:prstGeom prst="line">
            <a:avLst/>
          </a:prstGeom>
          <a:ln w="19050">
            <a:solidFill>
              <a:srgbClr val="1F2933"/>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D12"/>
        </a:solidFill>
        <a:effectLst/>
      </p:bgPr>
    </p:bg>
    <p:spTree>
      <p:nvGrpSpPr>
        <p:cNvPr id="1" name=""/>
        <p:cNvGrpSpPr/>
        <p:nvPr/>
      </p:nvGrpSpPr>
      <p:grpSpPr/>
      <p:sp>
        <p:nvSpPr>
          <p:cNvPr id="2" name="TextBox 1"/>
          <p:cNvSpPr txBox="1"/>
          <p:nvPr/>
        </p:nvSpPr>
        <p:spPr>
          <a:xfrm>
            <a:off x="548640" y="256032"/>
            <a:ext cx="8229600" cy="274320"/>
          </a:xfrm>
          <a:prstGeom prst="rect">
            <a:avLst/>
          </a:prstGeom>
          <a:noFill/>
        </p:spPr>
        <p:txBody>
          <a:bodyPr wrap="square" anchor="t" lIns="36576" rIns="36576" tIns="36576" bIns="36576">
            <a:spAutoFit/>
          </a:bodyPr>
          <a:lstStyle/>
          <a:p>
            <a:pPr algn="l">
              <a:lnSpc>
                <a:spcPct val="110000"/>
              </a:lnSpc>
              <a:spcAft>
                <a:spcPts val="400"/>
              </a:spcAft>
            </a:pPr>
            <a:r>
              <a:rPr sz="1050" b="1" i="0">
                <a:solidFill>
                  <a:srgbClr val="22D3EE"/>
                </a:solidFill>
                <a:latin typeface="Segoe UI"/>
              </a:rPr>
              <a:t>THE DEMO</a:t>
            </a:r>
          </a:p>
        </p:txBody>
      </p:sp>
      <p:sp>
        <p:nvSpPr>
          <p:cNvPr id="3" name="TextBox 2"/>
          <p:cNvSpPr txBox="1"/>
          <p:nvPr/>
        </p:nvSpPr>
        <p:spPr>
          <a:xfrm>
            <a:off x="548640" y="502920"/>
            <a:ext cx="10607040" cy="731520"/>
          </a:xfrm>
          <a:prstGeom prst="rect">
            <a:avLst/>
          </a:prstGeom>
          <a:noFill/>
        </p:spPr>
        <p:txBody>
          <a:bodyPr wrap="square" anchor="ctr" lIns="36576" rIns="36576" tIns="36576" bIns="36576">
            <a:spAutoFit/>
          </a:bodyPr>
          <a:lstStyle/>
          <a:p>
            <a:pPr algn="l">
              <a:lnSpc>
                <a:spcPct val="110000"/>
              </a:lnSpc>
              <a:spcAft>
                <a:spcPts val="400"/>
              </a:spcAft>
            </a:pPr>
            <a:r>
              <a:rPr sz="2400" b="1" i="0">
                <a:solidFill>
                  <a:srgbClr val="E6EDF3"/>
                </a:solidFill>
                <a:latin typeface="Segoe UI"/>
              </a:rPr>
              <a:t>One simulated morning: surge, failure, decision, recovery</a:t>
            </a:r>
          </a:p>
        </p:txBody>
      </p:sp>
      <p:sp>
        <p:nvSpPr>
          <p:cNvPr id="4" name="Rectangle 3"/>
          <p:cNvSpPr/>
          <p:nvPr/>
        </p:nvSpPr>
        <p:spPr>
          <a:xfrm>
            <a:off x="566928" y="1216152"/>
            <a:ext cx="100584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6400800" cy="274320"/>
          </a:xfrm>
          <a:prstGeom prst="rect">
            <a:avLst/>
          </a:prstGeom>
          <a:noFill/>
        </p:spPr>
        <p:txBody>
          <a:bodyPr wrap="square" anchor="t" lIns="36576" rIns="36576" tIns="36576" bIns="36576">
            <a:spAutoFit/>
          </a:bodyPr>
          <a:lstStyle/>
          <a:p>
            <a:pPr algn="l">
              <a:lnSpc>
                <a:spcPct val="110000"/>
              </a:lnSpc>
              <a:spcAft>
                <a:spcPts val="400"/>
              </a:spcAft>
            </a:pPr>
            <a:r>
              <a:rPr sz="950" b="0" i="0">
                <a:solidFill>
                  <a:srgbClr val="8B98A5"/>
                </a:solidFill>
                <a:latin typeface="Segoe UI"/>
              </a:rPr>
              <a:t>NEXUS · Autonomous Operations Intelligence</a:t>
            </a:r>
          </a:p>
        </p:txBody>
      </p:sp>
      <p:sp>
        <p:nvSpPr>
          <p:cNvPr id="6" name="TextBox 5"/>
          <p:cNvSpPr txBox="1"/>
          <p:nvPr/>
        </p:nvSpPr>
        <p:spPr>
          <a:xfrm>
            <a:off x="10607040" y="6446520"/>
            <a:ext cx="1051560" cy="274320"/>
          </a:xfrm>
          <a:prstGeom prst="rect">
            <a:avLst/>
          </a:prstGeom>
          <a:noFill/>
        </p:spPr>
        <p:txBody>
          <a:bodyPr wrap="square" anchor="t" lIns="36576" rIns="36576" tIns="36576" bIns="36576">
            <a:spAutoFit/>
          </a:bodyPr>
          <a:lstStyle/>
          <a:p>
            <a:pPr algn="r">
              <a:lnSpc>
                <a:spcPct val="110000"/>
              </a:lnSpc>
              <a:spcAft>
                <a:spcPts val="400"/>
              </a:spcAft>
            </a:pPr>
            <a:r>
              <a:rPr sz="950" b="0" i="0">
                <a:solidFill>
                  <a:srgbClr val="8B98A5"/>
                </a:solidFill>
                <a:latin typeface="Consolas"/>
              </a:rPr>
              <a:t>06</a:t>
            </a:r>
          </a:p>
        </p:txBody>
      </p:sp>
      <p:pic>
        <p:nvPicPr>
          <p:cNvPr id="7" name="Picture 6" descr="deck_demo_timeline.png"/>
          <p:cNvPicPr>
            <a:picLocks noChangeAspect="1"/>
          </p:cNvPicPr>
          <p:nvPr/>
        </p:nvPicPr>
        <p:blipFill>
          <a:blip r:embed="rId3"/>
          <a:stretch>
            <a:fillRect/>
          </a:stretch>
        </p:blipFill>
        <p:spPr>
          <a:xfrm>
            <a:off x="960120" y="1325880"/>
            <a:ext cx="10241280" cy="3957443"/>
          </a:xfrm>
          <a:prstGeom prst="rect">
            <a:avLst/>
          </a:prstGeom>
        </p:spPr>
      </p:pic>
      <p:sp>
        <p:nvSpPr>
          <p:cNvPr id="8" name="Rounded Rectangle 7"/>
          <p:cNvSpPr/>
          <p:nvPr/>
        </p:nvSpPr>
        <p:spPr>
          <a:xfrm>
            <a:off x="548640" y="5440680"/>
            <a:ext cx="2651760" cy="86868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532120"/>
            <a:ext cx="2432304" cy="477773"/>
          </a:xfrm>
          <a:prstGeom prst="rect">
            <a:avLst/>
          </a:prstGeom>
          <a:noFill/>
        </p:spPr>
        <p:txBody>
          <a:bodyPr wrap="square" anchor="ctr" lIns="36576" rIns="36576" tIns="36576" bIns="36576">
            <a:spAutoFit/>
          </a:bodyPr>
          <a:lstStyle/>
          <a:p>
            <a:pPr algn="l">
              <a:lnSpc>
                <a:spcPct val="110000"/>
              </a:lnSpc>
              <a:spcAft>
                <a:spcPts val="400"/>
              </a:spcAft>
            </a:pPr>
            <a:r>
              <a:rPr sz="2100" b="1" i="0">
                <a:solidFill>
                  <a:srgbClr val="EF4444"/>
                </a:solidFill>
                <a:latin typeface="Consolas"/>
              </a:rPr>
              <a:t>39.4%</a:t>
            </a:r>
          </a:p>
        </p:txBody>
      </p:sp>
      <p:sp>
        <p:nvSpPr>
          <p:cNvPr id="10" name="TextBox 9"/>
          <p:cNvSpPr txBox="1"/>
          <p:nvPr/>
        </p:nvSpPr>
        <p:spPr>
          <a:xfrm>
            <a:off x="658368" y="5944514"/>
            <a:ext cx="2432304" cy="347472"/>
          </a:xfrm>
          <a:prstGeom prst="rect">
            <a:avLst/>
          </a:prstGeom>
          <a:noFill/>
        </p:spPr>
        <p:txBody>
          <a:bodyPr wrap="square" anchor="t" lIns="36576" rIns="36576" tIns="36576" bIns="36576">
            <a:spAutoFit/>
          </a:bodyPr>
          <a:lstStyle/>
          <a:p>
            <a:pPr algn="l">
              <a:lnSpc>
                <a:spcPct val="105000"/>
              </a:lnSpc>
              <a:spcAft>
                <a:spcPts val="400"/>
              </a:spcAft>
            </a:pPr>
            <a:r>
              <a:rPr sz="1000" b="0" i="0">
                <a:solidFill>
                  <a:srgbClr val="8B98A5"/>
                </a:solidFill>
                <a:latin typeface="Segoe UI"/>
              </a:rPr>
              <a:t>projected breach, do nothing</a:t>
            </a:r>
          </a:p>
        </p:txBody>
      </p:sp>
      <p:sp>
        <p:nvSpPr>
          <p:cNvPr id="11" name="Rounded Rectangle 10"/>
          <p:cNvSpPr/>
          <p:nvPr/>
        </p:nvSpPr>
        <p:spPr>
          <a:xfrm>
            <a:off x="3355848" y="5440680"/>
            <a:ext cx="2651760" cy="86868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65576" y="5532120"/>
            <a:ext cx="2432304" cy="477773"/>
          </a:xfrm>
          <a:prstGeom prst="rect">
            <a:avLst/>
          </a:prstGeom>
          <a:noFill/>
        </p:spPr>
        <p:txBody>
          <a:bodyPr wrap="square" anchor="ctr" lIns="36576" rIns="36576" tIns="36576" bIns="36576">
            <a:spAutoFit/>
          </a:bodyPr>
          <a:lstStyle/>
          <a:p>
            <a:pPr algn="l">
              <a:lnSpc>
                <a:spcPct val="110000"/>
              </a:lnSpc>
              <a:spcAft>
                <a:spcPts val="400"/>
              </a:spcAft>
            </a:pPr>
            <a:r>
              <a:rPr sz="2100" b="1" i="0">
                <a:solidFill>
                  <a:srgbClr val="22C55E"/>
                </a:solidFill>
                <a:latin typeface="Consolas"/>
              </a:rPr>
              <a:t>3.1%</a:t>
            </a:r>
          </a:p>
        </p:txBody>
      </p:sp>
      <p:sp>
        <p:nvSpPr>
          <p:cNvPr id="13" name="TextBox 12"/>
          <p:cNvSpPr txBox="1"/>
          <p:nvPr/>
        </p:nvSpPr>
        <p:spPr>
          <a:xfrm>
            <a:off x="3465576" y="5944514"/>
            <a:ext cx="2432304" cy="347472"/>
          </a:xfrm>
          <a:prstGeom prst="rect">
            <a:avLst/>
          </a:prstGeom>
          <a:noFill/>
        </p:spPr>
        <p:txBody>
          <a:bodyPr wrap="square" anchor="t" lIns="36576" rIns="36576" tIns="36576" bIns="36576">
            <a:spAutoFit/>
          </a:bodyPr>
          <a:lstStyle/>
          <a:p>
            <a:pPr algn="l">
              <a:lnSpc>
                <a:spcPct val="105000"/>
              </a:lnSpc>
              <a:spcAft>
                <a:spcPts val="400"/>
              </a:spcAft>
            </a:pPr>
            <a:r>
              <a:rPr sz="1000" b="0" i="0">
                <a:solidFill>
                  <a:srgbClr val="8B98A5"/>
                </a:solidFill>
                <a:latin typeface="Segoe UI"/>
              </a:rPr>
              <a:t>simulated breach, recommended plan</a:t>
            </a:r>
          </a:p>
        </p:txBody>
      </p:sp>
      <p:sp>
        <p:nvSpPr>
          <p:cNvPr id="14" name="Rounded Rectangle 13"/>
          <p:cNvSpPr/>
          <p:nvPr/>
        </p:nvSpPr>
        <p:spPr>
          <a:xfrm>
            <a:off x="6163056" y="5440680"/>
            <a:ext cx="2651760" cy="86868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72784" y="5532120"/>
            <a:ext cx="2432304" cy="477773"/>
          </a:xfrm>
          <a:prstGeom prst="rect">
            <a:avLst/>
          </a:prstGeom>
          <a:noFill/>
        </p:spPr>
        <p:txBody>
          <a:bodyPr wrap="square" anchor="ctr" lIns="36576" rIns="36576" tIns="36576" bIns="36576">
            <a:spAutoFit/>
          </a:bodyPr>
          <a:lstStyle/>
          <a:p>
            <a:pPr algn="l">
              <a:lnSpc>
                <a:spcPct val="110000"/>
              </a:lnSpc>
              <a:spcAft>
                <a:spcPts val="400"/>
              </a:spcAft>
            </a:pPr>
            <a:r>
              <a:rPr sz="2100" b="1" i="0">
                <a:solidFill>
                  <a:srgbClr val="22D3EE"/>
                </a:solidFill>
                <a:latin typeface="Consolas"/>
              </a:rPr>
              <a:t>18.8 s</a:t>
            </a:r>
          </a:p>
        </p:txBody>
      </p:sp>
      <p:sp>
        <p:nvSpPr>
          <p:cNvPr id="16" name="TextBox 15"/>
          <p:cNvSpPr txBox="1"/>
          <p:nvPr/>
        </p:nvSpPr>
        <p:spPr>
          <a:xfrm>
            <a:off x="6272784" y="5944514"/>
            <a:ext cx="2432304" cy="347472"/>
          </a:xfrm>
          <a:prstGeom prst="rect">
            <a:avLst/>
          </a:prstGeom>
          <a:noFill/>
        </p:spPr>
        <p:txBody>
          <a:bodyPr wrap="square" anchor="t" lIns="36576" rIns="36576" tIns="36576" bIns="36576">
            <a:spAutoFit/>
          </a:bodyPr>
          <a:lstStyle/>
          <a:p>
            <a:pPr algn="l">
              <a:lnSpc>
                <a:spcPct val="105000"/>
              </a:lnSpc>
              <a:spcAft>
                <a:spcPts val="400"/>
              </a:spcAft>
            </a:pPr>
            <a:r>
              <a:rPr sz="1000" b="0" i="0">
                <a:solidFill>
                  <a:srgbClr val="8B98A5"/>
                </a:solidFill>
                <a:latin typeface="Segoe UI"/>
              </a:rPr>
              <a:t>9 plans · 21 allocations · risk-checked</a:t>
            </a:r>
          </a:p>
        </p:txBody>
      </p:sp>
      <p:sp>
        <p:nvSpPr>
          <p:cNvPr id="17" name="Rounded Rectangle 16"/>
          <p:cNvSpPr/>
          <p:nvPr/>
        </p:nvSpPr>
        <p:spPr>
          <a:xfrm>
            <a:off x="8970264" y="5440680"/>
            <a:ext cx="2651760" cy="86868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79992" y="5532120"/>
            <a:ext cx="2432304" cy="477773"/>
          </a:xfrm>
          <a:prstGeom prst="rect">
            <a:avLst/>
          </a:prstGeom>
          <a:noFill/>
        </p:spPr>
        <p:txBody>
          <a:bodyPr wrap="square" anchor="ctr" lIns="36576" rIns="36576" tIns="36576" bIns="36576">
            <a:spAutoFit/>
          </a:bodyPr>
          <a:lstStyle/>
          <a:p>
            <a:pPr algn="l">
              <a:lnSpc>
                <a:spcPct val="110000"/>
              </a:lnSpc>
              <a:spcAft>
                <a:spcPts val="400"/>
              </a:spcAft>
            </a:pPr>
            <a:r>
              <a:rPr sz="2100" b="1" i="0">
                <a:solidFill>
                  <a:srgbClr val="22C55E"/>
                </a:solidFill>
                <a:latin typeface="Consolas"/>
              </a:rPr>
              <a:t>3.1%</a:t>
            </a:r>
          </a:p>
        </p:txBody>
      </p:sp>
      <p:sp>
        <p:nvSpPr>
          <p:cNvPr id="19" name="TextBox 18"/>
          <p:cNvSpPr txBox="1"/>
          <p:nvPr/>
        </p:nvSpPr>
        <p:spPr>
          <a:xfrm>
            <a:off x="9079992" y="5944514"/>
            <a:ext cx="2432304" cy="347472"/>
          </a:xfrm>
          <a:prstGeom prst="rect">
            <a:avLst/>
          </a:prstGeom>
          <a:noFill/>
        </p:spPr>
        <p:txBody>
          <a:bodyPr wrap="square" anchor="t" lIns="36576" rIns="36576" tIns="36576" bIns="36576">
            <a:spAutoFit/>
          </a:bodyPr>
          <a:lstStyle/>
          <a:p>
            <a:pPr algn="l">
              <a:lnSpc>
                <a:spcPct val="105000"/>
              </a:lnSpc>
              <a:spcAft>
                <a:spcPts val="400"/>
              </a:spcAft>
            </a:pPr>
            <a:r>
              <a:rPr sz="1000" b="0" i="0">
                <a:solidFill>
                  <a:srgbClr val="8B98A5"/>
                </a:solidFill>
                <a:latin typeface="Segoe UI"/>
              </a:rPr>
              <a:t>realized breach since decision at 11:30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D12"/>
        </a:solidFill>
        <a:effectLst/>
      </p:bgPr>
    </p:bg>
    <p:spTree>
      <p:nvGrpSpPr>
        <p:cNvPr id="1" name=""/>
        <p:cNvGrpSpPr/>
        <p:nvPr/>
      </p:nvGrpSpPr>
      <p:grpSpPr/>
      <p:sp>
        <p:nvSpPr>
          <p:cNvPr id="2" name="TextBox 1"/>
          <p:cNvSpPr txBox="1"/>
          <p:nvPr/>
        </p:nvSpPr>
        <p:spPr>
          <a:xfrm>
            <a:off x="548640" y="256032"/>
            <a:ext cx="8229600" cy="274320"/>
          </a:xfrm>
          <a:prstGeom prst="rect">
            <a:avLst/>
          </a:prstGeom>
          <a:noFill/>
        </p:spPr>
        <p:txBody>
          <a:bodyPr wrap="square" anchor="t" lIns="36576" rIns="36576" tIns="36576" bIns="36576">
            <a:spAutoFit/>
          </a:bodyPr>
          <a:lstStyle/>
          <a:p>
            <a:pPr algn="l">
              <a:lnSpc>
                <a:spcPct val="110000"/>
              </a:lnSpc>
              <a:spcAft>
                <a:spcPts val="400"/>
              </a:spcAft>
            </a:pPr>
            <a:r>
              <a:rPr sz="1050" b="1" i="0">
                <a:solidFill>
                  <a:srgbClr val="22D3EE"/>
                </a:solidFill>
                <a:latin typeface="Segoe UI"/>
              </a:rPr>
              <a:t>THE DECISION</a:t>
            </a:r>
          </a:p>
        </p:txBody>
      </p:sp>
      <p:sp>
        <p:nvSpPr>
          <p:cNvPr id="3" name="TextBox 2"/>
          <p:cNvSpPr txBox="1"/>
          <p:nvPr/>
        </p:nvSpPr>
        <p:spPr>
          <a:xfrm>
            <a:off x="548640" y="502920"/>
            <a:ext cx="10607040" cy="731520"/>
          </a:xfrm>
          <a:prstGeom prst="rect">
            <a:avLst/>
          </a:prstGeom>
          <a:noFill/>
        </p:spPr>
        <p:txBody>
          <a:bodyPr wrap="square" anchor="ctr" lIns="36576" rIns="36576" tIns="36576" bIns="36576">
            <a:spAutoFit/>
          </a:bodyPr>
          <a:lstStyle/>
          <a:p>
            <a:pPr algn="l">
              <a:lnSpc>
                <a:spcPct val="110000"/>
              </a:lnSpc>
              <a:spcAft>
                <a:spcPts val="400"/>
              </a:spcAft>
            </a:pPr>
            <a:r>
              <a:rPr sz="2800" b="1" i="0">
                <a:solidFill>
                  <a:srgbClr val="E6EDF3"/>
                </a:solidFill>
                <a:latin typeface="Segoe UI"/>
              </a:rPr>
              <a:t>Nine candidates, one horizon, one recommendation</a:t>
            </a:r>
          </a:p>
        </p:txBody>
      </p:sp>
      <p:sp>
        <p:nvSpPr>
          <p:cNvPr id="4" name="Rectangle 3"/>
          <p:cNvSpPr/>
          <p:nvPr/>
        </p:nvSpPr>
        <p:spPr>
          <a:xfrm>
            <a:off x="566928" y="1216152"/>
            <a:ext cx="100584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6400800" cy="274320"/>
          </a:xfrm>
          <a:prstGeom prst="rect">
            <a:avLst/>
          </a:prstGeom>
          <a:noFill/>
        </p:spPr>
        <p:txBody>
          <a:bodyPr wrap="square" anchor="t" lIns="36576" rIns="36576" tIns="36576" bIns="36576">
            <a:spAutoFit/>
          </a:bodyPr>
          <a:lstStyle/>
          <a:p>
            <a:pPr algn="l">
              <a:lnSpc>
                <a:spcPct val="110000"/>
              </a:lnSpc>
              <a:spcAft>
                <a:spcPts val="400"/>
              </a:spcAft>
            </a:pPr>
            <a:r>
              <a:rPr sz="950" b="0" i="0">
                <a:solidFill>
                  <a:srgbClr val="8B98A5"/>
                </a:solidFill>
                <a:latin typeface="Segoe UI"/>
              </a:rPr>
              <a:t>NEXUS · Autonomous Operations Intelligence</a:t>
            </a:r>
          </a:p>
        </p:txBody>
      </p:sp>
      <p:sp>
        <p:nvSpPr>
          <p:cNvPr id="6" name="TextBox 5"/>
          <p:cNvSpPr txBox="1"/>
          <p:nvPr/>
        </p:nvSpPr>
        <p:spPr>
          <a:xfrm>
            <a:off x="10607040" y="6446520"/>
            <a:ext cx="1051560" cy="274320"/>
          </a:xfrm>
          <a:prstGeom prst="rect">
            <a:avLst/>
          </a:prstGeom>
          <a:noFill/>
        </p:spPr>
        <p:txBody>
          <a:bodyPr wrap="square" anchor="t" lIns="36576" rIns="36576" tIns="36576" bIns="36576">
            <a:spAutoFit/>
          </a:bodyPr>
          <a:lstStyle/>
          <a:p>
            <a:pPr algn="r">
              <a:lnSpc>
                <a:spcPct val="110000"/>
              </a:lnSpc>
              <a:spcAft>
                <a:spcPts val="400"/>
              </a:spcAft>
            </a:pPr>
            <a:r>
              <a:rPr sz="950" b="0" i="0">
                <a:solidFill>
                  <a:srgbClr val="8B98A5"/>
                </a:solidFill>
                <a:latin typeface="Consolas"/>
              </a:rPr>
              <a:t>07</a:t>
            </a:r>
          </a:p>
        </p:txBody>
      </p:sp>
      <p:pic>
        <p:nvPicPr>
          <p:cNvPr id="7" name="Picture 6" descr="deck_candidates.png"/>
          <p:cNvPicPr>
            <a:picLocks noChangeAspect="1"/>
          </p:cNvPicPr>
          <p:nvPr/>
        </p:nvPicPr>
        <p:blipFill>
          <a:blip r:embed="rId3"/>
          <a:stretch>
            <a:fillRect/>
          </a:stretch>
        </p:blipFill>
        <p:spPr>
          <a:xfrm>
            <a:off x="548640" y="1371600"/>
            <a:ext cx="6675120" cy="3655423"/>
          </a:xfrm>
          <a:prstGeom prst="rect">
            <a:avLst/>
          </a:prstGeom>
        </p:spPr>
      </p:pic>
      <p:sp>
        <p:nvSpPr>
          <p:cNvPr id="8" name="Rounded Rectangle 7"/>
          <p:cNvSpPr/>
          <p:nvPr/>
        </p:nvSpPr>
        <p:spPr>
          <a:xfrm>
            <a:off x="7452360" y="1371600"/>
            <a:ext cx="4206240" cy="411480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0376" y="1463040"/>
            <a:ext cx="3950207" cy="274320"/>
          </a:xfrm>
          <a:prstGeom prst="rect">
            <a:avLst/>
          </a:prstGeom>
          <a:noFill/>
        </p:spPr>
        <p:txBody>
          <a:bodyPr wrap="square" anchor="t" lIns="36576" rIns="36576" tIns="36576" bIns="36576">
            <a:spAutoFit/>
          </a:bodyPr>
          <a:lstStyle/>
          <a:p>
            <a:pPr algn="l">
              <a:lnSpc>
                <a:spcPct val="110000"/>
              </a:lnSpc>
              <a:spcAft>
                <a:spcPts val="400"/>
              </a:spcAft>
            </a:pPr>
            <a:r>
              <a:rPr sz="950" b="1" i="0">
                <a:solidFill>
                  <a:srgbClr val="22D3EE"/>
                </a:solidFill>
                <a:latin typeface="Segoe UI"/>
              </a:rPr>
              <a:t>HOW IT WAS DECIDED</a:t>
            </a:r>
          </a:p>
        </p:txBody>
      </p:sp>
      <p:sp>
        <p:nvSpPr>
          <p:cNvPr id="10" name="TextBox 9"/>
          <p:cNvSpPr txBox="1"/>
          <p:nvPr/>
        </p:nvSpPr>
        <p:spPr>
          <a:xfrm>
            <a:off x="7543800" y="1783080"/>
            <a:ext cx="4023360" cy="3749039"/>
          </a:xfrm>
          <a:prstGeom prst="rect">
            <a:avLst/>
          </a:prstGeom>
          <a:noFill/>
        </p:spPr>
        <p:txBody>
          <a:bodyPr wrap="square" lIns="45720" rIns="45720">
            <a:spAutoFit/>
          </a:bodyPr>
          <a:lstStyle/>
          <a:p>
            <a:pPr>
              <a:lnSpc>
                <a:spcPct val="112000"/>
              </a:lnSpc>
              <a:spcAft>
                <a:spcPts val="500"/>
              </a:spcAft>
            </a:pPr>
            <a:r>
              <a:rPr sz="1100" b="1">
                <a:solidFill>
                  <a:srgbClr val="22D3EE"/>
                </a:solidFill>
                <a:latin typeface="Segoe UI"/>
              </a:rPr>
              <a:t>•  </a:t>
            </a:r>
            <a:r>
              <a:rPr b="1" sz="1100">
                <a:solidFill>
                  <a:srgbClr val="E6EDF3"/>
                </a:solidFill>
                <a:latin typeface="Segoe UI"/>
              </a:rPr>
              <a:t>Playbooks + (optional) LLM </a:t>
            </a:r>
            <a:r>
              <a:rPr sz="1100">
                <a:solidFill>
                  <a:srgbClr val="E6EDF3"/>
                </a:solidFill>
                <a:latin typeface="Segoe UI"/>
              </a:rPr>
              <a:t>propose 9 candidates; every action is from a closed vocabulary of 16 types.</a:t>
            </a:r>
          </a:p>
          <a:p>
            <a:pPr>
              <a:lnSpc>
                <a:spcPct val="112000"/>
              </a:lnSpc>
              <a:spcAft>
                <a:spcPts val="500"/>
              </a:spcAft>
            </a:pPr>
            <a:r>
              <a:rPr sz="1100" b="1">
                <a:solidFill>
                  <a:srgbClr val="22D3EE"/>
                </a:solidFill>
                <a:latin typeface="Segoe UI"/>
              </a:rPr>
              <a:t>•  </a:t>
            </a:r>
            <a:r>
              <a:rPr b="1" sz="1100">
                <a:solidFill>
                  <a:srgbClr val="E6EDF3"/>
                </a:solidFill>
                <a:latin typeface="Segoe UI"/>
              </a:rPr>
              <a:t>Constraint validation </a:t>
            </a:r>
            <a:r>
              <a:rPr sz="1100">
                <a:solidFill>
                  <a:srgbClr val="E6EDF3"/>
                </a:solidFill>
                <a:latin typeface="Segoe UI"/>
              </a:rPr>
              <a:t>drops or clamps anything unsafe (fleet limits, zones, docks).</a:t>
            </a:r>
          </a:p>
          <a:p>
            <a:pPr>
              <a:lnSpc>
                <a:spcPct val="112000"/>
              </a:lnSpc>
              <a:spcAft>
                <a:spcPts val="500"/>
              </a:spcAft>
            </a:pPr>
            <a:r>
              <a:rPr sz="1100" b="1">
                <a:solidFill>
                  <a:srgbClr val="22D3EE"/>
                </a:solidFill>
                <a:latin typeface="Segoe UI"/>
              </a:rPr>
              <a:t>•  </a:t>
            </a:r>
            <a:r>
              <a:rPr b="1" sz="1100">
                <a:solidFill>
                  <a:srgbClr val="E6EDF3"/>
                </a:solidFill>
                <a:latin typeface="Segoe UI"/>
              </a:rPr>
              <a:t>Forked-world simulation </a:t>
            </a:r>
            <a:r>
              <a:rPr sz="1100">
                <a:solidFill>
                  <a:srgbClr val="E6EDF3"/>
                </a:solidFill>
                <a:latin typeface="Segoe UI"/>
              </a:rPr>
              <a:t>60 min each, in a process pool, with the same engine as the live twin.</a:t>
            </a:r>
          </a:p>
          <a:p>
            <a:pPr>
              <a:lnSpc>
                <a:spcPct val="112000"/>
              </a:lnSpc>
              <a:spcAft>
                <a:spcPts val="500"/>
              </a:spcAft>
            </a:pPr>
            <a:r>
              <a:rPr sz="1100" b="1">
                <a:solidFill>
                  <a:srgbClr val="22D3EE"/>
                </a:solidFill>
                <a:latin typeface="Segoe UI"/>
              </a:rPr>
              <a:t>•  </a:t>
            </a:r>
            <a:r>
              <a:rPr b="1" sz="1100">
                <a:solidFill>
                  <a:srgbClr val="E6EDF3"/>
                </a:solidFill>
                <a:latin typeface="Segoe UI"/>
              </a:rPr>
              <a:t>Multi-objective score </a:t>
            </a:r>
            <a:r>
              <a:rPr sz="1100">
                <a:solidFill>
                  <a:srgbClr val="E6EDF3"/>
                </a:solidFill>
                <a:latin typeface="Segoe UI"/>
              </a:rPr>
              <a:t>ranks plans (lateness, delay, tail, congestion, distance, energy).</a:t>
            </a:r>
          </a:p>
          <a:p>
            <a:pPr>
              <a:lnSpc>
                <a:spcPct val="112000"/>
              </a:lnSpc>
              <a:spcAft>
                <a:spcPts val="500"/>
              </a:spcAft>
            </a:pPr>
            <a:r>
              <a:rPr sz="1100" b="1">
                <a:solidFill>
                  <a:srgbClr val="22D3EE"/>
                </a:solidFill>
                <a:latin typeface="Segoe UI"/>
              </a:rPr>
              <a:t>•  </a:t>
            </a:r>
            <a:r>
              <a:rPr b="1" sz="1100">
                <a:solidFill>
                  <a:srgbClr val="E6EDF3"/>
                </a:solidFill>
                <a:latin typeface="Segoe UI"/>
              </a:rPr>
              <a:t>Risk agent </a:t>
            </a:r>
            <a:r>
              <a:rPr sz="1100">
                <a:solidFill>
                  <a:srgbClr val="E6EDF3"/>
                </a:solidFill>
                <a:latin typeface="Segoe UI"/>
              </a:rPr>
              <a:t>re-simulates the winner under 2 extra seeds: σ 0.2% → LOW; no deadlocks, no depletion.</a:t>
            </a:r>
          </a:p>
          <a:p>
            <a:pPr>
              <a:lnSpc>
                <a:spcPct val="112000"/>
              </a:lnSpc>
              <a:spcAft>
                <a:spcPts val="500"/>
              </a:spcAft>
            </a:pPr>
            <a:r>
              <a:rPr sz="1100" b="1">
                <a:solidFill>
                  <a:srgbClr val="22D3EE"/>
                </a:solidFill>
                <a:latin typeface="Segoe UI"/>
              </a:rPr>
              <a:t>•  </a:t>
            </a:r>
            <a:r>
              <a:rPr b="1" sz="1100">
                <a:solidFill>
                  <a:srgbClr val="E6EDF3"/>
                </a:solidFill>
                <a:latin typeface="Segoe UI"/>
              </a:rPr>
              <a:t>Approval policy </a:t>
            </a:r>
            <a:r>
              <a:rPr sz="1100">
                <a:solidFill>
                  <a:srgbClr val="E6EDF3"/>
                </a:solidFill>
                <a:latin typeface="Segoe UI"/>
              </a:rPr>
              <a:t>LOW risk and ≥ 2 pp gain → auto-approved; otherwise a human decides.</a:t>
            </a:r>
          </a:p>
        </p:txBody>
      </p:sp>
      <p:sp>
        <p:nvSpPr>
          <p:cNvPr id="11" name="Rounded Rectangle 10"/>
          <p:cNvSpPr/>
          <p:nvPr/>
        </p:nvSpPr>
        <p:spPr>
          <a:xfrm>
            <a:off x="548640" y="5532120"/>
            <a:ext cx="2148840" cy="77724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623559"/>
            <a:ext cx="1929384" cy="427482"/>
          </a:xfrm>
          <a:prstGeom prst="rect">
            <a:avLst/>
          </a:prstGeom>
          <a:noFill/>
        </p:spPr>
        <p:txBody>
          <a:bodyPr wrap="square" anchor="ctr" lIns="36576" rIns="36576" tIns="36576" bIns="36576">
            <a:spAutoFit/>
          </a:bodyPr>
          <a:lstStyle/>
          <a:p>
            <a:pPr algn="l">
              <a:lnSpc>
                <a:spcPct val="110000"/>
              </a:lnSpc>
              <a:spcAft>
                <a:spcPts val="400"/>
              </a:spcAft>
            </a:pPr>
            <a:r>
              <a:rPr sz="1700" b="1" i="0">
                <a:solidFill>
                  <a:srgbClr val="22C55E"/>
                </a:solidFill>
                <a:latin typeface="Consolas"/>
              </a:rPr>
              <a:t>39.4% → 3.1%</a:t>
            </a:r>
          </a:p>
        </p:txBody>
      </p:sp>
      <p:sp>
        <p:nvSpPr>
          <p:cNvPr id="13" name="TextBox 12"/>
          <p:cNvSpPr txBox="1"/>
          <p:nvPr/>
        </p:nvSpPr>
        <p:spPr>
          <a:xfrm>
            <a:off x="658368" y="5982919"/>
            <a:ext cx="1929384" cy="310896"/>
          </a:xfrm>
          <a:prstGeom prst="rect">
            <a:avLst/>
          </a:prstGeom>
          <a:noFill/>
        </p:spPr>
        <p:txBody>
          <a:bodyPr wrap="square" anchor="t" lIns="36576" rIns="36576" tIns="36576" bIns="36576">
            <a:spAutoFit/>
          </a:bodyPr>
          <a:lstStyle/>
          <a:p>
            <a:pPr algn="l">
              <a:lnSpc>
                <a:spcPct val="105000"/>
              </a:lnSpc>
              <a:spcAft>
                <a:spcPts val="400"/>
              </a:spcAft>
            </a:pPr>
            <a:r>
              <a:rPr sz="1000" b="0" i="0">
                <a:solidFill>
                  <a:srgbClr val="8B98A5"/>
                </a:solidFill>
                <a:latin typeface="Segoe UI"/>
              </a:rPr>
              <a:t>SLA breach</a:t>
            </a:r>
          </a:p>
        </p:txBody>
      </p:sp>
      <p:sp>
        <p:nvSpPr>
          <p:cNvPr id="14" name="Rounded Rectangle 13"/>
          <p:cNvSpPr/>
          <p:nvPr/>
        </p:nvSpPr>
        <p:spPr>
          <a:xfrm>
            <a:off x="2834640" y="5532120"/>
            <a:ext cx="2148840" cy="77724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44368" y="5623559"/>
            <a:ext cx="1929384" cy="427482"/>
          </a:xfrm>
          <a:prstGeom prst="rect">
            <a:avLst/>
          </a:prstGeom>
          <a:noFill/>
        </p:spPr>
        <p:txBody>
          <a:bodyPr wrap="square" anchor="ctr" lIns="36576" rIns="36576" tIns="36576" bIns="36576">
            <a:spAutoFit/>
          </a:bodyPr>
          <a:lstStyle/>
          <a:p>
            <a:pPr algn="l">
              <a:lnSpc>
                <a:spcPct val="110000"/>
              </a:lnSpc>
              <a:spcAft>
                <a:spcPts val="400"/>
              </a:spcAft>
            </a:pPr>
            <a:r>
              <a:rPr sz="1700" b="1" i="0">
                <a:solidFill>
                  <a:srgbClr val="22D3EE"/>
                </a:solidFill>
                <a:latin typeface="Consolas"/>
              </a:rPr>
              <a:t>9.2 → 4.5 min</a:t>
            </a:r>
          </a:p>
        </p:txBody>
      </p:sp>
      <p:sp>
        <p:nvSpPr>
          <p:cNvPr id="16" name="TextBox 15"/>
          <p:cNvSpPr txBox="1"/>
          <p:nvPr/>
        </p:nvSpPr>
        <p:spPr>
          <a:xfrm>
            <a:off x="2944368" y="5982919"/>
            <a:ext cx="1929384" cy="310896"/>
          </a:xfrm>
          <a:prstGeom prst="rect">
            <a:avLst/>
          </a:prstGeom>
          <a:noFill/>
        </p:spPr>
        <p:txBody>
          <a:bodyPr wrap="square" anchor="t" lIns="36576" rIns="36576" tIns="36576" bIns="36576">
            <a:spAutoFit/>
          </a:bodyPr>
          <a:lstStyle/>
          <a:p>
            <a:pPr algn="l">
              <a:lnSpc>
                <a:spcPct val="105000"/>
              </a:lnSpc>
              <a:spcAft>
                <a:spcPts val="400"/>
              </a:spcAft>
            </a:pPr>
            <a:r>
              <a:rPr sz="1000" b="0" i="0">
                <a:solidFill>
                  <a:srgbClr val="8B98A5"/>
                </a:solidFill>
                <a:latin typeface="Segoe UI"/>
              </a:rPr>
              <a:t>avg fulfilment</a:t>
            </a:r>
          </a:p>
        </p:txBody>
      </p:sp>
      <p:sp>
        <p:nvSpPr>
          <p:cNvPr id="17" name="Rounded Rectangle 16"/>
          <p:cNvSpPr/>
          <p:nvPr/>
        </p:nvSpPr>
        <p:spPr>
          <a:xfrm>
            <a:off x="5120640" y="5532120"/>
            <a:ext cx="2148840" cy="77724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30368" y="5623559"/>
            <a:ext cx="1929384" cy="427482"/>
          </a:xfrm>
          <a:prstGeom prst="rect">
            <a:avLst/>
          </a:prstGeom>
          <a:noFill/>
        </p:spPr>
        <p:txBody>
          <a:bodyPr wrap="square" anchor="ctr" lIns="36576" rIns="36576" tIns="36576" bIns="36576">
            <a:spAutoFit/>
          </a:bodyPr>
          <a:lstStyle/>
          <a:p>
            <a:pPr algn="l">
              <a:lnSpc>
                <a:spcPct val="110000"/>
              </a:lnSpc>
              <a:spcAft>
                <a:spcPts val="400"/>
              </a:spcAft>
            </a:pPr>
            <a:r>
              <a:rPr sz="1700" b="1" i="0">
                <a:solidFill>
                  <a:srgbClr val="22D3EE"/>
                </a:solidFill>
                <a:latin typeface="Consolas"/>
              </a:rPr>
              <a:t>438 → 546/h</a:t>
            </a:r>
          </a:p>
        </p:txBody>
      </p:sp>
      <p:sp>
        <p:nvSpPr>
          <p:cNvPr id="19" name="TextBox 18"/>
          <p:cNvSpPr txBox="1"/>
          <p:nvPr/>
        </p:nvSpPr>
        <p:spPr>
          <a:xfrm>
            <a:off x="5230368" y="5982919"/>
            <a:ext cx="1929384" cy="310896"/>
          </a:xfrm>
          <a:prstGeom prst="rect">
            <a:avLst/>
          </a:prstGeom>
          <a:noFill/>
        </p:spPr>
        <p:txBody>
          <a:bodyPr wrap="square" anchor="t" lIns="36576" rIns="36576" tIns="36576" bIns="36576">
            <a:spAutoFit/>
          </a:bodyPr>
          <a:lstStyle/>
          <a:p>
            <a:pPr algn="l">
              <a:lnSpc>
                <a:spcPct val="105000"/>
              </a:lnSpc>
              <a:spcAft>
                <a:spcPts val="400"/>
              </a:spcAft>
            </a:pPr>
            <a:r>
              <a:rPr sz="1000" b="0" i="0">
                <a:solidFill>
                  <a:srgbClr val="8B98A5"/>
                </a:solidFill>
                <a:latin typeface="Segoe UI"/>
              </a:rPr>
              <a:t>throughput</a:t>
            </a:r>
          </a:p>
        </p:txBody>
      </p:sp>
      <p:sp>
        <p:nvSpPr>
          <p:cNvPr id="20" name="TextBox 19"/>
          <p:cNvSpPr txBox="1"/>
          <p:nvPr/>
        </p:nvSpPr>
        <p:spPr>
          <a:xfrm>
            <a:off x="7452360" y="5577840"/>
            <a:ext cx="4206240" cy="731520"/>
          </a:xfrm>
          <a:prstGeom prst="rect">
            <a:avLst/>
          </a:prstGeom>
          <a:noFill/>
        </p:spPr>
        <p:txBody>
          <a:bodyPr wrap="square" anchor="t" lIns="36576" rIns="36576" tIns="36576" bIns="36576">
            <a:spAutoFit/>
          </a:bodyPr>
          <a:lstStyle/>
          <a:p>
            <a:pPr algn="l">
              <a:lnSpc>
                <a:spcPct val="110000"/>
              </a:lnSpc>
              <a:spcAft>
                <a:spcPts val="400"/>
              </a:spcAft>
            </a:pPr>
            <a:r>
              <a:rPr sz="1000" b="0" i="0">
                <a:solidFill>
                  <a:srgbClr val="8B98A5"/>
                </a:solidFill>
                <a:latin typeface="Segoe UI"/>
              </a:rPr>
              <a:t>Timings: planning 1 ms · simulation 12.1 s · risk 7.2 s · total 18.8 s (4 worker processes).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D12"/>
        </a:solidFill>
        <a:effectLst/>
      </p:bgPr>
    </p:bg>
    <p:spTree>
      <p:nvGrpSpPr>
        <p:cNvPr id="1" name=""/>
        <p:cNvGrpSpPr/>
        <p:nvPr/>
      </p:nvGrpSpPr>
      <p:grpSpPr/>
      <p:sp>
        <p:nvSpPr>
          <p:cNvPr id="2" name="TextBox 1"/>
          <p:cNvSpPr txBox="1"/>
          <p:nvPr/>
        </p:nvSpPr>
        <p:spPr>
          <a:xfrm>
            <a:off x="548640" y="256032"/>
            <a:ext cx="8229600" cy="274320"/>
          </a:xfrm>
          <a:prstGeom prst="rect">
            <a:avLst/>
          </a:prstGeom>
          <a:noFill/>
        </p:spPr>
        <p:txBody>
          <a:bodyPr wrap="square" anchor="t" lIns="36576" rIns="36576" tIns="36576" bIns="36576">
            <a:spAutoFit/>
          </a:bodyPr>
          <a:lstStyle/>
          <a:p>
            <a:pPr algn="l">
              <a:lnSpc>
                <a:spcPct val="110000"/>
              </a:lnSpc>
              <a:spcAft>
                <a:spcPts val="400"/>
              </a:spcAft>
            </a:pPr>
            <a:r>
              <a:rPr sz="1050" b="1" i="0">
                <a:solidFill>
                  <a:srgbClr val="22D3EE"/>
                </a:solidFill>
                <a:latin typeface="Segoe UI"/>
              </a:rPr>
              <a:t>ARCHITECTURE</a:t>
            </a:r>
          </a:p>
        </p:txBody>
      </p:sp>
      <p:sp>
        <p:nvSpPr>
          <p:cNvPr id="3" name="TextBox 2"/>
          <p:cNvSpPr txBox="1"/>
          <p:nvPr/>
        </p:nvSpPr>
        <p:spPr>
          <a:xfrm>
            <a:off x="548640" y="502920"/>
            <a:ext cx="10607040" cy="731520"/>
          </a:xfrm>
          <a:prstGeom prst="rect">
            <a:avLst/>
          </a:prstGeom>
          <a:noFill/>
        </p:spPr>
        <p:txBody>
          <a:bodyPr wrap="square" anchor="ctr" lIns="36576" rIns="36576" tIns="36576" bIns="36576">
            <a:spAutoFit/>
          </a:bodyPr>
          <a:lstStyle/>
          <a:p>
            <a:pPr algn="l">
              <a:lnSpc>
                <a:spcPct val="110000"/>
              </a:lnSpc>
              <a:spcAft>
                <a:spcPts val="400"/>
              </a:spcAft>
            </a:pPr>
            <a:r>
              <a:rPr sz="2800" b="1" i="0">
                <a:solidFill>
                  <a:srgbClr val="E6EDF3"/>
                </a:solidFill>
                <a:latin typeface="Segoe UI"/>
              </a:rPr>
              <a:t>One engine, three planes: twin, agents, events</a:t>
            </a:r>
          </a:p>
        </p:txBody>
      </p:sp>
      <p:sp>
        <p:nvSpPr>
          <p:cNvPr id="4" name="Rectangle 3"/>
          <p:cNvSpPr/>
          <p:nvPr/>
        </p:nvSpPr>
        <p:spPr>
          <a:xfrm>
            <a:off x="566928" y="1216152"/>
            <a:ext cx="100584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6400800" cy="274320"/>
          </a:xfrm>
          <a:prstGeom prst="rect">
            <a:avLst/>
          </a:prstGeom>
          <a:noFill/>
        </p:spPr>
        <p:txBody>
          <a:bodyPr wrap="square" anchor="t" lIns="36576" rIns="36576" tIns="36576" bIns="36576">
            <a:spAutoFit/>
          </a:bodyPr>
          <a:lstStyle/>
          <a:p>
            <a:pPr algn="l">
              <a:lnSpc>
                <a:spcPct val="110000"/>
              </a:lnSpc>
              <a:spcAft>
                <a:spcPts val="400"/>
              </a:spcAft>
            </a:pPr>
            <a:r>
              <a:rPr sz="950" b="0" i="0">
                <a:solidFill>
                  <a:srgbClr val="8B98A5"/>
                </a:solidFill>
                <a:latin typeface="Segoe UI"/>
              </a:rPr>
              <a:t>NEXUS · Autonomous Operations Intelligence</a:t>
            </a:r>
          </a:p>
        </p:txBody>
      </p:sp>
      <p:sp>
        <p:nvSpPr>
          <p:cNvPr id="6" name="TextBox 5"/>
          <p:cNvSpPr txBox="1"/>
          <p:nvPr/>
        </p:nvSpPr>
        <p:spPr>
          <a:xfrm>
            <a:off x="10607040" y="6446520"/>
            <a:ext cx="1051560" cy="274320"/>
          </a:xfrm>
          <a:prstGeom prst="rect">
            <a:avLst/>
          </a:prstGeom>
          <a:noFill/>
        </p:spPr>
        <p:txBody>
          <a:bodyPr wrap="square" anchor="t" lIns="36576" rIns="36576" tIns="36576" bIns="36576">
            <a:spAutoFit/>
          </a:bodyPr>
          <a:lstStyle/>
          <a:p>
            <a:pPr algn="r">
              <a:lnSpc>
                <a:spcPct val="110000"/>
              </a:lnSpc>
              <a:spcAft>
                <a:spcPts val="400"/>
              </a:spcAft>
            </a:pPr>
            <a:r>
              <a:rPr sz="950" b="0" i="0">
                <a:solidFill>
                  <a:srgbClr val="8B98A5"/>
                </a:solidFill>
                <a:latin typeface="Consolas"/>
              </a:rPr>
              <a:t>08</a:t>
            </a:r>
          </a:p>
        </p:txBody>
      </p:sp>
      <p:sp>
        <p:nvSpPr>
          <p:cNvPr id="7" name="Rounded Rectangle 6"/>
          <p:cNvSpPr/>
          <p:nvPr/>
        </p:nvSpPr>
        <p:spPr>
          <a:xfrm>
            <a:off x="3383280" y="1371600"/>
            <a:ext cx="5486400" cy="658368"/>
          </a:xfrm>
          <a:prstGeom prst="roundRect">
            <a:avLst>
              <a:gd name="adj" fmla="val 12000"/>
            </a:avLst>
          </a:prstGeom>
          <a:solidFill>
            <a:srgbClr val="11161D"/>
          </a:solidFill>
          <a:ln w="12700">
            <a:solidFill>
              <a:srgbClr val="E6EDF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E6EDF3"/>
                </a:solidFill>
                <a:latin typeface="Segoe UI"/>
              </a:rPr>
              <a:t>NEXUS UI</a:t>
            </a:r>
          </a:p>
          <a:p>
            <a:pPr algn="ctr">
              <a:spcBef>
                <a:spcPts val="200"/>
              </a:spcBef>
            </a:pPr>
            <a:r>
              <a:rPr sz="900">
                <a:solidFill>
                  <a:srgbClr val="8B98A5"/>
                </a:solidFill>
                <a:latin typeface="Segoe UI"/>
              </a:rPr>
              <a:t>Next.js 15 · Three.js 3D/2D twin · decisions · what-if lab · forecast · console · timeline · benchmarks</a:t>
            </a:r>
          </a:p>
        </p:txBody>
      </p:sp>
      <p:sp>
        <p:nvSpPr>
          <p:cNvPr id="8" name="Rounded Rectangle 7"/>
          <p:cNvSpPr/>
          <p:nvPr/>
        </p:nvSpPr>
        <p:spPr>
          <a:xfrm>
            <a:off x="3383280" y="2286000"/>
            <a:ext cx="5486400" cy="603504"/>
          </a:xfrm>
          <a:prstGeom prst="roundRect">
            <a:avLst>
              <a:gd name="adj" fmla="val 12000"/>
            </a:avLst>
          </a:prstGeom>
          <a:solidFill>
            <a:srgbClr val="11161D"/>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22D3EE"/>
                </a:solidFill>
                <a:latin typeface="Segoe UI"/>
              </a:rPr>
              <a:t>API LAYER</a:t>
            </a:r>
          </a:p>
          <a:p>
            <a:pPr algn="ctr">
              <a:spcBef>
                <a:spcPts val="200"/>
              </a:spcBef>
            </a:pPr>
            <a:r>
              <a:rPr sz="900">
                <a:solidFill>
                  <a:srgbClr val="8B98A5"/>
                </a:solidFill>
                <a:latin typeface="Segoe UI"/>
              </a:rPr>
              <a:t>FastAPI · pydantic contract · REST · WebSocket /ws/live · Prometheus /metrics</a:t>
            </a:r>
          </a:p>
        </p:txBody>
      </p:sp>
      <p:cxnSp>
        <p:nvCxnSpPr>
          <p:cNvPr id="9" name="Connector 8"/>
          <p:cNvCxnSpPr/>
          <p:nvPr/>
        </p:nvCxnSpPr>
        <p:spPr>
          <a:xfrm>
            <a:off x="6126480" y="2029968"/>
            <a:ext cx="0" cy="256032"/>
          </a:xfrm>
          <a:prstGeom prst="line">
            <a:avLst/>
          </a:prstGeom>
          <a:ln w="15875">
            <a:solidFill>
              <a:srgbClr val="8B98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48640" y="3200400"/>
            <a:ext cx="3520440" cy="896112"/>
          </a:xfrm>
          <a:prstGeom prst="roundRect">
            <a:avLst>
              <a:gd name="adj" fmla="val 12000"/>
            </a:avLst>
          </a:prstGeom>
          <a:solidFill>
            <a:srgbClr val="11161D"/>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A78BFA"/>
                </a:solidFill>
                <a:latin typeface="Segoe UI"/>
              </a:rPr>
              <a:t>TWIN ENGINE</a:t>
            </a:r>
          </a:p>
          <a:p>
            <a:pPr algn="ctr">
              <a:spcBef>
                <a:spcPts val="200"/>
              </a:spcBef>
            </a:pPr>
            <a:r>
              <a:rPr sz="900">
                <a:solidFill>
                  <a:srgbClr val="8B98A5"/>
                </a:solidFill>
                <a:latin typeface="Segoe UI"/>
              </a:rPr>
              <a:t>WorldState · occupancy grid · semantic spatial graph · snapshots · SHA-256 digest · fork</a:t>
            </a:r>
          </a:p>
        </p:txBody>
      </p:sp>
      <p:cxnSp>
        <p:nvCxnSpPr>
          <p:cNvPr id="11" name="Connector 10"/>
          <p:cNvCxnSpPr/>
          <p:nvPr/>
        </p:nvCxnSpPr>
        <p:spPr>
          <a:xfrm flipH="1">
            <a:off x="2308860" y="2889504"/>
            <a:ext cx="3817620" cy="310896"/>
          </a:xfrm>
          <a:prstGeom prst="line">
            <a:avLst/>
          </a:prstGeom>
          <a:ln w="15875">
            <a:solidFill>
              <a:srgbClr val="8B98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343400" y="3200400"/>
            <a:ext cx="3520440" cy="896112"/>
          </a:xfrm>
          <a:prstGeom prst="roundRect">
            <a:avLst>
              <a:gd name="adj" fmla="val 12000"/>
            </a:avLst>
          </a:prstGeom>
          <a:solidFill>
            <a:srgbClr val="11161D"/>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22C55E"/>
                </a:solidFill>
                <a:latin typeface="Segoe UI"/>
              </a:rPr>
              <a:t>AGENT RUNTIME</a:t>
            </a:r>
          </a:p>
          <a:p>
            <a:pPr algn="ctr">
              <a:spcBef>
                <a:spcPts val="200"/>
              </a:spcBef>
            </a:pPr>
            <a:r>
              <a:rPr sz="900">
                <a:solidFill>
                  <a:srgbClr val="8B98A5"/>
                </a:solidFill>
                <a:latin typeface="Segoe UI"/>
              </a:rPr>
              <a:t>Ops Manager · Planner · Validator · Optimizer · Simulator · Risk · Policy · Executor</a:t>
            </a:r>
          </a:p>
        </p:txBody>
      </p:sp>
      <p:cxnSp>
        <p:nvCxnSpPr>
          <p:cNvPr id="13" name="Connector 12"/>
          <p:cNvCxnSpPr/>
          <p:nvPr/>
        </p:nvCxnSpPr>
        <p:spPr>
          <a:xfrm flipH="1">
            <a:off x="6103620" y="2889504"/>
            <a:ext cx="22860" cy="310896"/>
          </a:xfrm>
          <a:prstGeom prst="line">
            <a:avLst/>
          </a:prstGeom>
          <a:ln w="15875">
            <a:solidFill>
              <a:srgbClr val="8B98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138160" y="3200400"/>
            <a:ext cx="3520440" cy="896112"/>
          </a:xfrm>
          <a:prstGeom prst="roundRect">
            <a:avLst>
              <a:gd name="adj" fmla="val 12000"/>
            </a:avLst>
          </a:prstGeom>
          <a:solidFill>
            <a:srgbClr val="11161D"/>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F59E0B"/>
                </a:solidFill>
                <a:latin typeface="Segoe UI"/>
              </a:rPr>
              <a:t>EVENT ENGINE</a:t>
            </a:r>
          </a:p>
          <a:p>
            <a:pPr algn="ctr">
              <a:spcBef>
                <a:spcPts val="200"/>
              </a:spcBef>
            </a:pPr>
            <a:r>
              <a:rPr sz="900">
                <a:solidFill>
                  <a:srgbClr val="8B98A5"/>
                </a:solidFill>
                <a:latin typeface="Segoe UI"/>
              </a:rPr>
              <a:t>typed events · idempotent append-only store · pure reducer · bus · replay</a:t>
            </a:r>
          </a:p>
        </p:txBody>
      </p:sp>
      <p:cxnSp>
        <p:nvCxnSpPr>
          <p:cNvPr id="15" name="Connector 14"/>
          <p:cNvCxnSpPr/>
          <p:nvPr/>
        </p:nvCxnSpPr>
        <p:spPr>
          <a:xfrm>
            <a:off x="6126480" y="2889504"/>
            <a:ext cx="3771900" cy="310896"/>
          </a:xfrm>
          <a:prstGeom prst="line">
            <a:avLst/>
          </a:prstGeom>
          <a:ln w="15875">
            <a:solidFill>
              <a:srgbClr val="8B98A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069080" y="3648456"/>
            <a:ext cx="274320" cy="0"/>
          </a:xfrm>
          <a:prstGeom prst="line">
            <a:avLst/>
          </a:prstGeom>
          <a:ln w="15875">
            <a:solidFill>
              <a:srgbClr val="8B98A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7863840" y="3648456"/>
            <a:ext cx="274320" cy="0"/>
          </a:xfrm>
          <a:prstGeom prst="line">
            <a:avLst/>
          </a:prstGeom>
          <a:ln w="15875">
            <a:solidFill>
              <a:srgbClr val="8B98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343400" y="4434840"/>
            <a:ext cx="3520440" cy="640080"/>
          </a:xfrm>
          <a:prstGeom prst="roundRect">
            <a:avLst>
              <a:gd name="adj" fmla="val 12000"/>
            </a:avLst>
          </a:prstGeom>
          <a:solidFill>
            <a:srgbClr val="11161D"/>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22D3EE"/>
                </a:solidFill>
                <a:latin typeface="Segoe UI"/>
              </a:rPr>
              <a:t>SIMULATION ENGINE</a:t>
            </a:r>
          </a:p>
          <a:p>
            <a:pPr algn="ctr">
              <a:spcBef>
                <a:spcPts val="200"/>
              </a:spcBef>
            </a:pPr>
            <a:r>
              <a:rPr sz="900">
                <a:solidFill>
                  <a:srgbClr val="8B98A5"/>
                </a:solidFill>
                <a:latin typeface="Segoe UI"/>
              </a:rPr>
              <a:t>deterministic ticks · kinematics · A* · faults · KPIs · forks</a:t>
            </a:r>
          </a:p>
        </p:txBody>
      </p:sp>
      <p:cxnSp>
        <p:nvCxnSpPr>
          <p:cNvPr id="19" name="Connector 18"/>
          <p:cNvCxnSpPr/>
          <p:nvPr/>
        </p:nvCxnSpPr>
        <p:spPr>
          <a:xfrm>
            <a:off x="6103620" y="4096512"/>
            <a:ext cx="0" cy="338328"/>
          </a:xfrm>
          <a:prstGeom prst="line">
            <a:avLst/>
          </a:prstGeom>
          <a:ln w="15875">
            <a:solidFill>
              <a:srgbClr val="8B98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343400" y="5394960"/>
            <a:ext cx="3520440" cy="640080"/>
          </a:xfrm>
          <a:prstGeom prst="roundRect">
            <a:avLst>
              <a:gd name="adj" fmla="val 12000"/>
            </a:avLst>
          </a:prstGeom>
          <a:solidFill>
            <a:srgbClr val="11161D"/>
          </a:solidFill>
          <a:ln w="12700">
            <a:solidFill>
              <a:srgbClr val="60A5F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60A5FA"/>
                </a:solidFill>
                <a:latin typeface="Segoe UI"/>
              </a:rPr>
              <a:t>OPTIMIZATION ENGINE</a:t>
            </a:r>
          </a:p>
          <a:p>
            <a:pPr algn="ctr">
              <a:spcBef>
                <a:spcPts val="200"/>
              </a:spcBef>
            </a:pPr>
            <a:r>
              <a:rPr sz="900">
                <a:solidFill>
                  <a:srgbClr val="8B98A5"/>
                </a:solidFill>
                <a:latin typeface="Segoe UI"/>
              </a:rPr>
              <a:t>CP-SAT · Hungarian · GA · batching · EDF · routing policies</a:t>
            </a:r>
          </a:p>
        </p:txBody>
      </p:sp>
      <p:cxnSp>
        <p:nvCxnSpPr>
          <p:cNvPr id="21" name="Connector 20"/>
          <p:cNvCxnSpPr/>
          <p:nvPr/>
        </p:nvCxnSpPr>
        <p:spPr>
          <a:xfrm>
            <a:off x="6103620" y="5074920"/>
            <a:ext cx="0" cy="320040"/>
          </a:xfrm>
          <a:prstGeom prst="line">
            <a:avLst/>
          </a:prstGeom>
          <a:ln w="15875">
            <a:solidFill>
              <a:srgbClr val="8B98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48640" y="4434840"/>
            <a:ext cx="3520440" cy="1600200"/>
          </a:xfrm>
          <a:prstGeom prst="roundRect">
            <a:avLst>
              <a:gd name="adj" fmla="val 12000"/>
            </a:avLst>
          </a:prstGeom>
          <a:solidFill>
            <a:srgbClr val="11161D"/>
          </a:solidFill>
          <a:ln w="12700">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E6EDF3"/>
                </a:solidFill>
                <a:latin typeface="Segoe UI"/>
              </a:rPr>
              <a:t>PERSISTENCE &amp; DATA</a:t>
            </a:r>
          </a:p>
          <a:p>
            <a:pPr algn="ctr">
              <a:spcBef>
                <a:spcPts val="200"/>
              </a:spcBef>
            </a:pPr>
            <a:r>
              <a:rPr sz="900">
                <a:solidFill>
                  <a:srgbClr val="8B98A5"/>
                </a:solidFill>
                <a:latin typeface="Segoe UI"/>
              </a:rPr>
              <a:t>PostgreSQL — events, snapshots, decisions, what-ifs · Redis fan-out · SQLite for tests · in-memory when unset</a:t>
            </a:r>
          </a:p>
        </p:txBody>
      </p:sp>
      <p:sp>
        <p:nvSpPr>
          <p:cNvPr id="23" name="Rounded Rectangle 22"/>
          <p:cNvSpPr/>
          <p:nvPr/>
        </p:nvSpPr>
        <p:spPr>
          <a:xfrm>
            <a:off x="8138160" y="4434840"/>
            <a:ext cx="3520440" cy="1600200"/>
          </a:xfrm>
          <a:prstGeom prst="roundRect">
            <a:avLst>
              <a:gd name="adj" fmla="val 12000"/>
            </a:avLst>
          </a:prstGeom>
          <a:solidFill>
            <a:srgbClr val="11161D"/>
          </a:solidFill>
          <a:ln w="12700">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E6EDF3"/>
                </a:solidFill>
                <a:latin typeface="Segoe UI"/>
              </a:rPr>
              <a:t>OBSERVABILITY &amp; LLM</a:t>
            </a:r>
          </a:p>
          <a:p>
            <a:pPr algn="ctr">
              <a:spcBef>
                <a:spcPts val="200"/>
              </a:spcBef>
            </a:pPr>
            <a:r>
              <a:rPr sz="900">
                <a:solidFill>
                  <a:srgbClr val="8B98A5"/>
                </a:solidFill>
                <a:latin typeface="Segoe UI"/>
              </a:rPr>
              <a:t>Prometheus metrics · Grafana dashboard · OpenTelemetry tracing · Ollama (qwen2.5, local, optional)</a:t>
            </a:r>
          </a:p>
        </p:txBody>
      </p:sp>
      <p:sp>
        <p:nvSpPr>
          <p:cNvPr id="24" name="TextBox 23"/>
          <p:cNvSpPr txBox="1"/>
          <p:nvPr/>
        </p:nvSpPr>
        <p:spPr>
          <a:xfrm>
            <a:off x="548640" y="6126480"/>
            <a:ext cx="11064240" cy="274320"/>
          </a:xfrm>
          <a:prstGeom prst="rect">
            <a:avLst/>
          </a:prstGeom>
          <a:noFill/>
        </p:spPr>
        <p:txBody>
          <a:bodyPr wrap="square" anchor="t" lIns="36576" rIns="36576" tIns="36576" bIns="36576">
            <a:spAutoFit/>
          </a:bodyPr>
          <a:lstStyle/>
          <a:p>
            <a:pPr algn="l">
              <a:lnSpc>
                <a:spcPct val="110000"/>
              </a:lnSpc>
              <a:spcAft>
                <a:spcPts val="400"/>
              </a:spcAft>
            </a:pPr>
            <a:r>
              <a:rPr sz="950" b="0" i="0">
                <a:solidFill>
                  <a:srgbClr val="8B98A5"/>
                </a:solidFill>
                <a:latin typeface="Segoe UI"/>
              </a:rPr>
              <a:t>docker compose: postgres · redis · backend · frontend · prometheus · grafana · ollama (profile)   —   everything runs on one laptop, no paid APIs.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D12"/>
        </a:solidFill>
        <a:effectLst/>
      </p:bgPr>
    </p:bg>
    <p:spTree>
      <p:nvGrpSpPr>
        <p:cNvPr id="1" name=""/>
        <p:cNvGrpSpPr/>
        <p:nvPr/>
      </p:nvGrpSpPr>
      <p:grpSpPr/>
      <p:sp>
        <p:nvSpPr>
          <p:cNvPr id="2" name="TextBox 1"/>
          <p:cNvSpPr txBox="1"/>
          <p:nvPr/>
        </p:nvSpPr>
        <p:spPr>
          <a:xfrm>
            <a:off x="548640" y="256032"/>
            <a:ext cx="8229600" cy="274320"/>
          </a:xfrm>
          <a:prstGeom prst="rect">
            <a:avLst/>
          </a:prstGeom>
          <a:noFill/>
        </p:spPr>
        <p:txBody>
          <a:bodyPr wrap="square" anchor="t" lIns="36576" rIns="36576" tIns="36576" bIns="36576">
            <a:spAutoFit/>
          </a:bodyPr>
          <a:lstStyle/>
          <a:p>
            <a:pPr algn="l">
              <a:lnSpc>
                <a:spcPct val="110000"/>
              </a:lnSpc>
              <a:spcAft>
                <a:spcPts val="400"/>
              </a:spcAft>
            </a:pPr>
            <a:r>
              <a:rPr sz="1050" b="1" i="0">
                <a:solidFill>
                  <a:srgbClr val="22D3EE"/>
                </a:solidFill>
                <a:latin typeface="Segoe UI"/>
              </a:rPr>
              <a:t>DIGITAL TWIN</a:t>
            </a:r>
          </a:p>
        </p:txBody>
      </p:sp>
      <p:sp>
        <p:nvSpPr>
          <p:cNvPr id="3" name="TextBox 2"/>
          <p:cNvSpPr txBox="1"/>
          <p:nvPr/>
        </p:nvSpPr>
        <p:spPr>
          <a:xfrm>
            <a:off x="548640" y="502920"/>
            <a:ext cx="10607040" cy="731520"/>
          </a:xfrm>
          <a:prstGeom prst="rect">
            <a:avLst/>
          </a:prstGeom>
          <a:noFill/>
        </p:spPr>
        <p:txBody>
          <a:bodyPr wrap="square" anchor="ctr" lIns="36576" rIns="36576" tIns="36576" bIns="36576">
            <a:spAutoFit/>
          </a:bodyPr>
          <a:lstStyle/>
          <a:p>
            <a:pPr algn="l">
              <a:lnSpc>
                <a:spcPct val="110000"/>
              </a:lnSpc>
              <a:spcAft>
                <a:spcPts val="400"/>
              </a:spcAft>
            </a:pPr>
            <a:r>
              <a:rPr sz="2400" b="1" i="0">
                <a:solidFill>
                  <a:srgbClr val="E6EDF3"/>
                </a:solidFill>
                <a:latin typeface="Segoe UI"/>
              </a:rPr>
              <a:t>Every entity has state; the world is the source of truth</a:t>
            </a:r>
          </a:p>
        </p:txBody>
      </p:sp>
      <p:sp>
        <p:nvSpPr>
          <p:cNvPr id="4" name="Rectangle 3"/>
          <p:cNvSpPr/>
          <p:nvPr/>
        </p:nvSpPr>
        <p:spPr>
          <a:xfrm>
            <a:off x="566928" y="1216152"/>
            <a:ext cx="100584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6400800" cy="274320"/>
          </a:xfrm>
          <a:prstGeom prst="rect">
            <a:avLst/>
          </a:prstGeom>
          <a:noFill/>
        </p:spPr>
        <p:txBody>
          <a:bodyPr wrap="square" anchor="t" lIns="36576" rIns="36576" tIns="36576" bIns="36576">
            <a:spAutoFit/>
          </a:bodyPr>
          <a:lstStyle/>
          <a:p>
            <a:pPr algn="l">
              <a:lnSpc>
                <a:spcPct val="110000"/>
              </a:lnSpc>
              <a:spcAft>
                <a:spcPts val="400"/>
              </a:spcAft>
            </a:pPr>
            <a:r>
              <a:rPr sz="950" b="0" i="0">
                <a:solidFill>
                  <a:srgbClr val="8B98A5"/>
                </a:solidFill>
                <a:latin typeface="Segoe UI"/>
              </a:rPr>
              <a:t>NEXUS · Autonomous Operations Intelligence</a:t>
            </a:r>
          </a:p>
        </p:txBody>
      </p:sp>
      <p:sp>
        <p:nvSpPr>
          <p:cNvPr id="6" name="TextBox 5"/>
          <p:cNvSpPr txBox="1"/>
          <p:nvPr/>
        </p:nvSpPr>
        <p:spPr>
          <a:xfrm>
            <a:off x="10607040" y="6446520"/>
            <a:ext cx="1051560" cy="274320"/>
          </a:xfrm>
          <a:prstGeom prst="rect">
            <a:avLst/>
          </a:prstGeom>
          <a:noFill/>
        </p:spPr>
        <p:txBody>
          <a:bodyPr wrap="square" anchor="t" lIns="36576" rIns="36576" tIns="36576" bIns="36576">
            <a:spAutoFit/>
          </a:bodyPr>
          <a:lstStyle/>
          <a:p>
            <a:pPr algn="r">
              <a:lnSpc>
                <a:spcPct val="110000"/>
              </a:lnSpc>
              <a:spcAft>
                <a:spcPts val="400"/>
              </a:spcAft>
            </a:pPr>
            <a:r>
              <a:rPr sz="950" b="0" i="0">
                <a:solidFill>
                  <a:srgbClr val="8B98A5"/>
                </a:solidFill>
                <a:latin typeface="Consolas"/>
              </a:rPr>
              <a:t>09</a:t>
            </a:r>
          </a:p>
        </p:txBody>
      </p:sp>
      <p:sp>
        <p:nvSpPr>
          <p:cNvPr id="7" name="Rounded Rectangle 6"/>
          <p:cNvSpPr/>
          <p:nvPr/>
        </p:nvSpPr>
        <p:spPr>
          <a:xfrm>
            <a:off x="548640" y="1417320"/>
            <a:ext cx="5120640" cy="379476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6656" y="1508760"/>
            <a:ext cx="4864607" cy="274320"/>
          </a:xfrm>
          <a:prstGeom prst="rect">
            <a:avLst/>
          </a:prstGeom>
          <a:noFill/>
        </p:spPr>
        <p:txBody>
          <a:bodyPr wrap="square" anchor="t" lIns="36576" rIns="36576" tIns="36576" bIns="36576">
            <a:spAutoFit/>
          </a:bodyPr>
          <a:lstStyle/>
          <a:p>
            <a:pPr algn="l">
              <a:lnSpc>
                <a:spcPct val="110000"/>
              </a:lnSpc>
              <a:spcAft>
                <a:spcPts val="400"/>
              </a:spcAft>
            </a:pPr>
            <a:r>
              <a:rPr sz="950" b="1" i="0">
                <a:solidFill>
                  <a:srgbClr val="22D3EE"/>
                </a:solidFill>
                <a:latin typeface="Segoe UI"/>
              </a:rPr>
              <a:t>ENTITY MODEL</a:t>
            </a:r>
          </a:p>
        </p:txBody>
      </p:sp>
      <p:sp>
        <p:nvSpPr>
          <p:cNvPr id="9" name="TextBox 8"/>
          <p:cNvSpPr txBox="1"/>
          <p:nvPr/>
        </p:nvSpPr>
        <p:spPr>
          <a:xfrm>
            <a:off x="731520" y="1783080"/>
            <a:ext cx="4846320" cy="3383280"/>
          </a:xfrm>
          <a:prstGeom prst="rect">
            <a:avLst/>
          </a:prstGeom>
          <a:noFill/>
        </p:spPr>
        <p:txBody>
          <a:bodyPr wrap="square" anchor="t" lIns="36576" rIns="36576" tIns="36576" bIns="36576">
            <a:spAutoFit/>
          </a:bodyPr>
          <a:lstStyle/>
          <a:p>
            <a:pPr algn="l">
              <a:lnSpc>
                <a:spcPct val="125000"/>
              </a:lnSpc>
              <a:spcAft>
                <a:spcPts val="200"/>
              </a:spcAft>
            </a:pPr>
            <a:r>
              <a:rPr sz="1050" b="0" i="0">
                <a:solidFill>
                  <a:srgbClr val="E6EDF3"/>
                </a:solidFill>
                <a:latin typeface="Consolas"/>
              </a:rPr>
              <a:t>Warehouse  (WorldState)</a:t>
            </a:r>
          </a:p>
          <a:p>
            <a:pPr algn="l">
              <a:lnSpc>
                <a:spcPct val="125000"/>
              </a:lnSpc>
              <a:spcAft>
                <a:spcPts val="200"/>
              </a:spcAft>
            </a:pPr>
            <a:r>
              <a:rPr sz="1050" b="0" i="0">
                <a:solidFill>
                  <a:srgbClr val="E6EDF3"/>
                </a:solidFill>
                <a:latin typeface="Consolas"/>
              </a:rPr>
              <a:t>├─ Zones      storage · corridor · dock · charging · capacity</a:t>
            </a:r>
          </a:p>
          <a:p>
            <a:pPr algn="l">
              <a:lnSpc>
                <a:spcPct val="125000"/>
              </a:lnSpc>
              <a:spcAft>
                <a:spcPts val="200"/>
              </a:spcAft>
            </a:pPr>
            <a:r>
              <a:rPr sz="1050" b="0" i="0">
                <a:solidFill>
                  <a:srgbClr val="E6EDF3"/>
                </a:solidFill>
                <a:latin typeface="Consolas"/>
              </a:rPr>
              <a:t>├─ Shelves    cell · access cell · inventory {SKU: qty}</a:t>
            </a:r>
          </a:p>
          <a:p>
            <a:pPr algn="l">
              <a:lnSpc>
                <a:spcPct val="125000"/>
              </a:lnSpc>
              <a:spcAft>
                <a:spcPts val="200"/>
              </a:spcAft>
            </a:pPr>
            <a:r>
              <a:rPr sz="1050" b="0" i="0">
                <a:solidFill>
                  <a:srgbClr val="E6EDF3"/>
                </a:solidFill>
                <a:latin typeface="Consolas"/>
              </a:rPr>
              <a:t>├─ Robots     cell · battery · status · task · path · load</a:t>
            </a:r>
          </a:p>
          <a:p>
            <a:pPr algn="l">
              <a:lnSpc>
                <a:spcPct val="125000"/>
              </a:lnSpc>
              <a:spcAft>
                <a:spcPts val="200"/>
              </a:spcAft>
            </a:pPr>
            <a:r>
              <a:rPr sz="1050" b="0" i="0">
                <a:solidFill>
                  <a:srgbClr val="E6EDF3"/>
                </a:solidFill>
                <a:latin typeface="Consolas"/>
              </a:rPr>
              <a:t>├─ Workers    role · dock · status (delays)</a:t>
            </a:r>
          </a:p>
          <a:p>
            <a:pPr algn="l">
              <a:lnSpc>
                <a:spcPct val="125000"/>
              </a:lnSpc>
              <a:spcAft>
                <a:spcPts val="200"/>
              </a:spcAft>
            </a:pPr>
            <a:r>
              <a:rPr sz="1050" b="0" i="0">
                <a:solidFill>
                  <a:srgbClr val="E6EDF3"/>
                </a:solidFill>
                <a:latin typeface="Consolas"/>
              </a:rPr>
              <a:t>├─ Orders     lines · priority · deadline · status</a:t>
            </a:r>
          </a:p>
          <a:p>
            <a:pPr algn="l">
              <a:lnSpc>
                <a:spcPct val="125000"/>
              </a:lnSpc>
              <a:spcAft>
                <a:spcPts val="200"/>
              </a:spcAft>
            </a:pPr>
            <a:r>
              <a:rPr sz="1050" b="0" i="0">
                <a:solidFill>
                  <a:srgbClr val="E6EDF3"/>
                </a:solidFill>
                <a:latin typeface="Consolas"/>
              </a:rPr>
              <a:t>├─ Tasks      waypoints (pick… → deliver) · leg</a:t>
            </a:r>
          </a:p>
          <a:p>
            <a:pPr algn="l">
              <a:lnSpc>
                <a:spcPct val="125000"/>
              </a:lnSpc>
              <a:spcAft>
                <a:spcPts val="200"/>
              </a:spcAft>
            </a:pPr>
            <a:r>
              <a:rPr sz="1050" b="0" i="0">
                <a:solidFill>
                  <a:srgbClr val="E6EDF3"/>
                </a:solidFill>
                <a:latin typeface="Consolas"/>
              </a:rPr>
              <a:t>├─ Docks      open · queue      Chargers  slots · occupants</a:t>
            </a:r>
          </a:p>
          <a:p>
            <a:pPr algn="l">
              <a:lnSpc>
                <a:spcPct val="125000"/>
              </a:lnSpc>
              <a:spcAft>
                <a:spcPts val="200"/>
              </a:spcAft>
            </a:pPr>
            <a:r>
              <a:rPr sz="1050" b="0" i="0">
                <a:solidFill>
                  <a:srgbClr val="E6EDF3"/>
                </a:solidFill>
                <a:latin typeface="Consolas"/>
              </a:rPr>
              <a:t>└─ Clock · seeded RNG · id counters · demand profile · config · stats</a:t>
            </a:r>
          </a:p>
        </p:txBody>
      </p:sp>
      <p:graphicFrame>
        <p:nvGraphicFramePr>
          <p:cNvPr id="10" name="Table 9"/>
          <p:cNvGraphicFramePr>
            <a:graphicFrameLocks noGrp="1"/>
          </p:cNvGraphicFramePr>
          <p:nvPr/>
        </p:nvGraphicFramePr>
        <p:xfrm>
          <a:off x="5897880" y="1417320"/>
          <a:ext cx="5760720" cy="2148840"/>
        </p:xfrm>
        <a:graphic>
          <a:graphicData uri="http://schemas.openxmlformats.org/drawingml/2006/table">
            <a:tbl>
              <a:tblPr firstRow="1" bandRow="0">
                <a:tableStyleId>{2D5ABB26-0587-4C30-8999-92F81FD0307C}</a:tableStyleId>
              </a:tblPr>
              <a:tblGrid>
                <a:gridCol w="566928"/>
                <a:gridCol w="502920"/>
                <a:gridCol w="822960"/>
                <a:gridCol w="457200"/>
                <a:gridCol w="594360"/>
                <a:gridCol w="457200"/>
                <a:gridCol w="658368"/>
                <a:gridCol w="566928"/>
                <a:gridCol w="566928"/>
                <a:gridCol w="566928"/>
              </a:tblGrid>
              <a:tr h="429768">
                <a:tc>
                  <a:txBody>
                    <a:bodyPr wrap="square"/>
                    <a:lstStyle/>
                    <a:p>
                      <a:pPr algn="l"/>
                      <a:r>
                        <a:rPr sz="800" b="1">
                          <a:solidFill>
                            <a:srgbClr val="22D3EE"/>
                          </a:solidFill>
                          <a:latin typeface="Segoe UI"/>
                        </a:rPr>
                        <a:t>scale</a:t>
                      </a:r>
                    </a:p>
                  </a:txBody>
                  <a:tcPr marL="64008" marR="64008" marT="27432" marB="27432" anchor="ctr">
                    <a:solidFill>
                      <a:srgbClr val="182130"/>
                    </a:solidFill>
                  </a:tcPr>
                </a:tc>
                <a:tc>
                  <a:txBody>
                    <a:bodyPr wrap="square"/>
                    <a:lstStyle/>
                    <a:p>
                      <a:pPr algn="r"/>
                      <a:r>
                        <a:rPr sz="800" b="1">
                          <a:solidFill>
                            <a:srgbClr val="22D3EE"/>
                          </a:solidFill>
                          <a:latin typeface="Segoe UI"/>
                        </a:rPr>
                        <a:t>robots</a:t>
                      </a:r>
                    </a:p>
                  </a:txBody>
                  <a:tcPr marL="64008" marR="64008" marT="27432" marB="27432" anchor="ctr">
                    <a:solidFill>
                      <a:srgbClr val="182130"/>
                    </a:solidFill>
                  </a:tcPr>
                </a:tc>
                <a:tc>
                  <a:txBody>
                    <a:bodyPr wrap="square"/>
                    <a:lstStyle/>
                    <a:p>
                      <a:pPr algn="l"/>
                      <a:r>
                        <a:rPr sz="800" b="1">
                          <a:solidFill>
                            <a:srgbClr val="22D3EE"/>
                          </a:solidFill>
                          <a:latin typeface="Segoe UI"/>
                        </a:rPr>
                        <a:t>storage zones</a:t>
                      </a:r>
                    </a:p>
                  </a:txBody>
                  <a:tcPr marL="64008" marR="64008" marT="27432" marB="27432" anchor="ctr">
                    <a:solidFill>
                      <a:srgbClr val="182130"/>
                    </a:solidFill>
                  </a:tcPr>
                </a:tc>
                <a:tc>
                  <a:txBody>
                    <a:bodyPr wrap="square"/>
                    <a:lstStyle/>
                    <a:p>
                      <a:pPr algn="r"/>
                      <a:r>
                        <a:rPr sz="800" b="1">
                          <a:solidFill>
                            <a:srgbClr val="22D3EE"/>
                          </a:solidFill>
                          <a:latin typeface="Segoe UI"/>
                        </a:rPr>
                        <a:t>docks</a:t>
                      </a:r>
                    </a:p>
                  </a:txBody>
                  <a:tcPr marL="64008" marR="64008" marT="27432" marB="27432" anchor="ctr">
                    <a:solidFill>
                      <a:srgbClr val="182130"/>
                    </a:solidFill>
                  </a:tcPr>
                </a:tc>
                <a:tc>
                  <a:txBody>
                    <a:bodyPr wrap="square"/>
                    <a:lstStyle/>
                    <a:p>
                      <a:pPr algn="r"/>
                      <a:r>
                        <a:rPr sz="800" b="1">
                          <a:solidFill>
                            <a:srgbClr val="22D3EE"/>
                          </a:solidFill>
                          <a:latin typeface="Segoe UI"/>
                        </a:rPr>
                        <a:t>chargers</a:t>
                      </a:r>
                    </a:p>
                  </a:txBody>
                  <a:tcPr marL="64008" marR="64008" marT="27432" marB="27432" anchor="ctr">
                    <a:solidFill>
                      <a:srgbClr val="182130"/>
                    </a:solidFill>
                  </a:tcPr>
                </a:tc>
                <a:tc>
                  <a:txBody>
                    <a:bodyPr wrap="square"/>
                    <a:lstStyle/>
                    <a:p>
                      <a:pPr algn="r"/>
                      <a:r>
                        <a:rPr sz="800" b="1">
                          <a:solidFill>
                            <a:srgbClr val="22D3EE"/>
                          </a:solidFill>
                          <a:latin typeface="Segoe UI"/>
                        </a:rPr>
                        <a:t>SKUs</a:t>
                      </a:r>
                    </a:p>
                  </a:txBody>
                  <a:tcPr marL="64008" marR="64008" marT="27432" marB="27432" anchor="ctr">
                    <a:solidFill>
                      <a:srgbClr val="182130"/>
                    </a:solidFill>
                  </a:tcPr>
                </a:tc>
                <a:tc>
                  <a:txBody>
                    <a:bodyPr wrap="square"/>
                    <a:lstStyle/>
                    <a:p>
                      <a:pPr algn="r"/>
                      <a:r>
                        <a:rPr sz="800" b="1">
                          <a:solidFill>
                            <a:srgbClr val="22D3EE"/>
                          </a:solidFill>
                          <a:latin typeface="Segoe UI"/>
                        </a:rPr>
                        <a:t>inventory</a:t>
                      </a:r>
                    </a:p>
                  </a:txBody>
                  <a:tcPr marL="64008" marR="64008" marT="27432" marB="27432" anchor="ctr">
                    <a:solidFill>
                      <a:srgbClr val="182130"/>
                    </a:solidFill>
                  </a:tcPr>
                </a:tc>
                <a:tc>
                  <a:txBody>
                    <a:bodyPr wrap="square"/>
                    <a:lstStyle/>
                    <a:p>
                      <a:pPr algn="r"/>
                      <a:r>
                        <a:rPr sz="800" b="1">
                          <a:solidFill>
                            <a:srgbClr val="22D3EE"/>
                          </a:solidFill>
                          <a:latin typeface="Segoe UI"/>
                        </a:rPr>
                        <a:t>orders/h</a:t>
                      </a:r>
                    </a:p>
                  </a:txBody>
                  <a:tcPr marL="64008" marR="64008" marT="27432" marB="27432" anchor="ctr">
                    <a:solidFill>
                      <a:srgbClr val="182130"/>
                    </a:solidFill>
                  </a:tcPr>
                </a:tc>
                <a:tc>
                  <a:txBody>
                    <a:bodyPr wrap="square"/>
                    <a:lstStyle/>
                    <a:p>
                      <a:pPr algn="l"/>
                      <a:r>
                        <a:rPr sz="800" b="1">
                          <a:solidFill>
                            <a:srgbClr val="22D3EE"/>
                          </a:solidFill>
                          <a:latin typeface="Segoe UI"/>
                        </a:rPr>
                        <a:t>grid</a:t>
                      </a:r>
                    </a:p>
                  </a:txBody>
                  <a:tcPr marL="64008" marR="64008" marT="27432" marB="27432" anchor="ctr">
                    <a:solidFill>
                      <a:srgbClr val="182130"/>
                    </a:solidFill>
                  </a:tcPr>
                </a:tc>
                <a:tc>
                  <a:txBody>
                    <a:bodyPr wrap="square"/>
                    <a:lstStyle/>
                    <a:p>
                      <a:pPr algn="r"/>
                      <a:r>
                        <a:rPr sz="800" b="1">
                          <a:solidFill>
                            <a:srgbClr val="22D3EE"/>
                          </a:solidFill>
                          <a:latin typeface="Segoe UI"/>
                        </a:rPr>
                        <a:t>shelves</a:t>
                      </a:r>
                    </a:p>
                  </a:txBody>
                  <a:tcPr marL="64008" marR="64008" marT="27432" marB="27432" anchor="ctr">
                    <a:solidFill>
                      <a:srgbClr val="182130"/>
                    </a:solidFill>
                  </a:tcPr>
                </a:tc>
              </a:tr>
              <a:tr h="429768">
                <a:tc>
                  <a:txBody>
                    <a:bodyPr wrap="square"/>
                    <a:lstStyle/>
                    <a:p>
                      <a:pPr algn="l"/>
                      <a:r>
                        <a:rPr sz="900" b="0">
                          <a:solidFill>
                            <a:srgbClr val="E6EDF3"/>
                          </a:solidFill>
                          <a:latin typeface="Segoe UI"/>
                        </a:rPr>
                        <a:t>tiny</a:t>
                      </a:r>
                    </a:p>
                  </a:txBody>
                  <a:tcPr marL="64008" marR="64008" marT="27432" marB="27432" anchor="ctr">
                    <a:solidFill>
                      <a:srgbClr val="11161D"/>
                    </a:solidFill>
                  </a:tcPr>
                </a:tc>
                <a:tc>
                  <a:txBody>
                    <a:bodyPr wrap="square"/>
                    <a:lstStyle/>
                    <a:p>
                      <a:pPr algn="r"/>
                      <a:r>
                        <a:rPr sz="900" b="0">
                          <a:solidFill>
                            <a:srgbClr val="E6EDF3"/>
                          </a:solidFill>
                          <a:latin typeface="Segoe UI"/>
                        </a:rPr>
                        <a:t>4</a:t>
                      </a:r>
                    </a:p>
                  </a:txBody>
                  <a:tcPr marL="64008" marR="64008" marT="27432" marB="27432" anchor="ctr">
                    <a:solidFill>
                      <a:srgbClr val="11161D"/>
                    </a:solidFill>
                  </a:tcPr>
                </a:tc>
                <a:tc>
                  <a:txBody>
                    <a:bodyPr wrap="square"/>
                    <a:lstStyle/>
                    <a:p>
                      <a:pPr algn="l"/>
                      <a:r>
                        <a:rPr sz="900" b="0">
                          <a:solidFill>
                            <a:srgbClr val="E6EDF3"/>
                          </a:solidFill>
                          <a:latin typeface="Segoe UI"/>
                        </a:rPr>
                        <a:t>4 (2×2)</a:t>
                      </a:r>
                    </a:p>
                  </a:txBody>
                  <a:tcPr marL="64008" marR="64008" marT="27432" marB="27432" anchor="ctr">
                    <a:solidFill>
                      <a:srgbClr val="11161D"/>
                    </a:solidFill>
                  </a:tcPr>
                </a:tc>
                <a:tc>
                  <a:txBody>
                    <a:bodyPr wrap="square"/>
                    <a:lstStyle/>
                    <a:p>
                      <a:pPr algn="r"/>
                      <a:r>
                        <a:rPr sz="900" b="0">
                          <a:solidFill>
                            <a:srgbClr val="E6EDF3"/>
                          </a:solidFill>
                          <a:latin typeface="Segoe UI"/>
                        </a:rPr>
                        <a:t>2</a:t>
                      </a:r>
                    </a:p>
                  </a:txBody>
                  <a:tcPr marL="64008" marR="64008" marT="27432" marB="27432" anchor="ctr">
                    <a:solidFill>
                      <a:srgbClr val="11161D"/>
                    </a:solidFill>
                  </a:tcPr>
                </a:tc>
                <a:tc>
                  <a:txBody>
                    <a:bodyPr wrap="square"/>
                    <a:lstStyle/>
                    <a:p>
                      <a:pPr algn="r"/>
                      <a:r>
                        <a:rPr sz="900" b="0">
                          <a:solidFill>
                            <a:srgbClr val="E6EDF3"/>
                          </a:solidFill>
                          <a:latin typeface="Segoe UI"/>
                        </a:rPr>
                        <a:t>2</a:t>
                      </a:r>
                    </a:p>
                  </a:txBody>
                  <a:tcPr marL="64008" marR="64008" marT="27432" marB="27432" anchor="ctr">
                    <a:solidFill>
                      <a:srgbClr val="11161D"/>
                    </a:solidFill>
                  </a:tcPr>
                </a:tc>
                <a:tc>
                  <a:txBody>
                    <a:bodyPr wrap="square"/>
                    <a:lstStyle/>
                    <a:p>
                      <a:pPr algn="r"/>
                      <a:r>
                        <a:rPr sz="900" b="0">
                          <a:solidFill>
                            <a:srgbClr val="E6EDF3"/>
                          </a:solidFill>
                          <a:latin typeface="Segoe UI"/>
                        </a:rPr>
                        <a:t>120</a:t>
                      </a:r>
                    </a:p>
                  </a:txBody>
                  <a:tcPr marL="64008" marR="64008" marT="27432" marB="27432" anchor="ctr">
                    <a:solidFill>
                      <a:srgbClr val="11161D"/>
                    </a:solidFill>
                  </a:tcPr>
                </a:tc>
                <a:tc>
                  <a:txBody>
                    <a:bodyPr wrap="square"/>
                    <a:lstStyle/>
                    <a:p>
                      <a:pPr algn="r"/>
                      <a:r>
                        <a:rPr sz="900" b="0">
                          <a:solidFill>
                            <a:srgbClr val="E6EDF3"/>
                          </a:solidFill>
                          <a:latin typeface="Segoe UI"/>
                        </a:rPr>
                        <a:t>4,000</a:t>
                      </a:r>
                    </a:p>
                  </a:txBody>
                  <a:tcPr marL="64008" marR="64008" marT="27432" marB="27432" anchor="ctr">
                    <a:solidFill>
                      <a:srgbClr val="11161D"/>
                    </a:solidFill>
                  </a:tcPr>
                </a:tc>
                <a:tc>
                  <a:txBody>
                    <a:bodyPr wrap="square"/>
                    <a:lstStyle/>
                    <a:p>
                      <a:pPr algn="r"/>
                      <a:r>
                        <a:rPr sz="900" b="0">
                          <a:solidFill>
                            <a:srgbClr val="E6EDF3"/>
                          </a:solidFill>
                          <a:latin typeface="Segoe UI"/>
                        </a:rPr>
                        <a:t>90</a:t>
                      </a:r>
                    </a:p>
                  </a:txBody>
                  <a:tcPr marL="64008" marR="64008" marT="27432" marB="27432" anchor="ctr">
                    <a:solidFill>
                      <a:srgbClr val="11161D"/>
                    </a:solidFill>
                  </a:tcPr>
                </a:tc>
                <a:tc>
                  <a:txBody>
                    <a:bodyPr wrap="square"/>
                    <a:lstStyle/>
                    <a:p>
                      <a:pPr algn="l"/>
                      <a:r>
                        <a:rPr sz="900" b="0">
                          <a:solidFill>
                            <a:srgbClr val="E6EDF3"/>
                          </a:solidFill>
                          <a:latin typeface="Segoe UI"/>
                        </a:rPr>
                        <a:t>29×29</a:t>
                      </a:r>
                    </a:p>
                  </a:txBody>
                  <a:tcPr marL="64008" marR="64008" marT="27432" marB="27432" anchor="ctr">
                    <a:solidFill>
                      <a:srgbClr val="11161D"/>
                    </a:solidFill>
                  </a:tcPr>
                </a:tc>
                <a:tc>
                  <a:txBody>
                    <a:bodyPr wrap="square"/>
                    <a:lstStyle/>
                    <a:p>
                      <a:pPr algn="r"/>
                      <a:r>
                        <a:rPr sz="900" b="0">
                          <a:solidFill>
                            <a:srgbClr val="E6EDF3"/>
                          </a:solidFill>
                          <a:latin typeface="Segoe UI"/>
                        </a:rPr>
                        <a:t>192</a:t>
                      </a:r>
                    </a:p>
                  </a:txBody>
                  <a:tcPr marL="64008" marR="64008" marT="27432" marB="27432" anchor="ctr">
                    <a:solidFill>
                      <a:srgbClr val="11161D"/>
                    </a:solidFill>
                  </a:tcPr>
                </a:tc>
              </a:tr>
              <a:tr h="429768">
                <a:tc>
                  <a:txBody>
                    <a:bodyPr wrap="square"/>
                    <a:lstStyle/>
                    <a:p>
                      <a:pPr algn="l"/>
                      <a:r>
                        <a:rPr sz="900" b="0">
                          <a:solidFill>
                            <a:srgbClr val="E6EDF3"/>
                          </a:solidFill>
                          <a:latin typeface="Segoe UI"/>
                        </a:rPr>
                        <a:t>small</a:t>
                      </a:r>
                    </a:p>
                  </a:txBody>
                  <a:tcPr marL="64008" marR="64008" marT="27432" marB="27432" anchor="ctr">
                    <a:solidFill>
                      <a:srgbClr val="182130"/>
                    </a:solidFill>
                  </a:tcPr>
                </a:tc>
                <a:tc>
                  <a:txBody>
                    <a:bodyPr wrap="square"/>
                    <a:lstStyle/>
                    <a:p>
                      <a:pPr algn="r"/>
                      <a:r>
                        <a:rPr sz="900" b="0">
                          <a:solidFill>
                            <a:srgbClr val="E6EDF3"/>
                          </a:solidFill>
                          <a:latin typeface="Segoe UI"/>
                        </a:rPr>
                        <a:t>12</a:t>
                      </a:r>
                    </a:p>
                  </a:txBody>
                  <a:tcPr marL="64008" marR="64008" marT="27432" marB="27432" anchor="ctr">
                    <a:solidFill>
                      <a:srgbClr val="182130"/>
                    </a:solidFill>
                  </a:tcPr>
                </a:tc>
                <a:tc>
                  <a:txBody>
                    <a:bodyPr wrap="square"/>
                    <a:lstStyle/>
                    <a:p>
                      <a:pPr algn="l"/>
                      <a:r>
                        <a:rPr sz="900" b="0">
                          <a:solidFill>
                            <a:srgbClr val="E6EDF3"/>
                          </a:solidFill>
                          <a:latin typeface="Segoe UI"/>
                        </a:rPr>
                        <a:t>12 (4×3)</a:t>
                      </a:r>
                    </a:p>
                  </a:txBody>
                  <a:tcPr marL="64008" marR="64008" marT="27432" marB="27432" anchor="ctr">
                    <a:solidFill>
                      <a:srgbClr val="182130"/>
                    </a:solidFill>
                  </a:tcPr>
                </a:tc>
                <a:tc>
                  <a:txBody>
                    <a:bodyPr wrap="square"/>
                    <a:lstStyle/>
                    <a:p>
                      <a:pPr algn="r"/>
                      <a:r>
                        <a:rPr sz="900" b="0">
                          <a:solidFill>
                            <a:srgbClr val="E6EDF3"/>
                          </a:solidFill>
                          <a:latin typeface="Segoe UI"/>
                        </a:rPr>
                        <a:t>4</a:t>
                      </a:r>
                    </a:p>
                  </a:txBody>
                  <a:tcPr marL="64008" marR="64008" marT="27432" marB="27432" anchor="ctr">
                    <a:solidFill>
                      <a:srgbClr val="182130"/>
                    </a:solidFill>
                  </a:tcPr>
                </a:tc>
                <a:tc>
                  <a:txBody>
                    <a:bodyPr wrap="square"/>
                    <a:lstStyle/>
                    <a:p>
                      <a:pPr algn="r"/>
                      <a:r>
                        <a:rPr sz="900" b="0">
                          <a:solidFill>
                            <a:srgbClr val="E6EDF3"/>
                          </a:solidFill>
                          <a:latin typeface="Segoe UI"/>
                        </a:rPr>
                        <a:t>4</a:t>
                      </a:r>
                    </a:p>
                  </a:txBody>
                  <a:tcPr marL="64008" marR="64008" marT="27432" marB="27432" anchor="ctr">
                    <a:solidFill>
                      <a:srgbClr val="182130"/>
                    </a:solidFill>
                  </a:tcPr>
                </a:tc>
                <a:tc>
                  <a:txBody>
                    <a:bodyPr wrap="square"/>
                    <a:lstStyle/>
                    <a:p>
                      <a:pPr algn="r"/>
                      <a:r>
                        <a:rPr sz="900" b="0">
                          <a:solidFill>
                            <a:srgbClr val="E6EDF3"/>
                          </a:solidFill>
                          <a:latin typeface="Segoe UI"/>
                        </a:rPr>
                        <a:t>600</a:t>
                      </a:r>
                    </a:p>
                  </a:txBody>
                  <a:tcPr marL="64008" marR="64008" marT="27432" marB="27432" anchor="ctr">
                    <a:solidFill>
                      <a:srgbClr val="182130"/>
                    </a:solidFill>
                  </a:tcPr>
                </a:tc>
                <a:tc>
                  <a:txBody>
                    <a:bodyPr wrap="square"/>
                    <a:lstStyle/>
                    <a:p>
                      <a:pPr algn="r"/>
                      <a:r>
                        <a:rPr sz="900" b="0">
                          <a:solidFill>
                            <a:srgbClr val="E6EDF3"/>
                          </a:solidFill>
                          <a:latin typeface="Segoe UI"/>
                        </a:rPr>
                        <a:t>18,000</a:t>
                      </a:r>
                    </a:p>
                  </a:txBody>
                  <a:tcPr marL="64008" marR="64008" marT="27432" marB="27432" anchor="ctr">
                    <a:solidFill>
                      <a:srgbClr val="182130"/>
                    </a:solidFill>
                  </a:tcPr>
                </a:tc>
                <a:tc>
                  <a:txBody>
                    <a:bodyPr wrap="square"/>
                    <a:lstStyle/>
                    <a:p>
                      <a:pPr algn="r"/>
                      <a:r>
                        <a:rPr sz="900" b="0">
                          <a:solidFill>
                            <a:srgbClr val="E6EDF3"/>
                          </a:solidFill>
                          <a:latin typeface="Segoe UI"/>
                        </a:rPr>
                        <a:t>400</a:t>
                      </a:r>
                    </a:p>
                  </a:txBody>
                  <a:tcPr marL="64008" marR="64008" marT="27432" marB="27432" anchor="ctr">
                    <a:solidFill>
                      <a:srgbClr val="182130"/>
                    </a:solidFill>
                  </a:tcPr>
                </a:tc>
                <a:tc>
                  <a:txBody>
                    <a:bodyPr wrap="square"/>
                    <a:lstStyle/>
                    <a:p>
                      <a:pPr algn="l"/>
                      <a:r>
                        <a:rPr sz="900" b="0">
                          <a:solidFill>
                            <a:srgbClr val="E6EDF3"/>
                          </a:solidFill>
                          <a:latin typeface="Segoe UI"/>
                        </a:rPr>
                        <a:t>53×41</a:t>
                      </a:r>
                    </a:p>
                  </a:txBody>
                  <a:tcPr marL="64008" marR="64008" marT="27432" marB="27432" anchor="ctr">
                    <a:solidFill>
                      <a:srgbClr val="182130"/>
                    </a:solidFill>
                  </a:tcPr>
                </a:tc>
                <a:tc>
                  <a:txBody>
                    <a:bodyPr wrap="square"/>
                    <a:lstStyle/>
                    <a:p>
                      <a:pPr algn="r"/>
                      <a:r>
                        <a:rPr sz="900" b="0">
                          <a:solidFill>
                            <a:srgbClr val="E6EDF3"/>
                          </a:solidFill>
                          <a:latin typeface="Segoe UI"/>
                        </a:rPr>
                        <a:t>576</a:t>
                      </a:r>
                    </a:p>
                  </a:txBody>
                  <a:tcPr marL="64008" marR="64008" marT="27432" marB="27432" anchor="ctr">
                    <a:solidFill>
                      <a:srgbClr val="182130"/>
                    </a:solidFill>
                  </a:tcPr>
                </a:tc>
              </a:tr>
              <a:tr h="429768">
                <a:tc>
                  <a:txBody>
                    <a:bodyPr wrap="square"/>
                    <a:lstStyle/>
                    <a:p>
                      <a:pPr algn="l"/>
                      <a:r>
                        <a:rPr sz="900" b="0">
                          <a:solidFill>
                            <a:srgbClr val="E6EDF3"/>
                          </a:solidFill>
                          <a:latin typeface="Segoe UI"/>
                        </a:rPr>
                        <a:t>medium</a:t>
                      </a:r>
                    </a:p>
                  </a:txBody>
                  <a:tcPr marL="64008" marR="64008" marT="27432" marB="27432" anchor="ctr">
                    <a:solidFill>
                      <a:srgbClr val="11161D"/>
                    </a:solidFill>
                  </a:tcPr>
                </a:tc>
                <a:tc>
                  <a:txBody>
                    <a:bodyPr wrap="square"/>
                    <a:lstStyle/>
                    <a:p>
                      <a:pPr algn="r"/>
                      <a:r>
                        <a:rPr sz="900" b="0">
                          <a:solidFill>
                            <a:srgbClr val="E6EDF3"/>
                          </a:solidFill>
                          <a:latin typeface="Segoe UI"/>
                        </a:rPr>
                        <a:t>40</a:t>
                      </a:r>
                    </a:p>
                  </a:txBody>
                  <a:tcPr marL="64008" marR="64008" marT="27432" marB="27432" anchor="ctr">
                    <a:solidFill>
                      <a:srgbClr val="11161D"/>
                    </a:solidFill>
                  </a:tcPr>
                </a:tc>
                <a:tc>
                  <a:txBody>
                    <a:bodyPr wrap="square"/>
                    <a:lstStyle/>
                    <a:p>
                      <a:pPr algn="l"/>
                      <a:r>
                        <a:rPr sz="900" b="0">
                          <a:solidFill>
                            <a:srgbClr val="E6EDF3"/>
                          </a:solidFill>
                          <a:latin typeface="Segoe UI"/>
                        </a:rPr>
                        <a:t>24 (6×4)</a:t>
                      </a:r>
                    </a:p>
                  </a:txBody>
                  <a:tcPr marL="64008" marR="64008" marT="27432" marB="27432" anchor="ctr">
                    <a:solidFill>
                      <a:srgbClr val="11161D"/>
                    </a:solidFill>
                  </a:tcPr>
                </a:tc>
                <a:tc>
                  <a:txBody>
                    <a:bodyPr wrap="square"/>
                    <a:lstStyle/>
                    <a:p>
                      <a:pPr algn="r"/>
                      <a:r>
                        <a:rPr sz="900" b="0">
                          <a:solidFill>
                            <a:srgbClr val="E6EDF3"/>
                          </a:solidFill>
                          <a:latin typeface="Segoe UI"/>
                        </a:rPr>
                        <a:t>8</a:t>
                      </a:r>
                    </a:p>
                  </a:txBody>
                  <a:tcPr marL="64008" marR="64008" marT="27432" marB="27432" anchor="ctr">
                    <a:solidFill>
                      <a:srgbClr val="11161D"/>
                    </a:solidFill>
                  </a:tcPr>
                </a:tc>
                <a:tc>
                  <a:txBody>
                    <a:bodyPr wrap="square"/>
                    <a:lstStyle/>
                    <a:p>
                      <a:pPr algn="r"/>
                      <a:r>
                        <a:rPr sz="900" b="0">
                          <a:solidFill>
                            <a:srgbClr val="E6EDF3"/>
                          </a:solidFill>
                          <a:latin typeface="Segoe UI"/>
                        </a:rPr>
                        <a:t>10</a:t>
                      </a:r>
                    </a:p>
                  </a:txBody>
                  <a:tcPr marL="64008" marR="64008" marT="27432" marB="27432" anchor="ctr">
                    <a:solidFill>
                      <a:srgbClr val="11161D"/>
                    </a:solidFill>
                  </a:tcPr>
                </a:tc>
                <a:tc>
                  <a:txBody>
                    <a:bodyPr wrap="square"/>
                    <a:lstStyle/>
                    <a:p>
                      <a:pPr algn="r"/>
                      <a:r>
                        <a:rPr sz="900" b="0">
                          <a:solidFill>
                            <a:srgbClr val="E6EDF3"/>
                          </a:solidFill>
                          <a:latin typeface="Segoe UI"/>
                        </a:rPr>
                        <a:t>2,000</a:t>
                      </a:r>
                    </a:p>
                  </a:txBody>
                  <a:tcPr marL="64008" marR="64008" marT="27432" marB="27432" anchor="ctr">
                    <a:solidFill>
                      <a:srgbClr val="11161D"/>
                    </a:solidFill>
                  </a:tcPr>
                </a:tc>
                <a:tc>
                  <a:txBody>
                    <a:bodyPr wrap="square"/>
                    <a:lstStyle/>
                    <a:p>
                      <a:pPr algn="r"/>
                      <a:r>
                        <a:rPr sz="900" b="0">
                          <a:solidFill>
                            <a:srgbClr val="E6EDF3"/>
                          </a:solidFill>
                          <a:latin typeface="Segoe UI"/>
                        </a:rPr>
                        <a:t>60,000</a:t>
                      </a:r>
                    </a:p>
                  </a:txBody>
                  <a:tcPr marL="64008" marR="64008" marT="27432" marB="27432" anchor="ctr">
                    <a:solidFill>
                      <a:srgbClr val="11161D"/>
                    </a:solidFill>
                  </a:tcPr>
                </a:tc>
                <a:tc>
                  <a:txBody>
                    <a:bodyPr wrap="square"/>
                    <a:lstStyle/>
                    <a:p>
                      <a:pPr algn="r"/>
                      <a:r>
                        <a:rPr sz="900" b="0">
                          <a:solidFill>
                            <a:srgbClr val="E6EDF3"/>
                          </a:solidFill>
                          <a:latin typeface="Segoe UI"/>
                        </a:rPr>
                        <a:t>1000</a:t>
                      </a:r>
                    </a:p>
                  </a:txBody>
                  <a:tcPr marL="64008" marR="64008" marT="27432" marB="27432" anchor="ctr">
                    <a:solidFill>
                      <a:srgbClr val="11161D"/>
                    </a:solidFill>
                  </a:tcPr>
                </a:tc>
                <a:tc>
                  <a:txBody>
                    <a:bodyPr wrap="square"/>
                    <a:lstStyle/>
                    <a:p>
                      <a:pPr algn="l"/>
                      <a:r>
                        <a:rPr sz="900" b="0">
                          <a:solidFill>
                            <a:srgbClr val="E6EDF3"/>
                          </a:solidFill>
                          <a:latin typeface="Segoe UI"/>
                        </a:rPr>
                        <a:t>77×53</a:t>
                      </a:r>
                    </a:p>
                  </a:txBody>
                  <a:tcPr marL="64008" marR="64008" marT="27432" marB="27432" anchor="ctr">
                    <a:solidFill>
                      <a:srgbClr val="11161D"/>
                    </a:solidFill>
                  </a:tcPr>
                </a:tc>
                <a:tc>
                  <a:txBody>
                    <a:bodyPr wrap="square"/>
                    <a:lstStyle/>
                    <a:p>
                      <a:pPr algn="r"/>
                      <a:r>
                        <a:rPr sz="900" b="0">
                          <a:solidFill>
                            <a:srgbClr val="E6EDF3"/>
                          </a:solidFill>
                          <a:latin typeface="Segoe UI"/>
                        </a:rPr>
                        <a:t>1,152</a:t>
                      </a:r>
                    </a:p>
                  </a:txBody>
                  <a:tcPr marL="64008" marR="64008" marT="27432" marB="27432" anchor="ctr">
                    <a:solidFill>
                      <a:srgbClr val="11161D"/>
                    </a:solidFill>
                  </a:tcPr>
                </a:tc>
              </a:tr>
              <a:tr h="429768">
                <a:tc>
                  <a:txBody>
                    <a:bodyPr wrap="square"/>
                    <a:lstStyle/>
                    <a:p>
                      <a:pPr algn="l"/>
                      <a:r>
                        <a:rPr sz="900" b="0">
                          <a:solidFill>
                            <a:srgbClr val="E6EDF3"/>
                          </a:solidFill>
                          <a:latin typeface="Segoe UI"/>
                        </a:rPr>
                        <a:t>large</a:t>
                      </a:r>
                    </a:p>
                  </a:txBody>
                  <a:tcPr marL="64008" marR="64008" marT="27432" marB="27432" anchor="ctr">
                    <a:solidFill>
                      <a:srgbClr val="0E1319"/>
                    </a:solidFill>
                  </a:tcPr>
                </a:tc>
                <a:tc>
                  <a:txBody>
                    <a:bodyPr wrap="square"/>
                    <a:lstStyle/>
                    <a:p>
                      <a:pPr algn="r"/>
                      <a:r>
                        <a:rPr sz="900" b="0">
                          <a:solidFill>
                            <a:srgbClr val="E6EDF3"/>
                          </a:solidFill>
                          <a:latin typeface="Segoe UI"/>
                        </a:rPr>
                        <a:t>100</a:t>
                      </a:r>
                    </a:p>
                  </a:txBody>
                  <a:tcPr marL="64008" marR="64008" marT="27432" marB="27432" anchor="ctr">
                    <a:solidFill>
                      <a:srgbClr val="0E1319"/>
                    </a:solidFill>
                  </a:tcPr>
                </a:tc>
                <a:tc>
                  <a:txBody>
                    <a:bodyPr wrap="square"/>
                    <a:lstStyle/>
                    <a:p>
                      <a:pPr algn="l"/>
                      <a:r>
                        <a:rPr sz="900" b="0">
                          <a:solidFill>
                            <a:srgbClr val="E6EDF3"/>
                          </a:solidFill>
                          <a:latin typeface="Segoe UI"/>
                        </a:rPr>
                        <a:t>50 (10×5)</a:t>
                      </a:r>
                    </a:p>
                  </a:txBody>
                  <a:tcPr marL="64008" marR="64008" marT="27432" marB="27432" anchor="ctr">
                    <a:solidFill>
                      <a:srgbClr val="0E1319"/>
                    </a:solidFill>
                  </a:tcPr>
                </a:tc>
                <a:tc>
                  <a:txBody>
                    <a:bodyPr wrap="square"/>
                    <a:lstStyle/>
                    <a:p>
                      <a:pPr algn="r"/>
                      <a:r>
                        <a:rPr sz="900" b="0">
                          <a:solidFill>
                            <a:srgbClr val="E6EDF3"/>
                          </a:solidFill>
                          <a:latin typeface="Segoe UI"/>
                        </a:rPr>
                        <a:t>16</a:t>
                      </a:r>
                    </a:p>
                  </a:txBody>
                  <a:tcPr marL="64008" marR="64008" marT="27432" marB="27432" anchor="ctr">
                    <a:solidFill>
                      <a:srgbClr val="0E1319"/>
                    </a:solidFill>
                  </a:tcPr>
                </a:tc>
                <a:tc>
                  <a:txBody>
                    <a:bodyPr wrap="square"/>
                    <a:lstStyle/>
                    <a:p>
                      <a:pPr algn="r"/>
                      <a:r>
                        <a:rPr sz="900" b="0">
                          <a:solidFill>
                            <a:srgbClr val="E6EDF3"/>
                          </a:solidFill>
                          <a:latin typeface="Segoe UI"/>
                        </a:rPr>
                        <a:t>24</a:t>
                      </a:r>
                    </a:p>
                  </a:txBody>
                  <a:tcPr marL="64008" marR="64008" marT="27432" marB="27432" anchor="ctr">
                    <a:solidFill>
                      <a:srgbClr val="0E1319"/>
                    </a:solidFill>
                  </a:tcPr>
                </a:tc>
                <a:tc>
                  <a:txBody>
                    <a:bodyPr wrap="square"/>
                    <a:lstStyle/>
                    <a:p>
                      <a:pPr algn="r"/>
                      <a:r>
                        <a:rPr sz="900" b="0">
                          <a:solidFill>
                            <a:srgbClr val="E6EDF3"/>
                          </a:solidFill>
                          <a:latin typeface="Segoe UI"/>
                        </a:rPr>
                        <a:t>5,000</a:t>
                      </a:r>
                    </a:p>
                  </a:txBody>
                  <a:tcPr marL="64008" marR="64008" marT="27432" marB="27432" anchor="ctr">
                    <a:solidFill>
                      <a:srgbClr val="0E1319"/>
                    </a:solidFill>
                  </a:tcPr>
                </a:tc>
                <a:tc>
                  <a:txBody>
                    <a:bodyPr wrap="square"/>
                    <a:lstStyle/>
                    <a:p>
                      <a:pPr algn="r"/>
                      <a:r>
                        <a:rPr sz="900" b="0">
                          <a:solidFill>
                            <a:srgbClr val="E6EDF3"/>
                          </a:solidFill>
                          <a:latin typeface="Segoe UI"/>
                        </a:rPr>
                        <a:t>150,000</a:t>
                      </a:r>
                    </a:p>
                  </a:txBody>
                  <a:tcPr marL="64008" marR="64008" marT="27432" marB="27432" anchor="ctr">
                    <a:solidFill>
                      <a:srgbClr val="0E1319"/>
                    </a:solidFill>
                  </a:tcPr>
                </a:tc>
                <a:tc>
                  <a:txBody>
                    <a:bodyPr wrap="square"/>
                    <a:lstStyle/>
                    <a:p>
                      <a:pPr algn="r"/>
                      <a:r>
                        <a:rPr sz="900" b="0">
                          <a:solidFill>
                            <a:srgbClr val="E6EDF3"/>
                          </a:solidFill>
                          <a:latin typeface="Segoe UI"/>
                        </a:rPr>
                        <a:t>1800</a:t>
                      </a:r>
                    </a:p>
                  </a:txBody>
                  <a:tcPr marL="64008" marR="64008" marT="27432" marB="27432" anchor="ctr">
                    <a:solidFill>
                      <a:srgbClr val="0E1319"/>
                    </a:solidFill>
                  </a:tcPr>
                </a:tc>
                <a:tc>
                  <a:txBody>
                    <a:bodyPr wrap="square"/>
                    <a:lstStyle/>
                    <a:p>
                      <a:pPr algn="l"/>
                      <a:r>
                        <a:rPr sz="900" b="0">
                          <a:solidFill>
                            <a:srgbClr val="E6EDF3"/>
                          </a:solidFill>
                          <a:latin typeface="Segoe UI"/>
                        </a:rPr>
                        <a:t>125×65</a:t>
                      </a:r>
                    </a:p>
                  </a:txBody>
                  <a:tcPr marL="64008" marR="64008" marT="27432" marB="27432" anchor="ctr">
                    <a:solidFill>
                      <a:srgbClr val="0E1319"/>
                    </a:solidFill>
                  </a:tcPr>
                </a:tc>
                <a:tc>
                  <a:txBody>
                    <a:bodyPr wrap="square"/>
                    <a:lstStyle/>
                    <a:p>
                      <a:pPr algn="r"/>
                      <a:r>
                        <a:rPr sz="900" b="0">
                          <a:solidFill>
                            <a:srgbClr val="E6EDF3"/>
                          </a:solidFill>
                          <a:latin typeface="Segoe UI"/>
                        </a:rPr>
                        <a:t>2,400</a:t>
                      </a:r>
                    </a:p>
                  </a:txBody>
                  <a:tcPr marL="64008" marR="64008" marT="27432" marB="27432" anchor="ctr">
                    <a:solidFill>
                      <a:srgbClr val="0E1319"/>
                    </a:solidFill>
                  </a:tcPr>
                </a:tc>
              </a:tr>
            </a:tbl>
          </a:graphicData>
        </a:graphic>
      </p:graphicFrame>
      <p:sp>
        <p:nvSpPr>
          <p:cNvPr id="11" name="TextBox 10"/>
          <p:cNvSpPr txBox="1"/>
          <p:nvPr/>
        </p:nvSpPr>
        <p:spPr>
          <a:xfrm>
            <a:off x="5897880" y="3611880"/>
            <a:ext cx="5760720" cy="457200"/>
          </a:xfrm>
          <a:prstGeom prst="rect">
            <a:avLst/>
          </a:prstGeom>
          <a:noFill/>
        </p:spPr>
        <p:txBody>
          <a:bodyPr wrap="square" anchor="t" lIns="36576" rIns="36576" tIns="36576" bIns="36576">
            <a:spAutoFit/>
          </a:bodyPr>
          <a:lstStyle/>
          <a:p>
            <a:pPr algn="l">
              <a:lnSpc>
                <a:spcPct val="110000"/>
              </a:lnSpc>
              <a:spcAft>
                <a:spcPts val="400"/>
              </a:spcAft>
            </a:pPr>
            <a:r>
              <a:rPr sz="950" b="0" i="0">
                <a:solidFill>
                  <a:srgbClr val="8B98A5"/>
                </a:solidFill>
                <a:latin typeface="Segoe UI"/>
              </a:rPr>
              <a:t>Base demand × hourly profile (08:00–18:00 operating window). The small world is the calibrated demo: ≈ 4,000 orders/day, 12 robots, near capacity at the late-morning peak.</a:t>
            </a:r>
          </a:p>
        </p:txBody>
      </p:sp>
      <p:sp>
        <p:nvSpPr>
          <p:cNvPr id="12" name="Rounded Rectangle 11"/>
          <p:cNvSpPr/>
          <p:nvPr/>
        </p:nvSpPr>
        <p:spPr>
          <a:xfrm>
            <a:off x="5897880" y="4206240"/>
            <a:ext cx="1828800" cy="100584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07608" y="4297679"/>
            <a:ext cx="1609344" cy="553212"/>
          </a:xfrm>
          <a:prstGeom prst="rect">
            <a:avLst/>
          </a:prstGeom>
          <a:noFill/>
        </p:spPr>
        <p:txBody>
          <a:bodyPr wrap="square" anchor="ctr" lIns="36576" rIns="36576" tIns="36576" bIns="36576">
            <a:spAutoFit/>
          </a:bodyPr>
          <a:lstStyle/>
          <a:p>
            <a:pPr algn="l">
              <a:lnSpc>
                <a:spcPct val="110000"/>
              </a:lnSpc>
              <a:spcAft>
                <a:spcPts val="400"/>
              </a:spcAft>
            </a:pPr>
            <a:r>
              <a:rPr sz="1800" b="1" i="0">
                <a:solidFill>
                  <a:srgbClr val="22D3EE"/>
                </a:solidFill>
                <a:latin typeface="Consolas"/>
              </a:rPr>
              <a:t>5 / 26 ms</a:t>
            </a:r>
          </a:p>
        </p:txBody>
      </p:sp>
      <p:sp>
        <p:nvSpPr>
          <p:cNvPr id="14" name="TextBox 13"/>
          <p:cNvSpPr txBox="1"/>
          <p:nvPr/>
        </p:nvSpPr>
        <p:spPr>
          <a:xfrm>
            <a:off x="6007608" y="4789627"/>
            <a:ext cx="1609344" cy="402336"/>
          </a:xfrm>
          <a:prstGeom prst="rect">
            <a:avLst/>
          </a:prstGeom>
          <a:noFill/>
        </p:spPr>
        <p:txBody>
          <a:bodyPr wrap="square" anchor="t" lIns="36576" rIns="36576" tIns="36576" bIns="36576">
            <a:spAutoFit/>
          </a:bodyPr>
          <a:lstStyle/>
          <a:p>
            <a:pPr algn="l">
              <a:lnSpc>
                <a:spcPct val="105000"/>
              </a:lnSpc>
              <a:spcAft>
                <a:spcPts val="400"/>
              </a:spcAft>
            </a:pPr>
            <a:r>
              <a:rPr sz="1000" b="0" i="0">
                <a:solidFill>
                  <a:srgbClr val="8B98A5"/>
                </a:solidFill>
                <a:latin typeface="Segoe UI"/>
              </a:rPr>
              <a:t>world fork (small / large) — pickle round-trip</a:t>
            </a:r>
          </a:p>
        </p:txBody>
      </p:sp>
      <p:sp>
        <p:nvSpPr>
          <p:cNvPr id="15" name="Rounded Rectangle 14"/>
          <p:cNvSpPr/>
          <p:nvPr/>
        </p:nvSpPr>
        <p:spPr>
          <a:xfrm>
            <a:off x="7863840" y="4206240"/>
            <a:ext cx="1828800" cy="100584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73567" y="4297679"/>
            <a:ext cx="1609344" cy="553212"/>
          </a:xfrm>
          <a:prstGeom prst="rect">
            <a:avLst/>
          </a:prstGeom>
          <a:noFill/>
        </p:spPr>
        <p:txBody>
          <a:bodyPr wrap="square" anchor="ctr" lIns="36576" rIns="36576" tIns="36576" bIns="36576">
            <a:spAutoFit/>
          </a:bodyPr>
          <a:lstStyle/>
          <a:p>
            <a:pPr algn="l">
              <a:lnSpc>
                <a:spcPct val="110000"/>
              </a:lnSpc>
              <a:spcAft>
                <a:spcPts val="400"/>
              </a:spcAft>
            </a:pPr>
            <a:r>
              <a:rPr sz="1800" b="1" i="0">
                <a:solidFill>
                  <a:srgbClr val="A78BFA"/>
                </a:solidFill>
                <a:latin typeface="Consolas"/>
              </a:rPr>
              <a:t>SHA-256</a:t>
            </a:r>
          </a:p>
        </p:txBody>
      </p:sp>
      <p:sp>
        <p:nvSpPr>
          <p:cNvPr id="17" name="TextBox 16"/>
          <p:cNvSpPr txBox="1"/>
          <p:nvPr/>
        </p:nvSpPr>
        <p:spPr>
          <a:xfrm>
            <a:off x="7973567" y="4789627"/>
            <a:ext cx="1609344" cy="402336"/>
          </a:xfrm>
          <a:prstGeom prst="rect">
            <a:avLst/>
          </a:prstGeom>
          <a:noFill/>
        </p:spPr>
        <p:txBody>
          <a:bodyPr wrap="square" anchor="t" lIns="36576" rIns="36576" tIns="36576" bIns="36576">
            <a:spAutoFit/>
          </a:bodyPr>
          <a:lstStyle/>
          <a:p>
            <a:pPr algn="l">
              <a:lnSpc>
                <a:spcPct val="105000"/>
              </a:lnSpc>
              <a:spcAft>
                <a:spcPts val="400"/>
              </a:spcAft>
            </a:pPr>
            <a:r>
              <a:rPr sz="1000" b="0" i="0">
                <a:solidFill>
                  <a:srgbClr val="8B98A5"/>
                </a:solidFill>
                <a:latin typeface="Segoe UI"/>
              </a:rPr>
              <a:t>deterministic digest of all behaviour-relevant state</a:t>
            </a:r>
          </a:p>
        </p:txBody>
      </p:sp>
      <p:sp>
        <p:nvSpPr>
          <p:cNvPr id="18" name="Rounded Rectangle 17"/>
          <p:cNvSpPr/>
          <p:nvPr/>
        </p:nvSpPr>
        <p:spPr>
          <a:xfrm>
            <a:off x="9829800" y="4206240"/>
            <a:ext cx="1828800" cy="100584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939528" y="4297679"/>
            <a:ext cx="1609344" cy="553212"/>
          </a:xfrm>
          <a:prstGeom prst="rect">
            <a:avLst/>
          </a:prstGeom>
          <a:noFill/>
        </p:spPr>
        <p:txBody>
          <a:bodyPr wrap="square" anchor="ctr" lIns="36576" rIns="36576" tIns="36576" bIns="36576">
            <a:spAutoFit/>
          </a:bodyPr>
          <a:lstStyle/>
          <a:p>
            <a:pPr algn="l">
              <a:lnSpc>
                <a:spcPct val="110000"/>
              </a:lnSpc>
              <a:spcAft>
                <a:spcPts val="400"/>
              </a:spcAft>
            </a:pPr>
            <a:r>
              <a:rPr sz="1800" b="1" i="0">
                <a:solidFill>
                  <a:srgbClr val="F59E0B"/>
                </a:solidFill>
                <a:latin typeface="Consolas"/>
              </a:rPr>
              <a:t>2,400</a:t>
            </a:r>
          </a:p>
        </p:txBody>
      </p:sp>
      <p:sp>
        <p:nvSpPr>
          <p:cNvPr id="20" name="TextBox 19"/>
          <p:cNvSpPr txBox="1"/>
          <p:nvPr/>
        </p:nvSpPr>
        <p:spPr>
          <a:xfrm>
            <a:off x="9939528" y="4789627"/>
            <a:ext cx="1609344" cy="402336"/>
          </a:xfrm>
          <a:prstGeom prst="rect">
            <a:avLst/>
          </a:prstGeom>
          <a:noFill/>
        </p:spPr>
        <p:txBody>
          <a:bodyPr wrap="square" anchor="t" lIns="36576" rIns="36576" tIns="36576" bIns="36576">
            <a:spAutoFit/>
          </a:bodyPr>
          <a:lstStyle/>
          <a:p>
            <a:pPr algn="l">
              <a:lnSpc>
                <a:spcPct val="105000"/>
              </a:lnSpc>
              <a:spcAft>
                <a:spcPts val="400"/>
              </a:spcAft>
            </a:pPr>
            <a:r>
              <a:rPr sz="1000" b="0" i="0">
                <a:solidFill>
                  <a:srgbClr val="8B98A5"/>
                </a:solidFill>
                <a:latin typeface="Segoe UI"/>
              </a:rPr>
              <a:t>shelves · 150k units · 100 robots at large scale</a:t>
            </a:r>
          </a:p>
        </p:txBody>
      </p:sp>
      <p:sp>
        <p:nvSpPr>
          <p:cNvPr id="21" name="TextBox 20"/>
          <p:cNvSpPr txBox="1"/>
          <p:nvPr/>
        </p:nvSpPr>
        <p:spPr>
          <a:xfrm>
            <a:off x="548640" y="5394960"/>
            <a:ext cx="11064240" cy="822960"/>
          </a:xfrm>
          <a:prstGeom prst="rect">
            <a:avLst/>
          </a:prstGeom>
          <a:noFill/>
        </p:spPr>
        <p:txBody>
          <a:bodyPr wrap="square" anchor="t" lIns="36576" rIns="36576" tIns="36576" bIns="36576">
            <a:spAutoFit/>
          </a:bodyPr>
          <a:lstStyle/>
          <a:p>
            <a:pPr algn="l">
              <a:lnSpc>
                <a:spcPct val="120000"/>
              </a:lnSpc>
              <a:spcAft>
                <a:spcPts val="400"/>
              </a:spcAft>
            </a:pPr>
            <a:r>
              <a:rPr sz="1100" b="0" i="0">
                <a:solidFill>
                  <a:srgbClr val="8B98A5"/>
                </a:solidFill>
                <a:latin typeface="Segoe UI"/>
              </a:rPr>
              <a:t>Domain-agnostic by construction: the engine only knows entity shapes; a DomainModel (warehouse today) supplies the layout, demand and vocabulary. Spatial reasoning lives in a semantic graph derived from the world (R07 is_inside Zone C · Zone C adjacent_to C2 · ORD-8821 requires Shelf C-41).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D12"/>
        </a:solidFill>
        <a:effectLst/>
      </p:bgPr>
    </p:bg>
    <p:spTree>
      <p:nvGrpSpPr>
        <p:cNvPr id="1" name=""/>
        <p:cNvGrpSpPr/>
        <p:nvPr/>
      </p:nvGrpSpPr>
      <p:grpSpPr/>
      <p:sp>
        <p:nvSpPr>
          <p:cNvPr id="2" name="TextBox 1"/>
          <p:cNvSpPr txBox="1"/>
          <p:nvPr/>
        </p:nvSpPr>
        <p:spPr>
          <a:xfrm>
            <a:off x="548640" y="256032"/>
            <a:ext cx="8229600" cy="274320"/>
          </a:xfrm>
          <a:prstGeom prst="rect">
            <a:avLst/>
          </a:prstGeom>
          <a:noFill/>
        </p:spPr>
        <p:txBody>
          <a:bodyPr wrap="square" anchor="t" lIns="36576" rIns="36576" tIns="36576" bIns="36576">
            <a:spAutoFit/>
          </a:bodyPr>
          <a:lstStyle/>
          <a:p>
            <a:pPr algn="l">
              <a:lnSpc>
                <a:spcPct val="110000"/>
              </a:lnSpc>
              <a:spcAft>
                <a:spcPts val="400"/>
              </a:spcAft>
            </a:pPr>
            <a:r>
              <a:rPr sz="1050" b="1" i="0">
                <a:solidFill>
                  <a:srgbClr val="22D3EE"/>
                </a:solidFill>
                <a:latin typeface="Segoe UI"/>
              </a:rPr>
              <a:t>EVENT-SOURCED WORLD</a:t>
            </a:r>
          </a:p>
        </p:txBody>
      </p:sp>
      <p:sp>
        <p:nvSpPr>
          <p:cNvPr id="3" name="TextBox 2"/>
          <p:cNvSpPr txBox="1"/>
          <p:nvPr/>
        </p:nvSpPr>
        <p:spPr>
          <a:xfrm>
            <a:off x="548640" y="502920"/>
            <a:ext cx="10607040" cy="731520"/>
          </a:xfrm>
          <a:prstGeom prst="rect">
            <a:avLst/>
          </a:prstGeom>
          <a:noFill/>
        </p:spPr>
        <p:txBody>
          <a:bodyPr wrap="square" anchor="ctr" lIns="36576" rIns="36576" tIns="36576" bIns="36576">
            <a:spAutoFit/>
          </a:bodyPr>
          <a:lstStyle/>
          <a:p>
            <a:pPr algn="l">
              <a:lnSpc>
                <a:spcPct val="110000"/>
              </a:lnSpc>
              <a:spcAft>
                <a:spcPts val="400"/>
              </a:spcAft>
            </a:pPr>
            <a:r>
              <a:rPr sz="2400" b="1" i="0">
                <a:solidFill>
                  <a:srgbClr val="E6EDF3"/>
                </a:solidFill>
                <a:latin typeface="Segoe UI"/>
              </a:rPr>
              <a:t>Everything is an event: replayable, idempotent, auditable</a:t>
            </a:r>
          </a:p>
        </p:txBody>
      </p:sp>
      <p:sp>
        <p:nvSpPr>
          <p:cNvPr id="4" name="Rectangle 3"/>
          <p:cNvSpPr/>
          <p:nvPr/>
        </p:nvSpPr>
        <p:spPr>
          <a:xfrm>
            <a:off x="566928" y="1216152"/>
            <a:ext cx="100584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6400800" cy="274320"/>
          </a:xfrm>
          <a:prstGeom prst="rect">
            <a:avLst/>
          </a:prstGeom>
          <a:noFill/>
        </p:spPr>
        <p:txBody>
          <a:bodyPr wrap="square" anchor="t" lIns="36576" rIns="36576" tIns="36576" bIns="36576">
            <a:spAutoFit/>
          </a:bodyPr>
          <a:lstStyle/>
          <a:p>
            <a:pPr algn="l">
              <a:lnSpc>
                <a:spcPct val="110000"/>
              </a:lnSpc>
              <a:spcAft>
                <a:spcPts val="400"/>
              </a:spcAft>
            </a:pPr>
            <a:r>
              <a:rPr sz="950" b="0" i="0">
                <a:solidFill>
                  <a:srgbClr val="8B98A5"/>
                </a:solidFill>
                <a:latin typeface="Segoe UI"/>
              </a:rPr>
              <a:t>NEXUS · Autonomous Operations Intelligence</a:t>
            </a:r>
          </a:p>
        </p:txBody>
      </p:sp>
      <p:sp>
        <p:nvSpPr>
          <p:cNvPr id="6" name="TextBox 5"/>
          <p:cNvSpPr txBox="1"/>
          <p:nvPr/>
        </p:nvSpPr>
        <p:spPr>
          <a:xfrm>
            <a:off x="10607040" y="6446520"/>
            <a:ext cx="1051560" cy="274320"/>
          </a:xfrm>
          <a:prstGeom prst="rect">
            <a:avLst/>
          </a:prstGeom>
          <a:noFill/>
        </p:spPr>
        <p:txBody>
          <a:bodyPr wrap="square" anchor="t" lIns="36576" rIns="36576" tIns="36576" bIns="36576">
            <a:spAutoFit/>
          </a:bodyPr>
          <a:lstStyle/>
          <a:p>
            <a:pPr algn="r">
              <a:lnSpc>
                <a:spcPct val="110000"/>
              </a:lnSpc>
              <a:spcAft>
                <a:spcPts val="400"/>
              </a:spcAft>
            </a:pPr>
            <a:r>
              <a:rPr sz="950" b="0" i="0">
                <a:solidFill>
                  <a:srgbClr val="8B98A5"/>
                </a:solidFill>
                <a:latin typeface="Consolas"/>
              </a:rPr>
              <a:t>10</a:t>
            </a:r>
          </a:p>
        </p:txBody>
      </p:sp>
      <p:sp>
        <p:nvSpPr>
          <p:cNvPr id="7" name="TextBox 6"/>
          <p:cNvSpPr txBox="1"/>
          <p:nvPr/>
        </p:nvSpPr>
        <p:spPr>
          <a:xfrm>
            <a:off x="548640" y="1417320"/>
            <a:ext cx="5760720" cy="3931920"/>
          </a:xfrm>
          <a:prstGeom prst="rect">
            <a:avLst/>
          </a:prstGeom>
          <a:noFill/>
        </p:spPr>
        <p:txBody>
          <a:bodyPr wrap="square" lIns="45720" rIns="45720">
            <a:spAutoFit/>
          </a:bodyPr>
          <a:lstStyle/>
          <a:p>
            <a:pPr>
              <a:lnSpc>
                <a:spcPct val="112000"/>
              </a:lnSpc>
              <a:spcAft>
                <a:spcPts val="600"/>
              </a:spcAft>
            </a:pPr>
            <a:r>
              <a:rPr sz="1200" b="1">
                <a:solidFill>
                  <a:srgbClr val="22D3EE"/>
                </a:solidFill>
                <a:latin typeface="Segoe UI"/>
              </a:rPr>
              <a:t>•  </a:t>
            </a:r>
            <a:r>
              <a:rPr b="1" sz="1200">
                <a:solidFill>
                  <a:srgbClr val="E6EDF3"/>
                </a:solidFill>
                <a:latin typeface="Segoe UI"/>
              </a:rPr>
              <a:t>Typed, closed vocabulary. </a:t>
            </a:r>
            <a:r>
              <a:rPr sz="1200">
                <a:solidFill>
                  <a:srgbClr val="E6EDF3"/>
                </a:solidFill>
                <a:latin typeface="Segoe UI"/>
              </a:rPr>
              <a:t>orders, tasks, robots, workers, infrastructure, inventory, demand, plans, system — every change has a type and a payload.</a:t>
            </a:r>
          </a:p>
          <a:p>
            <a:pPr>
              <a:lnSpc>
                <a:spcPct val="112000"/>
              </a:lnSpc>
              <a:spcAft>
                <a:spcPts val="600"/>
              </a:spcAft>
            </a:pPr>
            <a:r>
              <a:rPr sz="1200" b="1">
                <a:solidFill>
                  <a:srgbClr val="22D3EE"/>
                </a:solidFill>
                <a:latin typeface="Segoe UI"/>
              </a:rPr>
              <a:t>•  </a:t>
            </a:r>
            <a:r>
              <a:rPr b="1" sz="1200">
                <a:solidFill>
                  <a:srgbClr val="E6EDF3"/>
                </a:solidFill>
                <a:latin typeface="Segoe UI"/>
              </a:rPr>
              <a:t>Append-only, idempotent store. </a:t>
            </a:r>
            <a:r>
              <a:rPr sz="1200">
                <a:solidFill>
                  <a:srgbClr val="E6EDF3"/>
                </a:solidFill>
                <a:latin typeface="Segoe UI"/>
              </a:rPr>
              <a:t>sequence numbers, idempotency keys for external commands (a retried command applies once), ring buffer for the live feed.</a:t>
            </a:r>
          </a:p>
          <a:p>
            <a:pPr>
              <a:lnSpc>
                <a:spcPct val="112000"/>
              </a:lnSpc>
              <a:spcAft>
                <a:spcPts val="600"/>
              </a:spcAft>
            </a:pPr>
            <a:r>
              <a:rPr sz="1200" b="1">
                <a:solidFill>
                  <a:srgbClr val="22D3EE"/>
                </a:solidFill>
                <a:latin typeface="Segoe UI"/>
              </a:rPr>
              <a:t>•  </a:t>
            </a:r>
            <a:r>
              <a:rPr b="1" sz="1200">
                <a:solidFill>
                  <a:srgbClr val="E6EDF3"/>
                </a:solidFill>
                <a:latin typeface="Segoe UI"/>
              </a:rPr>
              <a:t>Reducer-only mutation. </a:t>
            </a:r>
            <a:r>
              <a:rPr sz="1200">
                <a:solidFill>
                  <a:srgbClr val="E6EDF3"/>
                </a:solidFill>
                <a:latin typeface="Segoe UI"/>
              </a:rPr>
              <a:t>one pure function applies events to the world; engines and agents never poke at entities.</a:t>
            </a:r>
          </a:p>
          <a:p>
            <a:pPr>
              <a:lnSpc>
                <a:spcPct val="112000"/>
              </a:lnSpc>
              <a:spcAft>
                <a:spcPts val="600"/>
              </a:spcAft>
            </a:pPr>
            <a:r>
              <a:rPr sz="1200" b="1">
                <a:solidFill>
                  <a:srgbClr val="22D3EE"/>
                </a:solidFill>
                <a:latin typeface="Segoe UI"/>
              </a:rPr>
              <a:t>•  </a:t>
            </a:r>
            <a:r>
              <a:rPr b="1" sz="1200">
                <a:solidFill>
                  <a:srgbClr val="E6EDF3"/>
                </a:solidFill>
                <a:latin typeface="Segoe UI"/>
              </a:rPr>
              <a:t>Replay = snapshot + external events. </a:t>
            </a:r>
            <a:r>
              <a:rPr sz="1200">
                <a:solidFill>
                  <a:srgbClr val="E6EDF3"/>
                </a:solidFill>
                <a:latin typeface="Segoe UI"/>
              </a:rPr>
              <a:t>engine events are regenerated deterministically; the replayed world's digest equals the original (test gate).</a:t>
            </a:r>
          </a:p>
          <a:p>
            <a:pPr>
              <a:lnSpc>
                <a:spcPct val="112000"/>
              </a:lnSpc>
              <a:spcAft>
                <a:spcPts val="600"/>
              </a:spcAft>
            </a:pPr>
            <a:r>
              <a:rPr sz="1200" b="1">
                <a:solidFill>
                  <a:srgbClr val="22D3EE"/>
                </a:solidFill>
                <a:latin typeface="Segoe UI"/>
              </a:rPr>
              <a:t>•  </a:t>
            </a:r>
            <a:r>
              <a:rPr b="1" sz="1200">
                <a:solidFill>
                  <a:srgbClr val="E6EDF3"/>
                </a:solidFill>
                <a:latin typeface="Segoe UI"/>
              </a:rPr>
              <a:t>Attribution. </a:t>
            </a:r>
            <a:r>
              <a:rPr sz="1200">
                <a:solidFill>
                  <a:srgbClr val="E6EDF3"/>
                </a:solidFill>
                <a:latin typeface="Segoe UI"/>
              </a:rPr>
              <a:t>origin (engine · scenario · agent · user), cause (plan id) and key on every event — an audit trail for free.</a:t>
            </a:r>
          </a:p>
          <a:p>
            <a:pPr>
              <a:lnSpc>
                <a:spcPct val="112000"/>
              </a:lnSpc>
              <a:spcAft>
                <a:spcPts val="600"/>
              </a:spcAft>
            </a:pPr>
            <a:r>
              <a:rPr sz="1200" b="1">
                <a:solidFill>
                  <a:srgbClr val="22D3EE"/>
                </a:solidFill>
                <a:latin typeface="Segoe UI"/>
              </a:rPr>
              <a:t>•  </a:t>
            </a:r>
            <a:r>
              <a:rPr b="1" sz="1200">
                <a:solidFill>
                  <a:srgbClr val="E6EDF3"/>
                </a:solidFill>
                <a:latin typeface="Segoe UI"/>
              </a:rPr>
              <a:t>Ephemeral kinematics. </a:t>
            </a:r>
            <a:r>
              <a:rPr sz="1200">
                <a:solidFill>
                  <a:srgbClr val="E6EDF3"/>
                </a:solidFill>
                <a:latin typeface="Segoe UI"/>
              </a:rPr>
              <a:t>per-tick movement events are streamed to observers but not persisted; the engine reproduces them.</a:t>
            </a:r>
          </a:p>
        </p:txBody>
      </p:sp>
      <p:sp>
        <p:nvSpPr>
          <p:cNvPr id="8" name="Rounded Rectangle 7"/>
          <p:cNvSpPr/>
          <p:nvPr/>
        </p:nvSpPr>
        <p:spPr>
          <a:xfrm>
            <a:off x="6675120" y="1463040"/>
            <a:ext cx="4937760" cy="548640"/>
          </a:xfrm>
          <a:prstGeom prst="roundRect">
            <a:avLst>
              <a:gd name="adj" fmla="val 12000"/>
            </a:avLst>
          </a:prstGeom>
          <a:solidFill>
            <a:srgbClr val="11161D"/>
          </a:solidFill>
          <a:ln w="12700">
            <a:solidFill>
              <a:srgbClr val="8B98A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50" b="1">
                <a:solidFill>
                  <a:srgbClr val="8B98A5"/>
                </a:solidFill>
                <a:latin typeface="Segoe UI"/>
              </a:rPr>
              <a:t>Engine · agents · users emit</a:t>
            </a:r>
          </a:p>
        </p:txBody>
      </p:sp>
      <p:cxnSp>
        <p:nvCxnSpPr>
          <p:cNvPr id="9" name="Connector 8"/>
          <p:cNvCxnSpPr/>
          <p:nvPr/>
        </p:nvCxnSpPr>
        <p:spPr>
          <a:xfrm>
            <a:off x="9144000" y="2011680"/>
            <a:ext cx="0" cy="320040"/>
          </a:xfrm>
          <a:prstGeom prst="line">
            <a:avLst/>
          </a:prstGeom>
          <a:ln w="15875">
            <a:solidFill>
              <a:srgbClr val="8B98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675120" y="2331720"/>
            <a:ext cx="4937760" cy="548640"/>
          </a:xfrm>
          <a:prstGeom prst="roundRect">
            <a:avLst>
              <a:gd name="adj" fmla="val 12000"/>
            </a:avLst>
          </a:prstGeom>
          <a:solidFill>
            <a:srgbClr val="11161D"/>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50" b="1">
                <a:solidFill>
                  <a:srgbClr val="A78BFA"/>
                </a:solidFill>
                <a:latin typeface="Segoe UI"/>
              </a:rPr>
              <a:t>Event store — seq, idempotency key, ring buffer</a:t>
            </a:r>
          </a:p>
        </p:txBody>
      </p:sp>
      <p:cxnSp>
        <p:nvCxnSpPr>
          <p:cNvPr id="11" name="Connector 10"/>
          <p:cNvCxnSpPr/>
          <p:nvPr/>
        </p:nvCxnSpPr>
        <p:spPr>
          <a:xfrm>
            <a:off x="9144000" y="2880360"/>
            <a:ext cx="0" cy="320040"/>
          </a:xfrm>
          <a:prstGeom prst="line">
            <a:avLst/>
          </a:prstGeom>
          <a:ln w="15875">
            <a:solidFill>
              <a:srgbClr val="8B98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675120" y="3200400"/>
            <a:ext cx="4937760" cy="548640"/>
          </a:xfrm>
          <a:prstGeom prst="roundRect">
            <a:avLst>
              <a:gd name="adj" fmla="val 12000"/>
            </a:avLst>
          </a:prstGeom>
          <a:solidFill>
            <a:srgbClr val="11161D"/>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50" b="1">
                <a:solidFill>
                  <a:srgbClr val="22D3EE"/>
                </a:solidFill>
                <a:latin typeface="Segoe UI"/>
              </a:rPr>
              <a:t>Reducer — pure, the only writer</a:t>
            </a:r>
          </a:p>
        </p:txBody>
      </p:sp>
      <p:cxnSp>
        <p:nvCxnSpPr>
          <p:cNvPr id="13" name="Connector 12"/>
          <p:cNvCxnSpPr/>
          <p:nvPr/>
        </p:nvCxnSpPr>
        <p:spPr>
          <a:xfrm>
            <a:off x="9144000" y="3749039"/>
            <a:ext cx="0" cy="320041"/>
          </a:xfrm>
          <a:prstGeom prst="line">
            <a:avLst/>
          </a:prstGeom>
          <a:ln w="15875">
            <a:solidFill>
              <a:srgbClr val="8B98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675120" y="4069079"/>
            <a:ext cx="4937760" cy="548640"/>
          </a:xfrm>
          <a:prstGeom prst="roundRect">
            <a:avLst>
              <a:gd name="adj" fmla="val 12000"/>
            </a:avLst>
          </a:prstGeom>
          <a:solidFill>
            <a:srgbClr val="11161D"/>
          </a:solidFill>
          <a:ln w="12700">
            <a:solidFill>
              <a:srgbClr val="E6EDF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50" b="1">
                <a:solidFill>
                  <a:srgbClr val="E6EDF3"/>
                </a:solidFill>
                <a:latin typeface="Segoe UI"/>
              </a:rPr>
              <a:t>World state</a:t>
            </a:r>
          </a:p>
        </p:txBody>
      </p:sp>
      <p:cxnSp>
        <p:nvCxnSpPr>
          <p:cNvPr id="15" name="Connector 14"/>
          <p:cNvCxnSpPr/>
          <p:nvPr/>
        </p:nvCxnSpPr>
        <p:spPr>
          <a:xfrm>
            <a:off x="9144000" y="4617719"/>
            <a:ext cx="0" cy="320040"/>
          </a:xfrm>
          <a:prstGeom prst="line">
            <a:avLst/>
          </a:prstGeom>
          <a:ln w="15875">
            <a:solidFill>
              <a:srgbClr val="8B98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675120" y="4937760"/>
            <a:ext cx="4937760" cy="548640"/>
          </a:xfrm>
          <a:prstGeom prst="roundRect">
            <a:avLst>
              <a:gd name="adj" fmla="val 12000"/>
            </a:avLst>
          </a:prstGeom>
          <a:solidFill>
            <a:srgbClr val="11161D"/>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50" b="1">
                <a:solidFill>
                  <a:srgbClr val="22C55E"/>
                </a:solidFill>
                <a:latin typeface="Segoe UI"/>
              </a:rPr>
              <a:t>Bus → UI · persistence · metrics</a:t>
            </a:r>
          </a:p>
        </p:txBody>
      </p:sp>
      <p:sp>
        <p:nvSpPr>
          <p:cNvPr id="17" name="TextBox 16"/>
          <p:cNvSpPr txBox="1"/>
          <p:nvPr/>
        </p:nvSpPr>
        <p:spPr>
          <a:xfrm>
            <a:off x="6675120" y="5806440"/>
            <a:ext cx="4937760" cy="457200"/>
          </a:xfrm>
          <a:prstGeom prst="rect">
            <a:avLst/>
          </a:prstGeom>
          <a:noFill/>
        </p:spPr>
        <p:txBody>
          <a:bodyPr wrap="square" anchor="t" lIns="36576" rIns="36576" tIns="36576" bIns="36576">
            <a:spAutoFit/>
          </a:bodyPr>
          <a:lstStyle/>
          <a:p>
            <a:pPr algn="l">
              <a:lnSpc>
                <a:spcPct val="110000"/>
              </a:lnSpc>
              <a:spcAft>
                <a:spcPts val="400"/>
              </a:spcAft>
            </a:pPr>
            <a:r>
              <a:rPr sz="950" b="0" i="1">
                <a:solidFill>
                  <a:srgbClr val="8B98A5"/>
                </a:solidFill>
                <a:latin typeface="Segoe UI"/>
              </a:rPr>
              <a:t>Replay verified: snapshot + 3 external events → identical SHA-256 digest (tests/test_simulation.py).</a:t>
            </a:r>
          </a:p>
        </p:txBody>
      </p:sp>
      <p:sp>
        <p:nvSpPr>
          <p:cNvPr id="18" name="Rounded Rectangle 17"/>
          <p:cNvSpPr/>
          <p:nvPr/>
        </p:nvSpPr>
        <p:spPr>
          <a:xfrm>
            <a:off x="548640" y="5486400"/>
            <a:ext cx="1152144" cy="292608"/>
          </a:xfrm>
          <a:prstGeom prst="roundRect">
            <a:avLst>
              <a:gd name="adj" fmla="val 50000"/>
            </a:avLst>
          </a:prstGeom>
          <a:solidFill>
            <a:srgbClr val="11161D"/>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9144" bIns="9144"/>
          <a:lstStyle/>
          <a:p>
            <a:pPr algn="ctr"/>
            <a:r>
              <a:rPr sz="700" b="1">
                <a:solidFill>
                  <a:srgbClr val="22D3EE"/>
                </a:solidFill>
                <a:latin typeface="Segoe UI"/>
              </a:rPr>
              <a:t>ORDER_CREATED</a:t>
            </a:r>
          </a:p>
        </p:txBody>
      </p:sp>
      <p:sp>
        <p:nvSpPr>
          <p:cNvPr id="19" name="Rounded Rectangle 18"/>
          <p:cNvSpPr/>
          <p:nvPr/>
        </p:nvSpPr>
        <p:spPr>
          <a:xfrm>
            <a:off x="1764792" y="5486400"/>
            <a:ext cx="1152144" cy="292608"/>
          </a:xfrm>
          <a:prstGeom prst="roundRect">
            <a:avLst>
              <a:gd name="adj" fmla="val 50000"/>
            </a:avLst>
          </a:prstGeom>
          <a:solidFill>
            <a:srgbClr val="11161D"/>
          </a:solidFill>
          <a:ln w="1143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tIns="9144" bIns="9144"/>
          <a:lstStyle/>
          <a:p>
            <a:pPr algn="ctr"/>
            <a:r>
              <a:rPr sz="700" b="1">
                <a:solidFill>
                  <a:srgbClr val="A78BFA"/>
                </a:solidFill>
                <a:latin typeface="Segoe UI"/>
              </a:rPr>
              <a:t>TASK_CREATED</a:t>
            </a:r>
          </a:p>
        </p:txBody>
      </p:sp>
      <p:sp>
        <p:nvSpPr>
          <p:cNvPr id="20" name="Rounded Rectangle 19"/>
          <p:cNvSpPr/>
          <p:nvPr/>
        </p:nvSpPr>
        <p:spPr>
          <a:xfrm>
            <a:off x="2980944" y="5486400"/>
            <a:ext cx="1152144" cy="292608"/>
          </a:xfrm>
          <a:prstGeom prst="roundRect">
            <a:avLst>
              <a:gd name="adj" fmla="val 50000"/>
            </a:avLst>
          </a:prstGeom>
          <a:solidFill>
            <a:srgbClr val="11161D"/>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9144" bIns="9144"/>
          <a:lstStyle/>
          <a:p>
            <a:pPr algn="ctr"/>
            <a:r>
              <a:rPr sz="700" b="1">
                <a:solidFill>
                  <a:srgbClr val="22D3EE"/>
                </a:solidFill>
                <a:latin typeface="Segoe UI"/>
              </a:rPr>
              <a:t>ITEM_PICKED</a:t>
            </a:r>
          </a:p>
        </p:txBody>
      </p:sp>
      <p:sp>
        <p:nvSpPr>
          <p:cNvPr id="21" name="Rounded Rectangle 20"/>
          <p:cNvSpPr/>
          <p:nvPr/>
        </p:nvSpPr>
        <p:spPr>
          <a:xfrm>
            <a:off x="4197096" y="5486400"/>
            <a:ext cx="1152144" cy="292608"/>
          </a:xfrm>
          <a:prstGeom prst="roundRect">
            <a:avLst>
              <a:gd name="adj" fmla="val 50000"/>
            </a:avLst>
          </a:prstGeom>
          <a:solidFill>
            <a:srgbClr val="11161D"/>
          </a:solidFill>
          <a:ln w="1143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tIns="9144" bIns="9144"/>
          <a:lstStyle/>
          <a:p>
            <a:pPr algn="ctr"/>
            <a:r>
              <a:rPr sz="700" b="1">
                <a:solidFill>
                  <a:srgbClr val="A78BFA"/>
                </a:solidFill>
                <a:latin typeface="Segoe UI"/>
              </a:rPr>
              <a:t>ORDER_DELIVERED</a:t>
            </a:r>
          </a:p>
        </p:txBody>
      </p:sp>
      <p:sp>
        <p:nvSpPr>
          <p:cNvPr id="22" name="Rounded Rectangle 21"/>
          <p:cNvSpPr/>
          <p:nvPr/>
        </p:nvSpPr>
        <p:spPr>
          <a:xfrm>
            <a:off x="5413248" y="5486400"/>
            <a:ext cx="1152144" cy="292608"/>
          </a:xfrm>
          <a:prstGeom prst="roundRect">
            <a:avLst>
              <a:gd name="adj" fmla="val 50000"/>
            </a:avLst>
          </a:prstGeom>
          <a:solidFill>
            <a:srgbClr val="11161D"/>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9144" bIns="9144"/>
          <a:lstStyle/>
          <a:p>
            <a:pPr algn="ctr"/>
            <a:r>
              <a:rPr sz="700" b="1">
                <a:solidFill>
                  <a:srgbClr val="22D3EE"/>
                </a:solidFill>
                <a:latin typeface="Segoe UI"/>
              </a:rPr>
              <a:t>BATTERY_LOW</a:t>
            </a:r>
          </a:p>
        </p:txBody>
      </p:sp>
      <p:sp>
        <p:nvSpPr>
          <p:cNvPr id="23" name="Rounded Rectangle 22"/>
          <p:cNvSpPr/>
          <p:nvPr/>
        </p:nvSpPr>
        <p:spPr>
          <a:xfrm>
            <a:off x="548640" y="5870448"/>
            <a:ext cx="1152144" cy="292608"/>
          </a:xfrm>
          <a:prstGeom prst="roundRect">
            <a:avLst>
              <a:gd name="adj" fmla="val 50000"/>
            </a:avLst>
          </a:prstGeom>
          <a:solidFill>
            <a:srgbClr val="11161D"/>
          </a:solidFill>
          <a:ln w="1143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tIns="9144" bIns="9144"/>
          <a:lstStyle/>
          <a:p>
            <a:pPr algn="ctr"/>
            <a:r>
              <a:rPr sz="700" b="1">
                <a:solidFill>
                  <a:srgbClr val="A78BFA"/>
                </a:solidFill>
                <a:latin typeface="Segoe UI"/>
              </a:rPr>
              <a:t>ROBOT_FAILURE</a:t>
            </a:r>
          </a:p>
        </p:txBody>
      </p:sp>
      <p:sp>
        <p:nvSpPr>
          <p:cNvPr id="24" name="Rounded Rectangle 23"/>
          <p:cNvSpPr/>
          <p:nvPr/>
        </p:nvSpPr>
        <p:spPr>
          <a:xfrm>
            <a:off x="1764792" y="5870448"/>
            <a:ext cx="1152144" cy="292608"/>
          </a:xfrm>
          <a:prstGeom prst="roundRect">
            <a:avLst>
              <a:gd name="adj" fmla="val 50000"/>
            </a:avLst>
          </a:prstGeom>
          <a:solidFill>
            <a:srgbClr val="11161D"/>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9144" bIns="9144"/>
          <a:lstStyle/>
          <a:p>
            <a:pPr algn="ctr"/>
            <a:r>
              <a:rPr sz="700" b="1">
                <a:solidFill>
                  <a:srgbClr val="22D3EE"/>
                </a:solidFill>
                <a:latin typeface="Segoe UI"/>
              </a:rPr>
              <a:t>AISLE_BLOCKED</a:t>
            </a:r>
          </a:p>
        </p:txBody>
      </p:sp>
      <p:sp>
        <p:nvSpPr>
          <p:cNvPr id="25" name="Rounded Rectangle 24"/>
          <p:cNvSpPr/>
          <p:nvPr/>
        </p:nvSpPr>
        <p:spPr>
          <a:xfrm>
            <a:off x="2980944" y="5870448"/>
            <a:ext cx="1152144" cy="292608"/>
          </a:xfrm>
          <a:prstGeom prst="roundRect">
            <a:avLst>
              <a:gd name="adj" fmla="val 50000"/>
            </a:avLst>
          </a:prstGeom>
          <a:solidFill>
            <a:srgbClr val="11161D"/>
          </a:solidFill>
          <a:ln w="1143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tIns="9144" bIns="9144"/>
          <a:lstStyle/>
          <a:p>
            <a:pPr algn="ctr"/>
            <a:r>
              <a:rPr sz="700" b="1">
                <a:solidFill>
                  <a:srgbClr val="A78BFA"/>
                </a:solidFill>
                <a:latin typeface="Segoe UI"/>
              </a:rPr>
              <a:t>ZONE_CLOSED</a:t>
            </a:r>
          </a:p>
        </p:txBody>
      </p:sp>
      <p:sp>
        <p:nvSpPr>
          <p:cNvPr id="26" name="Rounded Rectangle 25"/>
          <p:cNvSpPr/>
          <p:nvPr/>
        </p:nvSpPr>
        <p:spPr>
          <a:xfrm>
            <a:off x="4197096" y="5870448"/>
            <a:ext cx="1152144" cy="292608"/>
          </a:xfrm>
          <a:prstGeom prst="roundRect">
            <a:avLst>
              <a:gd name="adj" fmla="val 50000"/>
            </a:avLst>
          </a:prstGeom>
          <a:solidFill>
            <a:srgbClr val="11161D"/>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9144" bIns="9144"/>
          <a:lstStyle/>
          <a:p>
            <a:pPr algn="ctr"/>
            <a:r>
              <a:rPr sz="700" b="1">
                <a:solidFill>
                  <a:srgbClr val="22D3EE"/>
                </a:solidFill>
                <a:latin typeface="Segoe UI"/>
              </a:rPr>
              <a:t>DEMAND_CHANGED</a:t>
            </a:r>
          </a:p>
        </p:txBody>
      </p:sp>
      <p:sp>
        <p:nvSpPr>
          <p:cNvPr id="27" name="Rounded Rectangle 26"/>
          <p:cNvSpPr/>
          <p:nvPr/>
        </p:nvSpPr>
        <p:spPr>
          <a:xfrm>
            <a:off x="5413248" y="5870448"/>
            <a:ext cx="1152144" cy="292608"/>
          </a:xfrm>
          <a:prstGeom prst="roundRect">
            <a:avLst>
              <a:gd name="adj" fmla="val 50000"/>
            </a:avLst>
          </a:prstGeom>
          <a:solidFill>
            <a:srgbClr val="11161D"/>
          </a:solidFill>
          <a:ln w="1143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tIns="9144" bIns="9144"/>
          <a:lstStyle/>
          <a:p>
            <a:pPr algn="ctr"/>
            <a:r>
              <a:rPr sz="700" b="1">
                <a:solidFill>
                  <a:srgbClr val="A78BFA"/>
                </a:solidFill>
                <a:latin typeface="Segoe UI"/>
              </a:rPr>
              <a:t>PLAN_EXECUTED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D12"/>
        </a:solidFill>
        <a:effectLst/>
      </p:bgPr>
    </p:bg>
    <p:spTree>
      <p:nvGrpSpPr>
        <p:cNvPr id="1" name=""/>
        <p:cNvGrpSpPr/>
        <p:nvPr/>
      </p:nvGrpSpPr>
      <p:grpSpPr/>
      <p:sp>
        <p:nvSpPr>
          <p:cNvPr id="2" name="TextBox 1"/>
          <p:cNvSpPr txBox="1"/>
          <p:nvPr/>
        </p:nvSpPr>
        <p:spPr>
          <a:xfrm>
            <a:off x="548640" y="256032"/>
            <a:ext cx="8229600" cy="274320"/>
          </a:xfrm>
          <a:prstGeom prst="rect">
            <a:avLst/>
          </a:prstGeom>
          <a:noFill/>
        </p:spPr>
        <p:txBody>
          <a:bodyPr wrap="square" anchor="t" lIns="36576" rIns="36576" tIns="36576" bIns="36576">
            <a:spAutoFit/>
          </a:bodyPr>
          <a:lstStyle/>
          <a:p>
            <a:pPr algn="l">
              <a:lnSpc>
                <a:spcPct val="110000"/>
              </a:lnSpc>
              <a:spcAft>
                <a:spcPts val="400"/>
              </a:spcAft>
            </a:pPr>
            <a:r>
              <a:rPr sz="1050" b="1" i="0">
                <a:solidFill>
                  <a:srgbClr val="22D3EE"/>
                </a:solidFill>
                <a:latin typeface="Segoe UI"/>
              </a:rPr>
              <a:t>DETERMINISTIC SIMULATION</a:t>
            </a:r>
          </a:p>
        </p:txBody>
      </p:sp>
      <p:sp>
        <p:nvSpPr>
          <p:cNvPr id="3" name="TextBox 2"/>
          <p:cNvSpPr txBox="1"/>
          <p:nvPr/>
        </p:nvSpPr>
        <p:spPr>
          <a:xfrm>
            <a:off x="548640" y="502920"/>
            <a:ext cx="10607040" cy="731520"/>
          </a:xfrm>
          <a:prstGeom prst="rect">
            <a:avLst/>
          </a:prstGeom>
          <a:noFill/>
        </p:spPr>
        <p:txBody>
          <a:bodyPr wrap="square" anchor="ctr" lIns="36576" rIns="36576" tIns="36576" bIns="36576">
            <a:spAutoFit/>
          </a:bodyPr>
          <a:lstStyle/>
          <a:p>
            <a:pPr algn="l">
              <a:lnSpc>
                <a:spcPct val="110000"/>
              </a:lnSpc>
              <a:spcAft>
                <a:spcPts val="400"/>
              </a:spcAft>
            </a:pPr>
            <a:r>
              <a:rPr sz="2400" b="1" i="0">
                <a:solidFill>
                  <a:srgbClr val="E6EDF3"/>
                </a:solidFill>
                <a:latin typeface="Segoe UI"/>
              </a:rPr>
              <a:t>Deterministic worlds you can fork into many futures</a:t>
            </a:r>
          </a:p>
        </p:txBody>
      </p:sp>
      <p:sp>
        <p:nvSpPr>
          <p:cNvPr id="4" name="Rectangle 3"/>
          <p:cNvSpPr/>
          <p:nvPr/>
        </p:nvSpPr>
        <p:spPr>
          <a:xfrm>
            <a:off x="566928" y="1216152"/>
            <a:ext cx="100584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6400800" cy="274320"/>
          </a:xfrm>
          <a:prstGeom prst="rect">
            <a:avLst/>
          </a:prstGeom>
          <a:noFill/>
        </p:spPr>
        <p:txBody>
          <a:bodyPr wrap="square" anchor="t" lIns="36576" rIns="36576" tIns="36576" bIns="36576">
            <a:spAutoFit/>
          </a:bodyPr>
          <a:lstStyle/>
          <a:p>
            <a:pPr algn="l">
              <a:lnSpc>
                <a:spcPct val="110000"/>
              </a:lnSpc>
              <a:spcAft>
                <a:spcPts val="400"/>
              </a:spcAft>
            </a:pPr>
            <a:r>
              <a:rPr sz="950" b="0" i="0">
                <a:solidFill>
                  <a:srgbClr val="8B98A5"/>
                </a:solidFill>
                <a:latin typeface="Segoe UI"/>
              </a:rPr>
              <a:t>NEXUS · Autonomous Operations Intelligence</a:t>
            </a:r>
          </a:p>
        </p:txBody>
      </p:sp>
      <p:sp>
        <p:nvSpPr>
          <p:cNvPr id="6" name="TextBox 5"/>
          <p:cNvSpPr txBox="1"/>
          <p:nvPr/>
        </p:nvSpPr>
        <p:spPr>
          <a:xfrm>
            <a:off x="10607040" y="6446520"/>
            <a:ext cx="1051560" cy="274320"/>
          </a:xfrm>
          <a:prstGeom prst="rect">
            <a:avLst/>
          </a:prstGeom>
          <a:noFill/>
        </p:spPr>
        <p:txBody>
          <a:bodyPr wrap="square" anchor="t" lIns="36576" rIns="36576" tIns="36576" bIns="36576">
            <a:spAutoFit/>
          </a:bodyPr>
          <a:lstStyle/>
          <a:p>
            <a:pPr algn="r">
              <a:lnSpc>
                <a:spcPct val="110000"/>
              </a:lnSpc>
              <a:spcAft>
                <a:spcPts val="400"/>
              </a:spcAft>
            </a:pPr>
            <a:r>
              <a:rPr sz="950" b="0" i="0">
                <a:solidFill>
                  <a:srgbClr val="8B98A5"/>
                </a:solidFill>
                <a:latin typeface="Consolas"/>
              </a:rPr>
              <a:t>11</a:t>
            </a:r>
          </a:p>
        </p:txBody>
      </p:sp>
      <p:sp>
        <p:nvSpPr>
          <p:cNvPr id="7" name="Rounded Rectangle 6"/>
          <p:cNvSpPr/>
          <p:nvPr/>
        </p:nvSpPr>
        <p:spPr>
          <a:xfrm>
            <a:off x="548640" y="1417320"/>
            <a:ext cx="5212080" cy="420624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6656" y="1508760"/>
            <a:ext cx="4956048" cy="274320"/>
          </a:xfrm>
          <a:prstGeom prst="rect">
            <a:avLst/>
          </a:prstGeom>
          <a:noFill/>
        </p:spPr>
        <p:txBody>
          <a:bodyPr wrap="square" anchor="t" lIns="36576" rIns="36576" tIns="36576" bIns="36576">
            <a:spAutoFit/>
          </a:bodyPr>
          <a:lstStyle/>
          <a:p>
            <a:pPr algn="l">
              <a:lnSpc>
                <a:spcPct val="110000"/>
              </a:lnSpc>
              <a:spcAft>
                <a:spcPts val="400"/>
              </a:spcAft>
            </a:pPr>
            <a:r>
              <a:rPr sz="950" b="1" i="0">
                <a:solidFill>
                  <a:srgbClr val="22D3EE"/>
                </a:solidFill>
                <a:latin typeface="Segoe UI"/>
              </a:rPr>
              <a:t>ONE TICK, IN ORDER</a:t>
            </a:r>
          </a:p>
        </p:txBody>
      </p:sp>
      <p:sp>
        <p:nvSpPr>
          <p:cNvPr id="9" name="Rounded Rectangle 8"/>
          <p:cNvSpPr/>
          <p:nvPr/>
        </p:nvSpPr>
        <p:spPr>
          <a:xfrm>
            <a:off x="731520" y="1847088"/>
            <a:ext cx="347472" cy="310896"/>
          </a:xfrm>
          <a:prstGeom prst="roundRect">
            <a:avLst>
              <a:gd name="adj" fmla="val 50000"/>
            </a:avLst>
          </a:prstGeom>
          <a:solidFill>
            <a:srgbClr val="11161D"/>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9144" bIns="9144"/>
          <a:lstStyle/>
          <a:p>
            <a:pPr algn="ctr"/>
            <a:r>
              <a:rPr sz="900" b="1">
                <a:solidFill>
                  <a:srgbClr val="22D3EE"/>
                </a:solidFill>
                <a:latin typeface="Segoe UI"/>
              </a:rPr>
              <a:t>1</a:t>
            </a:r>
          </a:p>
        </p:txBody>
      </p:sp>
      <p:sp>
        <p:nvSpPr>
          <p:cNvPr id="10" name="TextBox 9"/>
          <p:cNvSpPr txBox="1"/>
          <p:nvPr/>
        </p:nvSpPr>
        <p:spPr>
          <a:xfrm>
            <a:off x="1188720" y="1810512"/>
            <a:ext cx="4480560" cy="502920"/>
          </a:xfrm>
          <a:prstGeom prst="rect">
            <a:avLst/>
          </a:prstGeom>
          <a:noFill/>
        </p:spPr>
        <p:txBody>
          <a:bodyPr wrap="square" anchor="t" lIns="36576" rIns="36576" tIns="36576" bIns="36576">
            <a:spAutoFit/>
          </a:bodyPr>
          <a:lstStyle/>
          <a:p>
            <a:pPr algn="l">
              <a:lnSpc>
                <a:spcPct val="105000"/>
              </a:lnSpc>
              <a:spcAft>
                <a:spcPts val="400"/>
              </a:spcAft>
            </a:pPr>
            <a:r>
              <a:rPr sz="1050" b="0" i="0">
                <a:solidFill>
                  <a:srgbClr val="E6EDF3"/>
                </a:solidFill>
                <a:latin typeface="Segoe UI"/>
              </a:rPr>
              <a:t>Order arrivals — Poisson × hourly profile; Zipf SKU popularity creates natural hot zones</a:t>
            </a:r>
          </a:p>
        </p:txBody>
      </p:sp>
      <p:sp>
        <p:nvSpPr>
          <p:cNvPr id="11" name="Rounded Rectangle 10"/>
          <p:cNvSpPr/>
          <p:nvPr/>
        </p:nvSpPr>
        <p:spPr>
          <a:xfrm>
            <a:off x="731520" y="2368296"/>
            <a:ext cx="347472" cy="310896"/>
          </a:xfrm>
          <a:prstGeom prst="roundRect">
            <a:avLst>
              <a:gd name="adj" fmla="val 50000"/>
            </a:avLst>
          </a:prstGeom>
          <a:solidFill>
            <a:srgbClr val="11161D"/>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9144" bIns="9144"/>
          <a:lstStyle/>
          <a:p>
            <a:pPr algn="ctr"/>
            <a:r>
              <a:rPr sz="900" b="1">
                <a:solidFill>
                  <a:srgbClr val="22D3EE"/>
                </a:solidFill>
                <a:latin typeface="Segoe UI"/>
              </a:rPr>
              <a:t>2</a:t>
            </a:r>
          </a:p>
        </p:txBody>
      </p:sp>
      <p:sp>
        <p:nvSpPr>
          <p:cNvPr id="12" name="TextBox 11"/>
          <p:cNvSpPr txBox="1"/>
          <p:nvPr/>
        </p:nvSpPr>
        <p:spPr>
          <a:xfrm>
            <a:off x="1188720" y="2331720"/>
            <a:ext cx="4480560" cy="502920"/>
          </a:xfrm>
          <a:prstGeom prst="rect">
            <a:avLst/>
          </a:prstGeom>
          <a:noFill/>
        </p:spPr>
        <p:txBody>
          <a:bodyPr wrap="square" anchor="t" lIns="36576" rIns="36576" tIns="36576" bIns="36576">
            <a:spAutoFit/>
          </a:bodyPr>
          <a:lstStyle/>
          <a:p>
            <a:pPr algn="l">
              <a:lnSpc>
                <a:spcPct val="105000"/>
              </a:lnSpc>
              <a:spcAft>
                <a:spcPts val="400"/>
              </a:spcAft>
            </a:pPr>
            <a:r>
              <a:rPr sz="1050" b="0" i="0">
                <a:solidFill>
                  <a:srgbClr val="E6EDF3"/>
                </a:solidFill>
                <a:latin typeface="Segoe UI"/>
              </a:rPr>
              <a:t>Faults — scheduled scenario events + seeded spontaneous failures</a:t>
            </a:r>
          </a:p>
        </p:txBody>
      </p:sp>
      <p:sp>
        <p:nvSpPr>
          <p:cNvPr id="13" name="Rounded Rectangle 12"/>
          <p:cNvSpPr/>
          <p:nvPr/>
        </p:nvSpPr>
        <p:spPr>
          <a:xfrm>
            <a:off x="731520" y="2889503"/>
            <a:ext cx="347472" cy="310896"/>
          </a:xfrm>
          <a:prstGeom prst="roundRect">
            <a:avLst>
              <a:gd name="adj" fmla="val 50000"/>
            </a:avLst>
          </a:prstGeom>
          <a:solidFill>
            <a:srgbClr val="11161D"/>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9144" bIns="9144"/>
          <a:lstStyle/>
          <a:p>
            <a:pPr algn="ctr"/>
            <a:r>
              <a:rPr sz="900" b="1">
                <a:solidFill>
                  <a:srgbClr val="22D3EE"/>
                </a:solidFill>
                <a:latin typeface="Segoe UI"/>
              </a:rPr>
              <a:t>3</a:t>
            </a:r>
          </a:p>
        </p:txBody>
      </p:sp>
      <p:sp>
        <p:nvSpPr>
          <p:cNvPr id="14" name="TextBox 13"/>
          <p:cNvSpPr txBox="1"/>
          <p:nvPr/>
        </p:nvSpPr>
        <p:spPr>
          <a:xfrm>
            <a:off x="1188720" y="2852927"/>
            <a:ext cx="4480560" cy="502920"/>
          </a:xfrm>
          <a:prstGeom prst="rect">
            <a:avLst/>
          </a:prstGeom>
          <a:noFill/>
        </p:spPr>
        <p:txBody>
          <a:bodyPr wrap="square" anchor="t" lIns="36576" rIns="36576" tIns="36576" bIns="36576">
            <a:spAutoFit/>
          </a:bodyPr>
          <a:lstStyle/>
          <a:p>
            <a:pPr algn="l">
              <a:lnSpc>
                <a:spcPct val="105000"/>
              </a:lnSpc>
              <a:spcAft>
                <a:spcPts val="400"/>
              </a:spcAft>
            </a:pPr>
            <a:r>
              <a:rPr sz="1050" b="0" i="0">
                <a:solidFill>
                  <a:srgbClr val="E6EDF3"/>
                </a:solidFill>
                <a:latin typeface="Segoe UI"/>
              </a:rPr>
              <a:t>Recoveries and worker delays expire</a:t>
            </a:r>
          </a:p>
        </p:txBody>
      </p:sp>
      <p:sp>
        <p:nvSpPr>
          <p:cNvPr id="15" name="Rounded Rectangle 14"/>
          <p:cNvSpPr/>
          <p:nvPr/>
        </p:nvSpPr>
        <p:spPr>
          <a:xfrm>
            <a:off x="731520" y="3410712"/>
            <a:ext cx="347472" cy="310896"/>
          </a:xfrm>
          <a:prstGeom prst="roundRect">
            <a:avLst>
              <a:gd name="adj" fmla="val 50000"/>
            </a:avLst>
          </a:prstGeom>
          <a:solidFill>
            <a:srgbClr val="11161D"/>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9144" bIns="9144"/>
          <a:lstStyle/>
          <a:p>
            <a:pPr algn="ctr"/>
            <a:r>
              <a:rPr sz="900" b="1">
                <a:solidFill>
                  <a:srgbClr val="22D3EE"/>
                </a:solidFill>
                <a:latin typeface="Segoe UI"/>
              </a:rPr>
              <a:t>4</a:t>
            </a:r>
          </a:p>
        </p:txBody>
      </p:sp>
      <p:sp>
        <p:nvSpPr>
          <p:cNvPr id="16" name="TextBox 15"/>
          <p:cNvSpPr txBox="1"/>
          <p:nvPr/>
        </p:nvSpPr>
        <p:spPr>
          <a:xfrm>
            <a:off x="1188720" y="3374136"/>
            <a:ext cx="4480560" cy="502920"/>
          </a:xfrm>
          <a:prstGeom prst="rect">
            <a:avLst/>
          </a:prstGeom>
          <a:noFill/>
        </p:spPr>
        <p:txBody>
          <a:bodyPr wrap="square" anchor="t" lIns="36576" rIns="36576" tIns="36576" bIns="36576">
            <a:spAutoFit/>
          </a:bodyPr>
          <a:lstStyle/>
          <a:p>
            <a:pPr algn="l">
              <a:lnSpc>
                <a:spcPct val="105000"/>
              </a:lnSpc>
              <a:spcAft>
                <a:spcPts val="400"/>
              </a:spcAft>
            </a:pPr>
            <a:r>
              <a:rPr sz="1050" b="0" i="0">
                <a:solidFill>
                  <a:srgbClr val="E6EDF3"/>
                </a:solidFill>
                <a:latin typeface="Segoe UI"/>
              </a:rPr>
              <a:t>Inventory replenishment (every 5 min)</a:t>
            </a:r>
          </a:p>
        </p:txBody>
      </p:sp>
      <p:sp>
        <p:nvSpPr>
          <p:cNvPr id="17" name="Rounded Rectangle 16"/>
          <p:cNvSpPr/>
          <p:nvPr/>
        </p:nvSpPr>
        <p:spPr>
          <a:xfrm>
            <a:off x="731520" y="3931919"/>
            <a:ext cx="347472" cy="310896"/>
          </a:xfrm>
          <a:prstGeom prst="roundRect">
            <a:avLst>
              <a:gd name="adj" fmla="val 50000"/>
            </a:avLst>
          </a:prstGeom>
          <a:solidFill>
            <a:srgbClr val="11161D"/>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9144" bIns="9144"/>
          <a:lstStyle/>
          <a:p>
            <a:pPr algn="ctr"/>
            <a:r>
              <a:rPr sz="900" b="1">
                <a:solidFill>
                  <a:srgbClr val="22D3EE"/>
                </a:solidFill>
                <a:latin typeface="Segoe UI"/>
              </a:rPr>
              <a:t>5</a:t>
            </a:r>
          </a:p>
        </p:txBody>
      </p:sp>
      <p:sp>
        <p:nvSpPr>
          <p:cNvPr id="18" name="TextBox 17"/>
          <p:cNvSpPr txBox="1"/>
          <p:nvPr/>
        </p:nvSpPr>
        <p:spPr>
          <a:xfrm>
            <a:off x="1188720" y="3895344"/>
            <a:ext cx="4480560" cy="502920"/>
          </a:xfrm>
          <a:prstGeom prst="rect">
            <a:avLst/>
          </a:prstGeom>
          <a:noFill/>
        </p:spPr>
        <p:txBody>
          <a:bodyPr wrap="square" anchor="t" lIns="36576" rIns="36576" tIns="36576" bIns="36576">
            <a:spAutoFit/>
          </a:bodyPr>
          <a:lstStyle/>
          <a:p>
            <a:pPr algn="l">
              <a:lnSpc>
                <a:spcPct val="105000"/>
              </a:lnSpc>
              <a:spcAft>
                <a:spcPts val="400"/>
              </a:spcAft>
            </a:pPr>
            <a:r>
              <a:rPr sz="1050" b="0" i="0">
                <a:solidFill>
                  <a:srgbClr val="E6EDF3"/>
                </a:solidFill>
                <a:latin typeface="Segoe UI"/>
              </a:rPr>
              <a:t>Strategy decisions — assignments, batching, routing, charging</a:t>
            </a:r>
          </a:p>
        </p:txBody>
      </p:sp>
      <p:sp>
        <p:nvSpPr>
          <p:cNvPr id="19" name="Rounded Rectangle 18"/>
          <p:cNvSpPr/>
          <p:nvPr/>
        </p:nvSpPr>
        <p:spPr>
          <a:xfrm>
            <a:off x="731520" y="4453127"/>
            <a:ext cx="347472" cy="310896"/>
          </a:xfrm>
          <a:prstGeom prst="roundRect">
            <a:avLst>
              <a:gd name="adj" fmla="val 50000"/>
            </a:avLst>
          </a:prstGeom>
          <a:solidFill>
            <a:srgbClr val="11161D"/>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9144" bIns="9144"/>
          <a:lstStyle/>
          <a:p>
            <a:pPr algn="ctr"/>
            <a:r>
              <a:rPr sz="900" b="1">
                <a:solidFill>
                  <a:srgbClr val="22D3EE"/>
                </a:solidFill>
                <a:latin typeface="Segoe UI"/>
              </a:rPr>
              <a:t>6</a:t>
            </a:r>
          </a:p>
        </p:txBody>
      </p:sp>
      <p:sp>
        <p:nvSpPr>
          <p:cNvPr id="20" name="TextBox 19"/>
          <p:cNvSpPr txBox="1"/>
          <p:nvPr/>
        </p:nvSpPr>
        <p:spPr>
          <a:xfrm>
            <a:off x="1188720" y="4416552"/>
            <a:ext cx="4480560" cy="502920"/>
          </a:xfrm>
          <a:prstGeom prst="rect">
            <a:avLst/>
          </a:prstGeom>
          <a:noFill/>
        </p:spPr>
        <p:txBody>
          <a:bodyPr wrap="square" anchor="t" lIns="36576" rIns="36576" tIns="36576" bIns="36576">
            <a:spAutoFit/>
          </a:bodyPr>
          <a:lstStyle/>
          <a:p>
            <a:pPr algn="l">
              <a:lnSpc>
                <a:spcPct val="105000"/>
              </a:lnSpc>
              <a:spcAft>
                <a:spcPts val="400"/>
              </a:spcAft>
            </a:pPr>
            <a:r>
              <a:rPr sz="1050" b="0" i="0">
                <a:solidFill>
                  <a:srgbClr val="E6EDF3"/>
                </a:solidFill>
                <a:latin typeface="Segoe UI"/>
              </a:rPr>
              <a:t>Robot kinematics in id order — move (congestion slows), pick, unload, charge, battery</a:t>
            </a:r>
          </a:p>
        </p:txBody>
      </p:sp>
      <p:sp>
        <p:nvSpPr>
          <p:cNvPr id="21" name="Rounded Rectangle 20"/>
          <p:cNvSpPr/>
          <p:nvPr/>
        </p:nvSpPr>
        <p:spPr>
          <a:xfrm>
            <a:off x="731520" y="4974336"/>
            <a:ext cx="347472" cy="310896"/>
          </a:xfrm>
          <a:prstGeom prst="roundRect">
            <a:avLst>
              <a:gd name="adj" fmla="val 50000"/>
            </a:avLst>
          </a:prstGeom>
          <a:solidFill>
            <a:srgbClr val="11161D"/>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9144" bIns="9144"/>
          <a:lstStyle/>
          <a:p>
            <a:pPr algn="ctr"/>
            <a:r>
              <a:rPr sz="900" b="1">
                <a:solidFill>
                  <a:srgbClr val="22D3EE"/>
                </a:solidFill>
                <a:latin typeface="Segoe UI"/>
              </a:rPr>
              <a:t>7</a:t>
            </a:r>
          </a:p>
        </p:txBody>
      </p:sp>
      <p:sp>
        <p:nvSpPr>
          <p:cNvPr id="22" name="TextBox 21"/>
          <p:cNvSpPr txBox="1"/>
          <p:nvPr/>
        </p:nvSpPr>
        <p:spPr>
          <a:xfrm>
            <a:off x="1188720" y="4937760"/>
            <a:ext cx="4480560" cy="502920"/>
          </a:xfrm>
          <a:prstGeom prst="rect">
            <a:avLst/>
          </a:prstGeom>
          <a:noFill/>
        </p:spPr>
        <p:txBody>
          <a:bodyPr wrap="square" anchor="t" lIns="36576" rIns="36576" tIns="36576" bIns="36576">
            <a:spAutoFit/>
          </a:bodyPr>
          <a:lstStyle/>
          <a:p>
            <a:pPr algn="l">
              <a:lnSpc>
                <a:spcPct val="105000"/>
              </a:lnSpc>
              <a:spcAft>
                <a:spcPts val="400"/>
              </a:spcAft>
            </a:pPr>
            <a:r>
              <a:rPr sz="1050" b="0" i="0">
                <a:solidFill>
                  <a:srgbClr val="E6EDF3"/>
                </a:solidFill>
                <a:latin typeface="Segoe UI"/>
              </a:rPr>
              <a:t>Hooks (history recorder, agents) · TICK with utilization &amp; congestion stats</a:t>
            </a:r>
          </a:p>
        </p:txBody>
      </p:sp>
      <p:pic>
        <p:nvPicPr>
          <p:cNvPr id="23" name="Picture 22" descr="deck_ticks.png"/>
          <p:cNvPicPr>
            <a:picLocks noChangeAspect="1"/>
          </p:cNvPicPr>
          <p:nvPr/>
        </p:nvPicPr>
        <p:blipFill>
          <a:blip r:embed="rId3"/>
          <a:stretch>
            <a:fillRect/>
          </a:stretch>
        </p:blipFill>
        <p:spPr>
          <a:xfrm>
            <a:off x="5989320" y="1371600"/>
            <a:ext cx="5669280" cy="3631882"/>
          </a:xfrm>
          <a:prstGeom prst="rect">
            <a:avLst/>
          </a:prstGeom>
        </p:spPr>
      </p:pic>
      <p:sp>
        <p:nvSpPr>
          <p:cNvPr id="24" name="Rounded Rectangle 23"/>
          <p:cNvSpPr/>
          <p:nvPr/>
        </p:nvSpPr>
        <p:spPr>
          <a:xfrm>
            <a:off x="5989320" y="5120640"/>
            <a:ext cx="1783080" cy="100584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99048" y="5212079"/>
            <a:ext cx="1563624" cy="553212"/>
          </a:xfrm>
          <a:prstGeom prst="rect">
            <a:avLst/>
          </a:prstGeom>
          <a:noFill/>
        </p:spPr>
        <p:txBody>
          <a:bodyPr wrap="square" anchor="ctr" lIns="36576" rIns="36576" tIns="36576" bIns="36576">
            <a:spAutoFit/>
          </a:bodyPr>
          <a:lstStyle/>
          <a:p>
            <a:pPr algn="l">
              <a:lnSpc>
                <a:spcPct val="110000"/>
              </a:lnSpc>
              <a:spcAft>
                <a:spcPts val="400"/>
              </a:spcAft>
            </a:pPr>
            <a:r>
              <a:rPr sz="1600" b="1" i="0">
                <a:solidFill>
                  <a:srgbClr val="22C55E"/>
                </a:solidFill>
                <a:latin typeface="Consolas"/>
              </a:rPr>
              <a:t>digest ==</a:t>
            </a:r>
          </a:p>
        </p:txBody>
      </p:sp>
      <p:sp>
        <p:nvSpPr>
          <p:cNvPr id="26" name="TextBox 25"/>
          <p:cNvSpPr txBox="1"/>
          <p:nvPr/>
        </p:nvSpPr>
        <p:spPr>
          <a:xfrm>
            <a:off x="6099048" y="5704027"/>
            <a:ext cx="1563624" cy="402336"/>
          </a:xfrm>
          <a:prstGeom prst="rect">
            <a:avLst/>
          </a:prstGeom>
          <a:noFill/>
        </p:spPr>
        <p:txBody>
          <a:bodyPr wrap="square" anchor="t" lIns="36576" rIns="36576" tIns="36576" bIns="36576">
            <a:spAutoFit/>
          </a:bodyPr>
          <a:lstStyle/>
          <a:p>
            <a:pPr algn="l">
              <a:lnSpc>
                <a:spcPct val="105000"/>
              </a:lnSpc>
              <a:spcAft>
                <a:spcPts val="400"/>
              </a:spcAft>
            </a:pPr>
            <a:r>
              <a:rPr sz="1000" b="0" i="0">
                <a:solidFill>
                  <a:srgbClr val="8B98A5"/>
                </a:solidFill>
                <a:latin typeface="Segoe UI"/>
              </a:rPr>
              <a:t>same seed ⇒ identical world hash</a:t>
            </a:r>
          </a:p>
        </p:txBody>
      </p:sp>
      <p:sp>
        <p:nvSpPr>
          <p:cNvPr id="27" name="Rounded Rectangle 26"/>
          <p:cNvSpPr/>
          <p:nvPr/>
        </p:nvSpPr>
        <p:spPr>
          <a:xfrm>
            <a:off x="7909560" y="5120640"/>
            <a:ext cx="1783080" cy="100584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19288" y="5212079"/>
            <a:ext cx="1563624" cy="553212"/>
          </a:xfrm>
          <a:prstGeom prst="rect">
            <a:avLst/>
          </a:prstGeom>
          <a:noFill/>
        </p:spPr>
        <p:txBody>
          <a:bodyPr wrap="square" anchor="ctr" lIns="36576" rIns="36576" tIns="36576" bIns="36576">
            <a:spAutoFit/>
          </a:bodyPr>
          <a:lstStyle/>
          <a:p>
            <a:pPr algn="l">
              <a:lnSpc>
                <a:spcPct val="110000"/>
              </a:lnSpc>
              <a:spcAft>
                <a:spcPts val="400"/>
              </a:spcAft>
            </a:pPr>
            <a:r>
              <a:rPr sz="1600" b="1" i="0">
                <a:solidFill>
                  <a:srgbClr val="22C55E"/>
                </a:solidFill>
                <a:latin typeface="Consolas"/>
              </a:rPr>
              <a:t>fork ==</a:t>
            </a:r>
          </a:p>
        </p:txBody>
      </p:sp>
      <p:sp>
        <p:nvSpPr>
          <p:cNvPr id="29" name="TextBox 28"/>
          <p:cNvSpPr txBox="1"/>
          <p:nvPr/>
        </p:nvSpPr>
        <p:spPr>
          <a:xfrm>
            <a:off x="8019288" y="5704027"/>
            <a:ext cx="1563624" cy="402336"/>
          </a:xfrm>
          <a:prstGeom prst="rect">
            <a:avLst/>
          </a:prstGeom>
          <a:noFill/>
        </p:spPr>
        <p:txBody>
          <a:bodyPr wrap="square" anchor="t" lIns="36576" rIns="36576" tIns="36576" bIns="36576">
            <a:spAutoFit/>
          </a:bodyPr>
          <a:lstStyle/>
          <a:p>
            <a:pPr algn="l">
              <a:lnSpc>
                <a:spcPct val="105000"/>
              </a:lnSpc>
              <a:spcAft>
                <a:spcPts val="400"/>
              </a:spcAft>
            </a:pPr>
            <a:r>
              <a:rPr sz="1000" b="0" i="0">
                <a:solidFill>
                  <a:srgbClr val="8B98A5"/>
                </a:solidFill>
                <a:latin typeface="Segoe UI"/>
              </a:rPr>
              <a:t>a forked world continues identically</a:t>
            </a:r>
          </a:p>
        </p:txBody>
      </p:sp>
      <p:sp>
        <p:nvSpPr>
          <p:cNvPr id="30" name="Rounded Rectangle 29"/>
          <p:cNvSpPr/>
          <p:nvPr/>
        </p:nvSpPr>
        <p:spPr>
          <a:xfrm>
            <a:off x="9829800" y="5120640"/>
            <a:ext cx="1783080" cy="100584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39528" y="5212079"/>
            <a:ext cx="1563624" cy="553212"/>
          </a:xfrm>
          <a:prstGeom prst="rect">
            <a:avLst/>
          </a:prstGeom>
          <a:noFill/>
        </p:spPr>
        <p:txBody>
          <a:bodyPr wrap="square" anchor="ctr" lIns="36576" rIns="36576" tIns="36576" bIns="36576">
            <a:spAutoFit/>
          </a:bodyPr>
          <a:lstStyle/>
          <a:p>
            <a:pPr algn="l">
              <a:lnSpc>
                <a:spcPct val="110000"/>
              </a:lnSpc>
              <a:spcAft>
                <a:spcPts val="400"/>
              </a:spcAft>
            </a:pPr>
            <a:r>
              <a:rPr sz="1600" b="1" i="0">
                <a:solidFill>
                  <a:srgbClr val="22C55E"/>
                </a:solidFill>
                <a:latin typeface="Consolas"/>
              </a:rPr>
              <a:t>replay ==</a:t>
            </a:r>
          </a:p>
        </p:txBody>
      </p:sp>
      <p:sp>
        <p:nvSpPr>
          <p:cNvPr id="32" name="TextBox 31"/>
          <p:cNvSpPr txBox="1"/>
          <p:nvPr/>
        </p:nvSpPr>
        <p:spPr>
          <a:xfrm>
            <a:off x="9939528" y="5704027"/>
            <a:ext cx="1563624" cy="402336"/>
          </a:xfrm>
          <a:prstGeom prst="rect">
            <a:avLst/>
          </a:prstGeom>
          <a:noFill/>
        </p:spPr>
        <p:txBody>
          <a:bodyPr wrap="square" anchor="t" lIns="36576" rIns="36576" tIns="36576" bIns="36576">
            <a:spAutoFit/>
          </a:bodyPr>
          <a:lstStyle/>
          <a:p>
            <a:pPr algn="l">
              <a:lnSpc>
                <a:spcPct val="105000"/>
              </a:lnSpc>
              <a:spcAft>
                <a:spcPts val="400"/>
              </a:spcAft>
            </a:pPr>
            <a:r>
              <a:rPr sz="1000" b="0" i="0">
                <a:solidFill>
                  <a:srgbClr val="8B98A5"/>
                </a:solidFill>
                <a:latin typeface="Segoe UI"/>
              </a:rPr>
              <a:t>snapshot + external events reproduce it</a:t>
            </a:r>
          </a:p>
        </p:txBody>
      </p:sp>
      <p:sp>
        <p:nvSpPr>
          <p:cNvPr id="33" name="TextBox 32"/>
          <p:cNvSpPr txBox="1"/>
          <p:nvPr/>
        </p:nvSpPr>
        <p:spPr>
          <a:xfrm>
            <a:off x="548640" y="5760720"/>
            <a:ext cx="5212080" cy="548640"/>
          </a:xfrm>
          <a:prstGeom prst="rect">
            <a:avLst/>
          </a:prstGeom>
          <a:noFill/>
        </p:spPr>
        <p:txBody>
          <a:bodyPr wrap="square" anchor="t" lIns="36576" rIns="36576" tIns="36576" bIns="36576">
            <a:spAutoFit/>
          </a:bodyPr>
          <a:lstStyle/>
          <a:p>
            <a:pPr algn="l">
              <a:lnSpc>
                <a:spcPct val="110000"/>
              </a:lnSpc>
              <a:spcAft>
                <a:spcPts val="400"/>
              </a:spcAft>
            </a:pPr>
            <a:r>
              <a:rPr sz="950" b="0" i="0">
                <a:solidFill>
                  <a:srgbClr val="8B98A5"/>
                </a:solidFill>
                <a:latin typeface="Segoe UI"/>
              </a:rPr>
              <a:t>Also: A* with congestion-aware costs and a path cache, BFS distance fields for the optimizer, capacity-limited cells, deterministic slow-down in congested zones, battery drain/charge model, 10/5/3-minute SLAs.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D12"/>
        </a:solidFill>
        <a:effectLst/>
      </p:bgPr>
    </p:bg>
    <p:spTree>
      <p:nvGrpSpPr>
        <p:cNvPr id="1" name=""/>
        <p:cNvGrpSpPr/>
        <p:nvPr/>
      </p:nvGrpSpPr>
      <p:grpSpPr/>
      <p:sp>
        <p:nvSpPr>
          <p:cNvPr id="2" name="TextBox 1"/>
          <p:cNvSpPr txBox="1"/>
          <p:nvPr/>
        </p:nvSpPr>
        <p:spPr>
          <a:xfrm>
            <a:off x="548640" y="256032"/>
            <a:ext cx="8229600" cy="274320"/>
          </a:xfrm>
          <a:prstGeom prst="rect">
            <a:avLst/>
          </a:prstGeom>
          <a:noFill/>
        </p:spPr>
        <p:txBody>
          <a:bodyPr wrap="square" anchor="t" lIns="36576" rIns="36576" tIns="36576" bIns="36576">
            <a:spAutoFit/>
          </a:bodyPr>
          <a:lstStyle/>
          <a:p>
            <a:pPr algn="l">
              <a:lnSpc>
                <a:spcPct val="110000"/>
              </a:lnSpc>
              <a:spcAft>
                <a:spcPts val="400"/>
              </a:spcAft>
            </a:pPr>
            <a:r>
              <a:rPr sz="1050" b="1" i="0">
                <a:solidFill>
                  <a:srgbClr val="22D3EE"/>
                </a:solidFill>
                <a:latin typeface="Segoe UI"/>
              </a:rPr>
              <a:t>OPTIMIZATION</a:t>
            </a:r>
          </a:p>
        </p:txBody>
      </p:sp>
      <p:sp>
        <p:nvSpPr>
          <p:cNvPr id="3" name="TextBox 2"/>
          <p:cNvSpPr txBox="1"/>
          <p:nvPr/>
        </p:nvSpPr>
        <p:spPr>
          <a:xfrm>
            <a:off x="548640" y="502920"/>
            <a:ext cx="10607040" cy="731520"/>
          </a:xfrm>
          <a:prstGeom prst="rect">
            <a:avLst/>
          </a:prstGeom>
          <a:noFill/>
        </p:spPr>
        <p:txBody>
          <a:bodyPr wrap="square" anchor="ctr" lIns="36576" rIns="36576" tIns="36576" bIns="36576">
            <a:spAutoFit/>
          </a:bodyPr>
          <a:lstStyle/>
          <a:p>
            <a:pPr algn="l">
              <a:lnSpc>
                <a:spcPct val="110000"/>
              </a:lnSpc>
              <a:spcAft>
                <a:spcPts val="400"/>
              </a:spcAft>
            </a:pPr>
            <a:r>
              <a:rPr sz="2400" b="1" i="0">
                <a:solidFill>
                  <a:srgbClr val="E6EDF3"/>
                </a:solidFill>
                <a:latin typeface="Segoe UI"/>
              </a:rPr>
              <a:t>Operations research in the loop, not an AI wrapper</a:t>
            </a:r>
          </a:p>
        </p:txBody>
      </p:sp>
      <p:sp>
        <p:nvSpPr>
          <p:cNvPr id="4" name="Rectangle 3"/>
          <p:cNvSpPr/>
          <p:nvPr/>
        </p:nvSpPr>
        <p:spPr>
          <a:xfrm>
            <a:off x="566928" y="1216152"/>
            <a:ext cx="100584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6400800" cy="274320"/>
          </a:xfrm>
          <a:prstGeom prst="rect">
            <a:avLst/>
          </a:prstGeom>
          <a:noFill/>
        </p:spPr>
        <p:txBody>
          <a:bodyPr wrap="square" anchor="t" lIns="36576" rIns="36576" tIns="36576" bIns="36576">
            <a:spAutoFit/>
          </a:bodyPr>
          <a:lstStyle/>
          <a:p>
            <a:pPr algn="l">
              <a:lnSpc>
                <a:spcPct val="110000"/>
              </a:lnSpc>
              <a:spcAft>
                <a:spcPts val="400"/>
              </a:spcAft>
            </a:pPr>
            <a:r>
              <a:rPr sz="950" b="0" i="0">
                <a:solidFill>
                  <a:srgbClr val="8B98A5"/>
                </a:solidFill>
                <a:latin typeface="Segoe UI"/>
              </a:rPr>
              <a:t>NEXUS · Autonomous Operations Intelligence</a:t>
            </a:r>
          </a:p>
        </p:txBody>
      </p:sp>
      <p:sp>
        <p:nvSpPr>
          <p:cNvPr id="6" name="TextBox 5"/>
          <p:cNvSpPr txBox="1"/>
          <p:nvPr/>
        </p:nvSpPr>
        <p:spPr>
          <a:xfrm>
            <a:off x="10607040" y="6446520"/>
            <a:ext cx="1051560" cy="274320"/>
          </a:xfrm>
          <a:prstGeom prst="rect">
            <a:avLst/>
          </a:prstGeom>
          <a:noFill/>
        </p:spPr>
        <p:txBody>
          <a:bodyPr wrap="square" anchor="t" lIns="36576" rIns="36576" tIns="36576" bIns="36576">
            <a:spAutoFit/>
          </a:bodyPr>
          <a:lstStyle/>
          <a:p>
            <a:pPr algn="r">
              <a:lnSpc>
                <a:spcPct val="110000"/>
              </a:lnSpc>
              <a:spcAft>
                <a:spcPts val="400"/>
              </a:spcAft>
            </a:pPr>
            <a:r>
              <a:rPr sz="950" b="0" i="0">
                <a:solidFill>
                  <a:srgbClr val="8B98A5"/>
                </a:solidFill>
                <a:latin typeface="Consolas"/>
              </a:rPr>
              <a:t>12</a:t>
            </a:r>
          </a:p>
        </p:txBody>
      </p:sp>
      <p:sp>
        <p:nvSpPr>
          <p:cNvPr id="7" name="Rounded Rectangle 6"/>
          <p:cNvSpPr/>
          <p:nvPr/>
        </p:nvSpPr>
        <p:spPr>
          <a:xfrm>
            <a:off x="548640" y="1417320"/>
            <a:ext cx="3611880" cy="338328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6656" y="1508760"/>
            <a:ext cx="3355848" cy="274320"/>
          </a:xfrm>
          <a:prstGeom prst="rect">
            <a:avLst/>
          </a:prstGeom>
          <a:noFill/>
        </p:spPr>
        <p:txBody>
          <a:bodyPr wrap="square" anchor="t" lIns="36576" rIns="36576" tIns="36576" bIns="36576">
            <a:spAutoFit/>
          </a:bodyPr>
          <a:lstStyle/>
          <a:p>
            <a:pPr algn="l">
              <a:lnSpc>
                <a:spcPct val="110000"/>
              </a:lnSpc>
              <a:spcAft>
                <a:spcPts val="400"/>
              </a:spcAft>
            </a:pPr>
            <a:r>
              <a:rPr sz="950" b="1" i="0">
                <a:solidFill>
                  <a:srgbClr val="22D3EE"/>
                </a:solidFill>
                <a:latin typeface="Segoe UI"/>
              </a:rPr>
              <a:t>OBJECTIVE (LOWER IS BETTER)</a:t>
            </a:r>
          </a:p>
        </p:txBody>
      </p:sp>
      <p:sp>
        <p:nvSpPr>
          <p:cNvPr id="9" name="TextBox 8"/>
          <p:cNvSpPr txBox="1"/>
          <p:nvPr/>
        </p:nvSpPr>
        <p:spPr>
          <a:xfrm>
            <a:off x="685800" y="1783080"/>
            <a:ext cx="3383280" cy="822960"/>
          </a:xfrm>
          <a:prstGeom prst="rect">
            <a:avLst/>
          </a:prstGeom>
          <a:noFill/>
        </p:spPr>
        <p:txBody>
          <a:bodyPr wrap="square" anchor="t" lIns="36576" rIns="36576" tIns="36576" bIns="36576">
            <a:spAutoFit/>
          </a:bodyPr>
          <a:lstStyle/>
          <a:p>
            <a:pPr algn="l">
              <a:lnSpc>
                <a:spcPct val="120000"/>
              </a:lnSpc>
              <a:spcAft>
                <a:spcPts val="400"/>
              </a:spcAft>
            </a:pPr>
            <a:r>
              <a:rPr sz="1200" b="0" i="0">
                <a:solidFill>
                  <a:srgbClr val="E6EDF3"/>
                </a:solidFill>
                <a:latin typeface="Consolas"/>
              </a:rPr>
              <a:t>J = Σ w·[ lateness, delivery time, p95 tail, congestion, distance, energy, backlog, priority ]</a:t>
            </a:r>
          </a:p>
        </p:txBody>
      </p:sp>
      <p:sp>
        <p:nvSpPr>
          <p:cNvPr id="10" name="TextBox 9"/>
          <p:cNvSpPr txBox="1"/>
          <p:nvPr/>
        </p:nvSpPr>
        <p:spPr>
          <a:xfrm>
            <a:off x="640080" y="2697480"/>
            <a:ext cx="3474720" cy="2011680"/>
          </a:xfrm>
          <a:prstGeom prst="rect">
            <a:avLst/>
          </a:prstGeom>
          <a:noFill/>
        </p:spPr>
        <p:txBody>
          <a:bodyPr wrap="square" lIns="45720" rIns="45720">
            <a:spAutoFit/>
          </a:bodyPr>
          <a:lstStyle/>
          <a:p>
            <a:pPr>
              <a:lnSpc>
                <a:spcPct val="112000"/>
              </a:lnSpc>
              <a:spcAft>
                <a:spcPts val="400"/>
              </a:spcAft>
            </a:pPr>
            <a:r>
              <a:rPr sz="1050" b="1">
                <a:solidFill>
                  <a:srgbClr val="22D3EE"/>
                </a:solidFill>
                <a:latin typeface="Segoe UI"/>
              </a:rPr>
              <a:t>•  </a:t>
            </a:r>
            <a:r>
              <a:rPr sz="1050">
                <a:solidFill>
                  <a:srgbClr val="E6EDF3"/>
                </a:solidFill>
                <a:latin typeface="Segoe UI"/>
              </a:rPr>
              <a:t>one scorer for the scheduler, plan ranking and what-if comparison</a:t>
            </a:r>
          </a:p>
          <a:p>
            <a:pPr>
              <a:lnSpc>
                <a:spcPct val="112000"/>
              </a:lnSpc>
              <a:spcAft>
                <a:spcPts val="400"/>
              </a:spcAft>
            </a:pPr>
            <a:r>
              <a:rPr sz="1050" b="1">
                <a:solidFill>
                  <a:srgbClr val="22D3EE"/>
                </a:solidFill>
                <a:latin typeface="Segoe UI"/>
              </a:rPr>
              <a:t>•  </a:t>
            </a:r>
            <a:r>
              <a:rPr sz="1050">
                <a:solidFill>
                  <a:srgbClr val="E6EDF3"/>
                </a:solidFill>
                <a:latin typeface="Segoe UI"/>
              </a:rPr>
              <a:t>weights: lateness 100 · delivery time 1 · tail 0.25 · congestion 2 · distance 0.005 · energy 0.1</a:t>
            </a:r>
          </a:p>
          <a:p>
            <a:pPr>
              <a:lnSpc>
                <a:spcPct val="112000"/>
              </a:lnSpc>
              <a:spcAft>
                <a:spcPts val="400"/>
              </a:spcAft>
            </a:pPr>
            <a:r>
              <a:rPr sz="1050" b="1">
                <a:solidFill>
                  <a:srgbClr val="22D3EE"/>
                </a:solidFill>
                <a:latin typeface="Segoe UI"/>
              </a:rPr>
              <a:t>•  </a:t>
            </a:r>
            <a:r>
              <a:rPr sz="1050">
                <a:solidFill>
                  <a:srgbClr val="E6EDF3"/>
                </a:solidFill>
                <a:latin typeface="Segoe UI"/>
              </a:rPr>
              <a:t>constraints: capacity, battery with reserve, sourceable lines, open dock, one robot per task</a:t>
            </a:r>
          </a:p>
        </p:txBody>
      </p:sp>
      <p:sp>
        <p:nvSpPr>
          <p:cNvPr id="11" name="Rounded Rectangle 10"/>
          <p:cNvSpPr/>
          <p:nvPr/>
        </p:nvSpPr>
        <p:spPr>
          <a:xfrm>
            <a:off x="4297680" y="1417320"/>
            <a:ext cx="3611880" cy="338328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25696" y="1508760"/>
            <a:ext cx="3355848" cy="274320"/>
          </a:xfrm>
          <a:prstGeom prst="rect">
            <a:avLst/>
          </a:prstGeom>
          <a:noFill/>
        </p:spPr>
        <p:txBody>
          <a:bodyPr wrap="square" anchor="t" lIns="36576" rIns="36576" tIns="36576" bIns="36576">
            <a:spAutoFit/>
          </a:bodyPr>
          <a:lstStyle/>
          <a:p>
            <a:pPr algn="l">
              <a:lnSpc>
                <a:spcPct val="110000"/>
              </a:lnSpc>
              <a:spcAft>
                <a:spcPts val="400"/>
              </a:spcAft>
            </a:pPr>
            <a:r>
              <a:rPr sz="950" b="1" i="0">
                <a:solidFill>
                  <a:srgbClr val="22D3EE"/>
                </a:solidFill>
                <a:latin typeface="Segoe UI"/>
              </a:rPr>
              <a:t>ASSIGNMENT MODEL</a:t>
            </a:r>
          </a:p>
        </p:txBody>
      </p:sp>
      <p:sp>
        <p:nvSpPr>
          <p:cNvPr id="13" name="TextBox 12"/>
          <p:cNvSpPr txBox="1"/>
          <p:nvPr/>
        </p:nvSpPr>
        <p:spPr>
          <a:xfrm>
            <a:off x="4389120" y="1783080"/>
            <a:ext cx="3474720" cy="2926080"/>
          </a:xfrm>
          <a:prstGeom prst="rect">
            <a:avLst/>
          </a:prstGeom>
          <a:noFill/>
        </p:spPr>
        <p:txBody>
          <a:bodyPr wrap="square" lIns="45720" rIns="45720">
            <a:spAutoFit/>
          </a:bodyPr>
          <a:lstStyle/>
          <a:p>
            <a:pPr>
              <a:lnSpc>
                <a:spcPct val="112000"/>
              </a:lnSpc>
              <a:spcAft>
                <a:spcPts val="600"/>
              </a:spcAft>
            </a:pPr>
            <a:r>
              <a:rPr sz="1050" b="1">
                <a:solidFill>
                  <a:srgbClr val="22D3EE"/>
                </a:solidFill>
                <a:latin typeface="Segoe UI"/>
              </a:rPr>
              <a:t>•  </a:t>
            </a:r>
            <a:r>
              <a:rPr b="1" sz="1050">
                <a:solidFill>
                  <a:srgbClr val="E6EDF3"/>
                </a:solidFill>
                <a:latin typeface="Segoe UI"/>
              </a:rPr>
              <a:t>CP-SAT (OR-Tools): </a:t>
            </a:r>
            <a:r>
              <a:rPr sz="1050">
                <a:solidFill>
                  <a:srgbClr val="E6EDF3"/>
                </a:solidFill>
                <a:latin typeface="Segoe UI"/>
              </a:rPr>
              <a:t>x[r][b] ∈ {0,1}; each batch ≤ 1 robot, each robot ≤ 1 batch; maximise assignments, minimise cost; 0.2 s limit; single worker + fixed seed → deterministic.</a:t>
            </a:r>
          </a:p>
          <a:p>
            <a:pPr>
              <a:lnSpc>
                <a:spcPct val="112000"/>
              </a:lnSpc>
              <a:spcAft>
                <a:spcPts val="600"/>
              </a:spcAft>
            </a:pPr>
            <a:r>
              <a:rPr sz="1050" b="1">
                <a:solidFill>
                  <a:srgbClr val="22D3EE"/>
                </a:solidFill>
                <a:latin typeface="Segoe UI"/>
              </a:rPr>
              <a:t>•  </a:t>
            </a:r>
            <a:r>
              <a:rPr b="1" sz="1050">
                <a:solidFill>
                  <a:srgbClr val="E6EDF3"/>
                </a:solidFill>
                <a:latin typeface="Segoe UI"/>
              </a:rPr>
              <a:t>Costs: </a:t>
            </a:r>
            <a:r>
              <a:rPr sz="1050">
                <a:solidFill>
                  <a:srgbClr val="E6EDF3"/>
                </a:solidFill>
                <a:latin typeface="Segoe UI"/>
              </a:rPr>
              <a:t>exact BFS distances, trip estimate, lateness vs deadline, battery risk, congestion of zones touched.</a:t>
            </a:r>
          </a:p>
          <a:p>
            <a:pPr>
              <a:lnSpc>
                <a:spcPct val="112000"/>
              </a:lnSpc>
              <a:spcAft>
                <a:spcPts val="600"/>
              </a:spcAft>
            </a:pPr>
            <a:r>
              <a:rPr sz="1050" b="1">
                <a:solidFill>
                  <a:srgbClr val="22D3EE"/>
                </a:solidFill>
                <a:latin typeface="Segoe UI"/>
              </a:rPr>
              <a:t>•  </a:t>
            </a:r>
            <a:r>
              <a:rPr b="1" sz="1050">
                <a:solidFill>
                  <a:srgbClr val="E6EDF3"/>
                </a:solidFill>
                <a:latin typeface="Segoe UI"/>
              </a:rPr>
              <a:t>Fallback chain: </a:t>
            </a:r>
            <a:r>
              <a:rPr sz="1050">
                <a:solidFill>
                  <a:srgbClr val="E6EDF3"/>
                </a:solidFill>
                <a:latin typeface="Segoe UI"/>
              </a:rPr>
              <a:t>CP-SAT → Hungarian (scipy) → greedy; a genetic allocator generates alternative allocations.</a:t>
            </a:r>
          </a:p>
        </p:txBody>
      </p:sp>
      <p:sp>
        <p:nvSpPr>
          <p:cNvPr id="14" name="Rounded Rectangle 13"/>
          <p:cNvSpPr/>
          <p:nvPr/>
        </p:nvSpPr>
        <p:spPr>
          <a:xfrm>
            <a:off x="8046720" y="1417320"/>
            <a:ext cx="3611880" cy="338328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74736" y="1508760"/>
            <a:ext cx="3355848" cy="274320"/>
          </a:xfrm>
          <a:prstGeom prst="rect">
            <a:avLst/>
          </a:prstGeom>
          <a:noFill/>
        </p:spPr>
        <p:txBody>
          <a:bodyPr wrap="square" anchor="t" lIns="36576" rIns="36576" tIns="36576" bIns="36576">
            <a:spAutoFit/>
          </a:bodyPr>
          <a:lstStyle/>
          <a:p>
            <a:pPr algn="l">
              <a:lnSpc>
                <a:spcPct val="110000"/>
              </a:lnSpc>
              <a:spcAft>
                <a:spcPts val="400"/>
              </a:spcAft>
            </a:pPr>
            <a:r>
              <a:rPr sz="950" b="1" i="0">
                <a:solidFill>
                  <a:srgbClr val="22D3EE"/>
                </a:solidFill>
                <a:latin typeface="Segoe UI"/>
              </a:rPr>
              <a:t>LEVERS THE AGENTS PULL</a:t>
            </a:r>
          </a:p>
        </p:txBody>
      </p:sp>
      <p:sp>
        <p:nvSpPr>
          <p:cNvPr id="16" name="TextBox 15"/>
          <p:cNvSpPr txBox="1"/>
          <p:nvPr/>
        </p:nvSpPr>
        <p:spPr>
          <a:xfrm>
            <a:off x="8138160" y="1783080"/>
            <a:ext cx="3474720" cy="2926080"/>
          </a:xfrm>
          <a:prstGeom prst="rect">
            <a:avLst/>
          </a:prstGeom>
          <a:noFill/>
        </p:spPr>
        <p:txBody>
          <a:bodyPr wrap="square" lIns="45720" rIns="45720">
            <a:spAutoFit/>
          </a:bodyPr>
          <a:lstStyle/>
          <a:p>
            <a:pPr>
              <a:lnSpc>
                <a:spcPct val="112000"/>
              </a:lnSpc>
              <a:spcAft>
                <a:spcPts val="600"/>
              </a:spcAft>
            </a:pPr>
            <a:r>
              <a:rPr sz="1050" b="1">
                <a:solidFill>
                  <a:srgbClr val="22D3EE"/>
                </a:solidFill>
                <a:latin typeface="Segoe UI"/>
              </a:rPr>
              <a:t>•  </a:t>
            </a:r>
            <a:r>
              <a:rPr b="1" sz="1050">
                <a:solidFill>
                  <a:srgbClr val="E6EDF3"/>
                </a:solidFill>
                <a:latin typeface="Segoe UI"/>
              </a:rPr>
              <a:t>Batching — </a:t>
            </a:r>
            <a:r>
              <a:rPr sz="1050">
                <a:solidFill>
                  <a:srgbClr val="E6EDF3"/>
                </a:solidFill>
                <a:latin typeface="Segoe UI"/>
              </a:rPr>
              <a:t>2–4 orders per trip clustered by zone proximity, deadline-aware.</a:t>
            </a:r>
          </a:p>
          <a:p>
            <a:pPr>
              <a:lnSpc>
                <a:spcPct val="112000"/>
              </a:lnSpc>
              <a:spcAft>
                <a:spcPts val="600"/>
              </a:spcAft>
            </a:pPr>
            <a:r>
              <a:rPr sz="1050" b="1">
                <a:solidFill>
                  <a:srgbClr val="22D3EE"/>
                </a:solidFill>
                <a:latin typeface="Segoe UI"/>
              </a:rPr>
              <a:t>•  </a:t>
            </a:r>
            <a:r>
              <a:rPr b="1" sz="1050">
                <a:solidFill>
                  <a:srgbClr val="E6EDF3"/>
                </a:solidFill>
                <a:latin typeface="Segoe UI"/>
              </a:rPr>
              <a:t>Weighted EDF — </a:t>
            </a:r>
            <a:r>
              <a:rPr sz="1050">
                <a:solidFill>
                  <a:srgbClr val="E6EDF3"/>
                </a:solidFill>
                <a:latin typeface="Segoe UI"/>
              </a:rPr>
              <a:t>sequence by deadline slack over priority weight.</a:t>
            </a:r>
          </a:p>
          <a:p>
            <a:pPr>
              <a:lnSpc>
                <a:spcPct val="112000"/>
              </a:lnSpc>
              <a:spcAft>
                <a:spcPts val="600"/>
              </a:spcAft>
            </a:pPr>
            <a:r>
              <a:rPr sz="1050" b="1">
                <a:solidFill>
                  <a:srgbClr val="22D3EE"/>
                </a:solidFill>
                <a:latin typeface="Segoe UI"/>
              </a:rPr>
              <a:t>•  </a:t>
            </a:r>
            <a:r>
              <a:rPr b="1" sz="1050">
                <a:solidFill>
                  <a:srgbClr val="E6EDF3"/>
                </a:solidFill>
                <a:latin typeface="Segoe UI"/>
              </a:rPr>
              <a:t>Routing policies — </a:t>
            </a:r>
            <a:r>
              <a:rPr sz="1050">
                <a:solidFill>
                  <a:srgbClr val="E6EDF3"/>
                </a:solidFill>
                <a:latin typeface="Segoe UI"/>
              </a:rPr>
              <a:t>avoid zones, prefer corridors, soft capacities, with expiry.</a:t>
            </a:r>
          </a:p>
          <a:p>
            <a:pPr>
              <a:lnSpc>
                <a:spcPct val="112000"/>
              </a:lnSpc>
              <a:spcAft>
                <a:spcPts val="600"/>
              </a:spcAft>
            </a:pPr>
            <a:r>
              <a:rPr sz="1050" b="1">
                <a:solidFill>
                  <a:srgbClr val="22D3EE"/>
                </a:solidFill>
                <a:latin typeface="Segoe UI"/>
              </a:rPr>
              <a:t>•  </a:t>
            </a:r>
            <a:r>
              <a:rPr b="1" sz="1050">
                <a:solidFill>
                  <a:srgbClr val="E6EDF3"/>
                </a:solidFill>
                <a:latin typeface="Segoe UI"/>
              </a:rPr>
              <a:t>Pre-emptive charging — </a:t>
            </a:r>
            <a:r>
              <a:rPr sz="1050">
                <a:solidFill>
                  <a:srgbClr val="E6EDF3"/>
                </a:solidFill>
                <a:latin typeface="Segoe UI"/>
              </a:rPr>
              <a:t>robots charge before exhaustion, never a quarter of the fleet at once.</a:t>
            </a:r>
          </a:p>
        </p:txBody>
      </p:sp>
      <p:sp>
        <p:nvSpPr>
          <p:cNvPr id="17" name="Rounded Rectangle 16"/>
          <p:cNvSpPr/>
          <p:nvPr/>
        </p:nvSpPr>
        <p:spPr>
          <a:xfrm>
            <a:off x="548640" y="4983480"/>
            <a:ext cx="3611880" cy="118872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074920"/>
            <a:ext cx="3392424" cy="653796"/>
          </a:xfrm>
          <a:prstGeom prst="rect">
            <a:avLst/>
          </a:prstGeom>
          <a:noFill/>
        </p:spPr>
        <p:txBody>
          <a:bodyPr wrap="square" anchor="ctr" lIns="36576" rIns="36576" tIns="36576" bIns="36576">
            <a:spAutoFit/>
          </a:bodyPr>
          <a:lstStyle/>
          <a:p>
            <a:pPr algn="l">
              <a:lnSpc>
                <a:spcPct val="110000"/>
              </a:lnSpc>
              <a:spcAft>
                <a:spcPts val="400"/>
              </a:spcAft>
            </a:pPr>
            <a:r>
              <a:rPr sz="1800" b="1" i="0">
                <a:solidFill>
                  <a:srgbClr val="22D3EE"/>
                </a:solidFill>
                <a:latin typeface="Consolas"/>
              </a:rPr>
              <a:t>~420 → ~600+/h</a:t>
            </a:r>
          </a:p>
        </p:txBody>
      </p:sp>
      <p:sp>
        <p:nvSpPr>
          <p:cNvPr id="19" name="TextBox 18"/>
          <p:cNvSpPr txBox="1"/>
          <p:nvPr/>
        </p:nvSpPr>
        <p:spPr>
          <a:xfrm>
            <a:off x="658368" y="5672937"/>
            <a:ext cx="3392424" cy="475488"/>
          </a:xfrm>
          <a:prstGeom prst="rect">
            <a:avLst/>
          </a:prstGeom>
          <a:noFill/>
        </p:spPr>
        <p:txBody>
          <a:bodyPr wrap="square" anchor="t" lIns="36576" rIns="36576" tIns="36576" bIns="36576">
            <a:spAutoFit/>
          </a:bodyPr>
          <a:lstStyle/>
          <a:p>
            <a:pPr algn="l">
              <a:lnSpc>
                <a:spcPct val="105000"/>
              </a:lnSpc>
              <a:spcAft>
                <a:spcPts val="400"/>
              </a:spcAft>
            </a:pPr>
            <a:r>
              <a:rPr sz="1000" b="0" i="0">
                <a:solidFill>
                  <a:srgbClr val="8B98A5"/>
                </a:solidFill>
                <a:latin typeface="Segoe UI"/>
              </a:rPr>
              <a:t>capacity of 12 robots: naive dispatch vs optimized scheduler (peak sweep)</a:t>
            </a:r>
          </a:p>
        </p:txBody>
      </p:sp>
      <p:sp>
        <p:nvSpPr>
          <p:cNvPr id="20" name="Rounded Rectangle 19"/>
          <p:cNvSpPr/>
          <p:nvPr/>
        </p:nvSpPr>
        <p:spPr>
          <a:xfrm>
            <a:off x="4297680" y="4983480"/>
            <a:ext cx="3611880" cy="118872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07408" y="5074920"/>
            <a:ext cx="3392424" cy="653796"/>
          </a:xfrm>
          <a:prstGeom prst="rect">
            <a:avLst/>
          </a:prstGeom>
          <a:noFill/>
        </p:spPr>
        <p:txBody>
          <a:bodyPr wrap="square" anchor="ctr" lIns="36576" rIns="36576" tIns="36576" bIns="36576">
            <a:spAutoFit/>
          </a:bodyPr>
          <a:lstStyle/>
          <a:p>
            <a:pPr algn="l">
              <a:lnSpc>
                <a:spcPct val="110000"/>
              </a:lnSpc>
              <a:spcAft>
                <a:spcPts val="400"/>
              </a:spcAft>
            </a:pPr>
            <a:r>
              <a:rPr sz="1800" b="1" i="0">
                <a:solidFill>
                  <a:srgbClr val="22C55E"/>
                </a:solidFill>
                <a:latin typeface="Consolas"/>
              </a:rPr>
              <a:t>0.4% vs 48%</a:t>
            </a:r>
          </a:p>
        </p:txBody>
      </p:sp>
      <p:sp>
        <p:nvSpPr>
          <p:cNvPr id="22" name="TextBox 21"/>
          <p:cNvSpPr txBox="1"/>
          <p:nvPr/>
        </p:nvSpPr>
        <p:spPr>
          <a:xfrm>
            <a:off x="4407408" y="5672937"/>
            <a:ext cx="3392424" cy="475488"/>
          </a:xfrm>
          <a:prstGeom prst="rect">
            <a:avLst/>
          </a:prstGeom>
          <a:noFill/>
        </p:spPr>
        <p:txBody>
          <a:bodyPr wrap="square" anchor="t" lIns="36576" rIns="36576" tIns="36576" bIns="36576">
            <a:spAutoFit/>
          </a:bodyPr>
          <a:lstStyle/>
          <a:p>
            <a:pPr algn="l">
              <a:lnSpc>
                <a:spcPct val="105000"/>
              </a:lnSpc>
              <a:spcAft>
                <a:spcPts val="400"/>
              </a:spcAft>
            </a:pPr>
            <a:r>
              <a:rPr sz="1000" b="0" i="0">
                <a:solidFill>
                  <a:srgbClr val="8B98A5"/>
                </a:solidFill>
                <a:latin typeface="Segoe UI"/>
              </a:rPr>
              <a:t>SLA breach at 504 orders/h: optimized vs baseline (90 min, same seed)</a:t>
            </a:r>
          </a:p>
        </p:txBody>
      </p:sp>
      <p:sp>
        <p:nvSpPr>
          <p:cNvPr id="23" name="Rounded Rectangle 22"/>
          <p:cNvSpPr/>
          <p:nvPr/>
        </p:nvSpPr>
        <p:spPr>
          <a:xfrm>
            <a:off x="8046720" y="4983480"/>
            <a:ext cx="3611880" cy="118872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56448" y="5074920"/>
            <a:ext cx="3392424" cy="653796"/>
          </a:xfrm>
          <a:prstGeom prst="rect">
            <a:avLst/>
          </a:prstGeom>
          <a:noFill/>
        </p:spPr>
        <p:txBody>
          <a:bodyPr wrap="square" anchor="ctr" lIns="36576" rIns="36576" tIns="36576" bIns="36576">
            <a:spAutoFit/>
          </a:bodyPr>
          <a:lstStyle/>
          <a:p>
            <a:pPr algn="l">
              <a:lnSpc>
                <a:spcPct val="110000"/>
              </a:lnSpc>
              <a:spcAft>
                <a:spcPts val="400"/>
              </a:spcAft>
            </a:pPr>
            <a:r>
              <a:rPr sz="1800" b="1" i="0">
                <a:solidFill>
                  <a:srgbClr val="A78BFA"/>
                </a:solidFill>
                <a:latin typeface="Consolas"/>
              </a:rPr>
              <a:t>0.2 s</a:t>
            </a:r>
          </a:p>
        </p:txBody>
      </p:sp>
      <p:sp>
        <p:nvSpPr>
          <p:cNvPr id="25" name="TextBox 24"/>
          <p:cNvSpPr txBox="1"/>
          <p:nvPr/>
        </p:nvSpPr>
        <p:spPr>
          <a:xfrm>
            <a:off x="8156448" y="5672937"/>
            <a:ext cx="3392424" cy="475488"/>
          </a:xfrm>
          <a:prstGeom prst="rect">
            <a:avLst/>
          </a:prstGeom>
          <a:noFill/>
        </p:spPr>
        <p:txBody>
          <a:bodyPr wrap="square" anchor="t" lIns="36576" rIns="36576" tIns="36576" bIns="36576">
            <a:spAutoFit/>
          </a:bodyPr>
          <a:lstStyle/>
          <a:p>
            <a:pPr algn="l">
              <a:lnSpc>
                <a:spcPct val="105000"/>
              </a:lnSpc>
              <a:spcAft>
                <a:spcPts val="400"/>
              </a:spcAft>
            </a:pPr>
            <a:r>
              <a:rPr sz="1000" b="0" i="0">
                <a:solidFill>
                  <a:srgbClr val="8B98A5"/>
                </a:solidFill>
                <a:latin typeface="Segoe UI"/>
              </a:rPr>
              <a:t>CP-SAT time limit per planning cycle; ≈ 2k ticks/s end-to-end on the small world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D12"/>
        </a:solidFill>
        <a:effectLst/>
      </p:bgPr>
    </p:bg>
    <p:spTree>
      <p:nvGrpSpPr>
        <p:cNvPr id="1" name=""/>
        <p:cNvGrpSpPr/>
        <p:nvPr/>
      </p:nvGrpSpPr>
      <p:grpSpPr/>
      <p:sp>
        <p:nvSpPr>
          <p:cNvPr id="2" name="TextBox 1"/>
          <p:cNvSpPr txBox="1"/>
          <p:nvPr/>
        </p:nvSpPr>
        <p:spPr>
          <a:xfrm>
            <a:off x="548640" y="256032"/>
            <a:ext cx="8229600" cy="274320"/>
          </a:xfrm>
          <a:prstGeom prst="rect">
            <a:avLst/>
          </a:prstGeom>
          <a:noFill/>
        </p:spPr>
        <p:txBody>
          <a:bodyPr wrap="square" anchor="t" lIns="36576" rIns="36576" tIns="36576" bIns="36576">
            <a:spAutoFit/>
          </a:bodyPr>
          <a:lstStyle/>
          <a:p>
            <a:pPr algn="l">
              <a:lnSpc>
                <a:spcPct val="110000"/>
              </a:lnSpc>
              <a:spcAft>
                <a:spcPts val="400"/>
              </a:spcAft>
            </a:pPr>
            <a:r>
              <a:rPr sz="1050" b="1" i="0">
                <a:solidFill>
                  <a:srgbClr val="22D3EE"/>
                </a:solidFill>
                <a:latin typeface="Segoe UI"/>
              </a:rPr>
              <a:t>FORECASTING</a:t>
            </a:r>
          </a:p>
        </p:txBody>
      </p:sp>
      <p:sp>
        <p:nvSpPr>
          <p:cNvPr id="3" name="TextBox 2"/>
          <p:cNvSpPr txBox="1"/>
          <p:nvPr/>
        </p:nvSpPr>
        <p:spPr>
          <a:xfrm>
            <a:off x="548640" y="502920"/>
            <a:ext cx="10607040" cy="731520"/>
          </a:xfrm>
          <a:prstGeom prst="rect">
            <a:avLst/>
          </a:prstGeom>
          <a:noFill/>
        </p:spPr>
        <p:txBody>
          <a:bodyPr wrap="square" anchor="ctr" lIns="36576" rIns="36576" tIns="36576" bIns="36576">
            <a:spAutoFit/>
          </a:bodyPr>
          <a:lstStyle/>
          <a:p>
            <a:pPr algn="l">
              <a:lnSpc>
                <a:spcPct val="110000"/>
              </a:lnSpc>
              <a:spcAft>
                <a:spcPts val="400"/>
              </a:spcAft>
            </a:pPr>
            <a:r>
              <a:rPr sz="2800" b="1" i="0">
                <a:solidFill>
                  <a:srgbClr val="E6EDF3"/>
                </a:solidFill>
                <a:latin typeface="Segoe UI"/>
              </a:rPr>
              <a:t>NEXUS does not just respond — it anticipates</a:t>
            </a:r>
          </a:p>
        </p:txBody>
      </p:sp>
      <p:sp>
        <p:nvSpPr>
          <p:cNvPr id="4" name="Rectangle 3"/>
          <p:cNvSpPr/>
          <p:nvPr/>
        </p:nvSpPr>
        <p:spPr>
          <a:xfrm>
            <a:off x="566928" y="1216152"/>
            <a:ext cx="100584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6400800" cy="274320"/>
          </a:xfrm>
          <a:prstGeom prst="rect">
            <a:avLst/>
          </a:prstGeom>
          <a:noFill/>
        </p:spPr>
        <p:txBody>
          <a:bodyPr wrap="square" anchor="t" lIns="36576" rIns="36576" tIns="36576" bIns="36576">
            <a:spAutoFit/>
          </a:bodyPr>
          <a:lstStyle/>
          <a:p>
            <a:pPr algn="l">
              <a:lnSpc>
                <a:spcPct val="110000"/>
              </a:lnSpc>
              <a:spcAft>
                <a:spcPts val="400"/>
              </a:spcAft>
            </a:pPr>
            <a:r>
              <a:rPr sz="950" b="0" i="0">
                <a:solidFill>
                  <a:srgbClr val="8B98A5"/>
                </a:solidFill>
                <a:latin typeface="Segoe UI"/>
              </a:rPr>
              <a:t>NEXUS · Autonomous Operations Intelligence</a:t>
            </a:r>
          </a:p>
        </p:txBody>
      </p:sp>
      <p:sp>
        <p:nvSpPr>
          <p:cNvPr id="6" name="TextBox 5"/>
          <p:cNvSpPr txBox="1"/>
          <p:nvPr/>
        </p:nvSpPr>
        <p:spPr>
          <a:xfrm>
            <a:off x="10607040" y="6446520"/>
            <a:ext cx="1051560" cy="274320"/>
          </a:xfrm>
          <a:prstGeom prst="rect">
            <a:avLst/>
          </a:prstGeom>
          <a:noFill/>
        </p:spPr>
        <p:txBody>
          <a:bodyPr wrap="square" anchor="t" lIns="36576" rIns="36576" tIns="36576" bIns="36576">
            <a:spAutoFit/>
          </a:bodyPr>
          <a:lstStyle/>
          <a:p>
            <a:pPr algn="r">
              <a:lnSpc>
                <a:spcPct val="110000"/>
              </a:lnSpc>
              <a:spcAft>
                <a:spcPts val="400"/>
              </a:spcAft>
            </a:pPr>
            <a:r>
              <a:rPr sz="950" b="0" i="0">
                <a:solidFill>
                  <a:srgbClr val="8B98A5"/>
                </a:solidFill>
                <a:latin typeface="Consolas"/>
              </a:rPr>
              <a:t>13</a:t>
            </a:r>
          </a:p>
        </p:txBody>
      </p:sp>
      <p:sp>
        <p:nvSpPr>
          <p:cNvPr id="7" name="Rounded Rectangle 6"/>
          <p:cNvSpPr/>
          <p:nvPr/>
        </p:nvSpPr>
        <p:spPr>
          <a:xfrm>
            <a:off x="548640" y="1417320"/>
            <a:ext cx="5532120" cy="1874519"/>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27048"/>
            <a:ext cx="2743200" cy="320040"/>
          </a:xfrm>
          <a:prstGeom prst="rect">
            <a:avLst/>
          </a:prstGeom>
          <a:noFill/>
        </p:spPr>
        <p:txBody>
          <a:bodyPr wrap="square" anchor="t" lIns="36576" rIns="36576" tIns="36576" bIns="36576">
            <a:spAutoFit/>
          </a:bodyPr>
          <a:lstStyle/>
          <a:p>
            <a:pPr algn="l">
              <a:lnSpc>
                <a:spcPct val="110000"/>
              </a:lnSpc>
              <a:spcAft>
                <a:spcPts val="400"/>
              </a:spcAft>
            </a:pPr>
            <a:r>
              <a:rPr sz="1400" b="1" i="0">
                <a:solidFill>
                  <a:srgbClr val="22D3EE"/>
                </a:solidFill>
                <a:latin typeface="Segoe UI"/>
              </a:rPr>
              <a:t>Demand</a:t>
            </a:r>
          </a:p>
        </p:txBody>
      </p:sp>
      <p:sp>
        <p:nvSpPr>
          <p:cNvPr id="9" name="TextBox 8"/>
          <p:cNvSpPr txBox="1"/>
          <p:nvPr/>
        </p:nvSpPr>
        <p:spPr>
          <a:xfrm>
            <a:off x="685800" y="1874519"/>
            <a:ext cx="5303520" cy="1417320"/>
          </a:xfrm>
          <a:prstGeom prst="rect">
            <a:avLst/>
          </a:prstGeom>
          <a:noFill/>
        </p:spPr>
        <p:txBody>
          <a:bodyPr wrap="square" lIns="45720" rIns="45720">
            <a:spAutoFit/>
          </a:bodyPr>
          <a:lstStyle/>
          <a:p>
            <a:pPr>
              <a:lnSpc>
                <a:spcPct val="112000"/>
              </a:lnSpc>
              <a:spcAft>
                <a:spcPts val="300"/>
              </a:spcAft>
            </a:pPr>
            <a:r>
              <a:rPr sz="1050" b="1">
                <a:solidFill>
                  <a:srgbClr val="22D3EE"/>
                </a:solidFill>
                <a:latin typeface="Segoe UI"/>
              </a:rPr>
              <a:t>•  </a:t>
            </a:r>
            <a:r>
              <a:rPr sz="1050">
                <a:solidFill>
                  <a:srgbClr val="E6EDF3"/>
                </a:solidFill>
                <a:latin typeface="Segoe UI"/>
              </a:rPr>
              <a:t>Holt-Winters (additive, damped) over per-minute arrivals, blended with the twin's demand-profile prior</a:t>
            </a:r>
          </a:p>
          <a:p>
            <a:pPr>
              <a:lnSpc>
                <a:spcPct val="112000"/>
              </a:lnSpc>
              <a:spcAft>
                <a:spcPts val="300"/>
              </a:spcAft>
            </a:pPr>
            <a:r>
              <a:rPr sz="1050" b="1">
                <a:solidFill>
                  <a:srgbClr val="22D3EE"/>
                </a:solidFill>
                <a:latin typeface="Segoe UI"/>
              </a:rPr>
              <a:t>•  </a:t>
            </a:r>
            <a:r>
              <a:rPr sz="1050">
                <a:solidFill>
                  <a:srgbClr val="E6EDF3"/>
                </a:solidFill>
                <a:latin typeface="Segoe UI"/>
              </a:rPr>
              <a:t>15-minute buckets with prediction intervals; trend; capacity/h from fleet × task duration; projected utilization</a:t>
            </a:r>
          </a:p>
        </p:txBody>
      </p:sp>
      <p:sp>
        <p:nvSpPr>
          <p:cNvPr id="10" name="Rounded Rectangle 9"/>
          <p:cNvSpPr/>
          <p:nvPr/>
        </p:nvSpPr>
        <p:spPr>
          <a:xfrm>
            <a:off x="6126480" y="1417320"/>
            <a:ext cx="5532120" cy="1874519"/>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527048"/>
            <a:ext cx="2743200" cy="320040"/>
          </a:xfrm>
          <a:prstGeom prst="rect">
            <a:avLst/>
          </a:prstGeom>
          <a:noFill/>
        </p:spPr>
        <p:txBody>
          <a:bodyPr wrap="square" anchor="t" lIns="36576" rIns="36576" tIns="36576" bIns="36576">
            <a:spAutoFit/>
          </a:bodyPr>
          <a:lstStyle/>
          <a:p>
            <a:pPr algn="l">
              <a:lnSpc>
                <a:spcPct val="110000"/>
              </a:lnSpc>
              <a:spcAft>
                <a:spcPts val="400"/>
              </a:spcAft>
            </a:pPr>
            <a:r>
              <a:rPr sz="1400" b="1" i="0">
                <a:solidFill>
                  <a:srgbClr val="22C55E"/>
                </a:solidFill>
                <a:latin typeface="Segoe UI"/>
              </a:rPr>
              <a:t>Battery</a:t>
            </a:r>
          </a:p>
        </p:txBody>
      </p:sp>
      <p:sp>
        <p:nvSpPr>
          <p:cNvPr id="12" name="TextBox 11"/>
          <p:cNvSpPr txBox="1"/>
          <p:nvPr/>
        </p:nvSpPr>
        <p:spPr>
          <a:xfrm>
            <a:off x="6263640" y="1874519"/>
            <a:ext cx="5303520" cy="1417320"/>
          </a:xfrm>
          <a:prstGeom prst="rect">
            <a:avLst/>
          </a:prstGeom>
          <a:noFill/>
        </p:spPr>
        <p:txBody>
          <a:bodyPr wrap="square" lIns="45720" rIns="45720">
            <a:spAutoFit/>
          </a:bodyPr>
          <a:lstStyle/>
          <a:p>
            <a:pPr>
              <a:lnSpc>
                <a:spcPct val="112000"/>
              </a:lnSpc>
              <a:spcAft>
                <a:spcPts val="300"/>
              </a:spcAft>
            </a:pPr>
            <a:r>
              <a:rPr sz="1050" b="1">
                <a:solidFill>
                  <a:srgbClr val="22C55E"/>
                </a:solidFill>
                <a:latin typeface="Segoe UI"/>
              </a:rPr>
              <a:t>•  </a:t>
            </a:r>
            <a:r>
              <a:rPr sz="1050">
                <a:solidFill>
                  <a:srgbClr val="E6EDF3"/>
                </a:solidFill>
                <a:latin typeface="Segoe UI"/>
              </a:rPr>
              <a:t>per robot: drain rate from history vs remaining workload → predicted exhaustion minutes</a:t>
            </a:r>
          </a:p>
          <a:p>
            <a:pPr>
              <a:lnSpc>
                <a:spcPct val="112000"/>
              </a:lnSpc>
              <a:spcAft>
                <a:spcPts val="300"/>
              </a:spcAft>
            </a:pPr>
            <a:r>
              <a:rPr sz="1050" b="1">
                <a:solidFill>
                  <a:srgbClr val="22C55E"/>
                </a:solidFill>
                <a:latin typeface="Segoe UI"/>
              </a:rPr>
              <a:t>•  </a:t>
            </a:r>
            <a:r>
              <a:rPr sz="1050">
                <a:solidFill>
                  <a:srgbClr val="E6EDF3"/>
                </a:solidFill>
                <a:latin typeface="Segoe UI"/>
              </a:rPr>
              <a:t>charger ETA via pathfinding; risk high if exhaustion &lt; ETA + 10 min</a:t>
            </a:r>
          </a:p>
          <a:p>
            <a:pPr>
              <a:lnSpc>
                <a:spcPct val="112000"/>
              </a:lnSpc>
              <a:spcAft>
                <a:spcPts val="300"/>
              </a:spcAft>
            </a:pPr>
            <a:r>
              <a:rPr sz="1050" b="1">
                <a:solidFill>
                  <a:srgbClr val="22C55E"/>
                </a:solidFill>
                <a:latin typeface="Segoe UI"/>
              </a:rPr>
              <a:t>•  </a:t>
            </a:r>
            <a:r>
              <a:rPr sz="1050">
                <a:solidFill>
                  <a:srgbClr val="E6EDF3"/>
                </a:solidFill>
                <a:latin typeface="Segoe UI"/>
              </a:rPr>
              <a:t>"Send R04 to charging after its current task (exhaustion in 23 min, charger 4 min away)"</a:t>
            </a:r>
          </a:p>
        </p:txBody>
      </p:sp>
      <p:sp>
        <p:nvSpPr>
          <p:cNvPr id="13" name="Rounded Rectangle 12"/>
          <p:cNvSpPr/>
          <p:nvPr/>
        </p:nvSpPr>
        <p:spPr>
          <a:xfrm>
            <a:off x="548640" y="3429000"/>
            <a:ext cx="5532120" cy="1874519"/>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538728"/>
            <a:ext cx="2743200" cy="320040"/>
          </a:xfrm>
          <a:prstGeom prst="rect">
            <a:avLst/>
          </a:prstGeom>
          <a:noFill/>
        </p:spPr>
        <p:txBody>
          <a:bodyPr wrap="square" anchor="t" lIns="36576" rIns="36576" tIns="36576" bIns="36576">
            <a:spAutoFit/>
          </a:bodyPr>
          <a:lstStyle/>
          <a:p>
            <a:pPr algn="l">
              <a:lnSpc>
                <a:spcPct val="110000"/>
              </a:lnSpc>
              <a:spcAft>
                <a:spcPts val="400"/>
              </a:spcAft>
            </a:pPr>
            <a:r>
              <a:rPr sz="1400" b="1" i="0">
                <a:solidFill>
                  <a:srgbClr val="F59E0B"/>
                </a:solidFill>
                <a:latin typeface="Segoe UI"/>
              </a:rPr>
              <a:t>Congestion</a:t>
            </a:r>
          </a:p>
        </p:txBody>
      </p:sp>
      <p:sp>
        <p:nvSpPr>
          <p:cNvPr id="15" name="TextBox 14"/>
          <p:cNvSpPr txBox="1"/>
          <p:nvPr/>
        </p:nvSpPr>
        <p:spPr>
          <a:xfrm>
            <a:off x="685800" y="3886200"/>
            <a:ext cx="5303520" cy="1417320"/>
          </a:xfrm>
          <a:prstGeom prst="rect">
            <a:avLst/>
          </a:prstGeom>
          <a:noFill/>
        </p:spPr>
        <p:txBody>
          <a:bodyPr wrap="square" lIns="45720" rIns="45720">
            <a:spAutoFit/>
          </a:bodyPr>
          <a:lstStyle/>
          <a:p>
            <a:pPr>
              <a:lnSpc>
                <a:spcPct val="112000"/>
              </a:lnSpc>
              <a:spcAft>
                <a:spcPts val="300"/>
              </a:spcAft>
            </a:pPr>
            <a:r>
              <a:rPr sz="1050" b="1">
                <a:solidFill>
                  <a:srgbClr val="F59E0B"/>
                </a:solidFill>
                <a:latin typeface="Segoe UI"/>
              </a:rPr>
              <a:t>•  </a:t>
            </a:r>
            <a:r>
              <a:rPr sz="1050">
                <a:solidFill>
                  <a:srgbClr val="E6EDF3"/>
                </a:solidFill>
                <a:latin typeface="Segoe UI"/>
              </a:rPr>
              <a:t>per zone: robots inside + en route + the wave of open orders that require the zone (Little's law) + history trend</a:t>
            </a:r>
          </a:p>
          <a:p>
            <a:pPr>
              <a:lnSpc>
                <a:spcPct val="112000"/>
              </a:lnSpc>
              <a:spcAft>
                <a:spcPts val="300"/>
              </a:spcAft>
            </a:pPr>
            <a:r>
              <a:rPr sz="1050" b="1">
                <a:solidFill>
                  <a:srgbClr val="F59E0B"/>
                </a:solidFill>
                <a:latin typeface="Segoe UI"/>
              </a:rPr>
              <a:t>•  </a:t>
            </a:r>
            <a:r>
              <a:rPr sz="1050">
                <a:solidFill>
                  <a:srgbClr val="E6EDF3"/>
                </a:solidFill>
                <a:latin typeface="Segoe UI"/>
              </a:rPr>
              <a:t>projected load vs capacity, ETA to congestion, drivers ("14 open orders require Zone C")</a:t>
            </a:r>
          </a:p>
        </p:txBody>
      </p:sp>
      <p:sp>
        <p:nvSpPr>
          <p:cNvPr id="16" name="Rounded Rectangle 15"/>
          <p:cNvSpPr/>
          <p:nvPr/>
        </p:nvSpPr>
        <p:spPr>
          <a:xfrm>
            <a:off x="6126480" y="3429000"/>
            <a:ext cx="5532120" cy="1874519"/>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9360" y="3538728"/>
            <a:ext cx="2743200" cy="320040"/>
          </a:xfrm>
          <a:prstGeom prst="rect">
            <a:avLst/>
          </a:prstGeom>
          <a:noFill/>
        </p:spPr>
        <p:txBody>
          <a:bodyPr wrap="square" anchor="t" lIns="36576" rIns="36576" tIns="36576" bIns="36576">
            <a:spAutoFit/>
          </a:bodyPr>
          <a:lstStyle/>
          <a:p>
            <a:pPr algn="l">
              <a:lnSpc>
                <a:spcPct val="110000"/>
              </a:lnSpc>
              <a:spcAft>
                <a:spcPts val="400"/>
              </a:spcAft>
            </a:pPr>
            <a:r>
              <a:rPr sz="1400" b="1" i="0">
                <a:solidFill>
                  <a:srgbClr val="EF4444"/>
                </a:solidFill>
                <a:latin typeface="Segoe UI"/>
              </a:rPr>
              <a:t>Bottlenecks</a:t>
            </a:r>
          </a:p>
        </p:txBody>
      </p:sp>
      <p:sp>
        <p:nvSpPr>
          <p:cNvPr id="18" name="TextBox 17"/>
          <p:cNvSpPr txBox="1"/>
          <p:nvPr/>
        </p:nvSpPr>
        <p:spPr>
          <a:xfrm>
            <a:off x="6263640" y="3886200"/>
            <a:ext cx="5303520" cy="1417320"/>
          </a:xfrm>
          <a:prstGeom prst="rect">
            <a:avLst/>
          </a:prstGeom>
          <a:noFill/>
        </p:spPr>
        <p:txBody>
          <a:bodyPr wrap="square" lIns="45720" rIns="45720">
            <a:spAutoFit/>
          </a:bodyPr>
          <a:lstStyle/>
          <a:p>
            <a:pPr>
              <a:lnSpc>
                <a:spcPct val="112000"/>
              </a:lnSpc>
              <a:spcAft>
                <a:spcPts val="300"/>
              </a:spcAft>
            </a:pPr>
            <a:r>
              <a:rPr sz="1050" b="1">
                <a:solidFill>
                  <a:srgbClr val="EF4444"/>
                </a:solidFill>
                <a:latin typeface="Segoe UI"/>
              </a:rPr>
              <a:t>•  </a:t>
            </a:r>
            <a:r>
              <a:rPr sz="1050">
                <a:solidFill>
                  <a:srgbClr val="E6EDF3"/>
                </a:solidFill>
                <a:latin typeface="Segoe UI"/>
              </a:rPr>
              <a:t>rules with severities 0–1: zone load, dock queues, charger saturation, failed robots, hot-SKU stock-outs, loader delays, demand vs capacity, backlog age</a:t>
            </a:r>
          </a:p>
          <a:p>
            <a:pPr>
              <a:lnSpc>
                <a:spcPct val="112000"/>
              </a:lnSpc>
              <a:spcAft>
                <a:spcPts val="300"/>
              </a:spcAft>
            </a:pPr>
            <a:r>
              <a:rPr sz="1050" b="1">
                <a:solidFill>
                  <a:srgbClr val="EF4444"/>
                </a:solidFill>
                <a:latin typeface="Segoe UI"/>
              </a:rPr>
              <a:t>•  </a:t>
            </a:r>
            <a:r>
              <a:rPr sz="1050">
                <a:solidFill>
                  <a:srgbClr val="E6EDF3"/>
                </a:solidFill>
                <a:latin typeface="Segoe UI"/>
              </a:rPr>
              <a:t>each with a concrete recommendation: "Pre-position inventory in Zone B", "+2 robots or enable batching"</a:t>
            </a:r>
          </a:p>
        </p:txBody>
      </p:sp>
      <p:sp>
        <p:nvSpPr>
          <p:cNvPr id="19" name="Rounded Rectangle 18"/>
          <p:cNvSpPr/>
          <p:nvPr/>
        </p:nvSpPr>
        <p:spPr>
          <a:xfrm>
            <a:off x="548640" y="5440680"/>
            <a:ext cx="8229600" cy="868680"/>
          </a:xfrm>
          <a:prstGeom prst="roundRect">
            <a:avLst>
              <a:gd name="adj" fmla="val 5000"/>
            </a:avLst>
          </a:prstGeom>
          <a:solidFill>
            <a:srgbClr val="0E1319"/>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5504688"/>
            <a:ext cx="7955279" cy="777240"/>
          </a:xfrm>
          <a:prstGeom prst="rect">
            <a:avLst/>
          </a:prstGeom>
          <a:noFill/>
        </p:spPr>
        <p:txBody>
          <a:bodyPr wrap="square" anchor="t" lIns="36576" rIns="36576" tIns="36576" bIns="36576">
            <a:spAutoFit/>
          </a:bodyPr>
          <a:lstStyle/>
          <a:p>
            <a:pPr algn="l">
              <a:lnSpc>
                <a:spcPct val="115000"/>
              </a:lnSpc>
              <a:spcAft>
                <a:spcPts val="400"/>
              </a:spcAft>
            </a:pPr>
            <a:r>
              <a:rPr sz="950" b="0" i="1">
                <a:solidFill>
                  <a:srgbClr val="8B98A5"/>
                </a:solidFill>
                <a:latin typeface="Segoe UI"/>
              </a:rPr>
              <a:t>“Demand rising to ~419 orders/h (+23%) over the next 90 min; projected utilization 1.32 — above capacity. Zone F congestion +325% expected: 4.2 robots vs capacity 3. Recommended: +3 robots or enable batching to lift capacity to ~636 orders/h.” — Forecast.summary, small world, 09:30 after an R07 failure</a:t>
            </a:r>
          </a:p>
        </p:txBody>
      </p:sp>
      <p:sp>
        <p:nvSpPr>
          <p:cNvPr id="21" name="Rounded Rectangle 20"/>
          <p:cNvSpPr/>
          <p:nvPr/>
        </p:nvSpPr>
        <p:spPr>
          <a:xfrm>
            <a:off x="8961120" y="5440680"/>
            <a:ext cx="2697480" cy="86868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70848" y="5532120"/>
            <a:ext cx="2478024" cy="477773"/>
          </a:xfrm>
          <a:prstGeom prst="rect">
            <a:avLst/>
          </a:prstGeom>
          <a:noFill/>
        </p:spPr>
        <p:txBody>
          <a:bodyPr wrap="square" anchor="ctr" lIns="36576" rIns="36576" tIns="36576" bIns="36576">
            <a:spAutoFit/>
          </a:bodyPr>
          <a:lstStyle/>
          <a:p>
            <a:pPr algn="l">
              <a:lnSpc>
                <a:spcPct val="110000"/>
              </a:lnSpc>
              <a:spcAft>
                <a:spcPts val="400"/>
              </a:spcAft>
            </a:pPr>
            <a:r>
              <a:rPr sz="1700" b="1" i="0">
                <a:solidFill>
                  <a:srgbClr val="22D3EE"/>
                </a:solidFill>
                <a:latin typeface="Consolas"/>
              </a:rPr>
              <a:t>3.5 / 8.8 ms</a:t>
            </a:r>
          </a:p>
        </p:txBody>
      </p:sp>
      <p:sp>
        <p:nvSpPr>
          <p:cNvPr id="23" name="TextBox 22"/>
          <p:cNvSpPr txBox="1"/>
          <p:nvPr/>
        </p:nvSpPr>
        <p:spPr>
          <a:xfrm>
            <a:off x="9070848" y="5944514"/>
            <a:ext cx="2478024" cy="347472"/>
          </a:xfrm>
          <a:prstGeom prst="rect">
            <a:avLst/>
          </a:prstGeom>
          <a:noFill/>
        </p:spPr>
        <p:txBody>
          <a:bodyPr wrap="square" anchor="t" lIns="36576" rIns="36576" tIns="36576" bIns="36576">
            <a:spAutoFit/>
          </a:bodyPr>
          <a:lstStyle/>
          <a:p>
            <a:pPr algn="l">
              <a:lnSpc>
                <a:spcPct val="105000"/>
              </a:lnSpc>
              <a:spcAft>
                <a:spcPts val="400"/>
              </a:spcAft>
            </a:pPr>
            <a:r>
              <a:rPr sz="1000" b="0" i="0">
                <a:solidFill>
                  <a:srgbClr val="8B98A5"/>
                </a:solidFill>
                <a:latin typeface="Segoe UI"/>
              </a:rPr>
              <a:t>full forecast, small / large world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D12"/>
        </a:solidFill>
        <a:effectLst/>
      </p:bgPr>
    </p:bg>
    <p:spTree>
      <p:nvGrpSpPr>
        <p:cNvPr id="1" name=""/>
        <p:cNvGrpSpPr/>
        <p:nvPr/>
      </p:nvGrpSpPr>
      <p:grpSpPr/>
      <p:sp>
        <p:nvSpPr>
          <p:cNvPr id="2" name="TextBox 1"/>
          <p:cNvSpPr txBox="1"/>
          <p:nvPr/>
        </p:nvSpPr>
        <p:spPr>
          <a:xfrm>
            <a:off x="548640" y="256032"/>
            <a:ext cx="8229600" cy="274320"/>
          </a:xfrm>
          <a:prstGeom prst="rect">
            <a:avLst/>
          </a:prstGeom>
          <a:noFill/>
        </p:spPr>
        <p:txBody>
          <a:bodyPr wrap="square" anchor="t" lIns="36576" rIns="36576" tIns="36576" bIns="36576">
            <a:spAutoFit/>
          </a:bodyPr>
          <a:lstStyle/>
          <a:p>
            <a:pPr algn="l">
              <a:lnSpc>
                <a:spcPct val="110000"/>
              </a:lnSpc>
              <a:spcAft>
                <a:spcPts val="400"/>
              </a:spcAft>
            </a:pPr>
            <a:r>
              <a:rPr sz="1050" b="1" i="0">
                <a:solidFill>
                  <a:srgbClr val="22D3EE"/>
                </a:solidFill>
                <a:latin typeface="Segoe UI"/>
              </a:rPr>
              <a:t>MULTI-AGENT RUNTIME</a:t>
            </a:r>
          </a:p>
        </p:txBody>
      </p:sp>
      <p:sp>
        <p:nvSpPr>
          <p:cNvPr id="3" name="TextBox 2"/>
          <p:cNvSpPr txBox="1"/>
          <p:nvPr/>
        </p:nvSpPr>
        <p:spPr>
          <a:xfrm>
            <a:off x="548640" y="502920"/>
            <a:ext cx="10607040" cy="731520"/>
          </a:xfrm>
          <a:prstGeom prst="rect">
            <a:avLst/>
          </a:prstGeom>
          <a:noFill/>
        </p:spPr>
        <p:txBody>
          <a:bodyPr wrap="square" anchor="ctr" lIns="36576" rIns="36576" tIns="36576" bIns="36576">
            <a:spAutoFit/>
          </a:bodyPr>
          <a:lstStyle/>
          <a:p>
            <a:pPr algn="l">
              <a:lnSpc>
                <a:spcPct val="110000"/>
              </a:lnSpc>
              <a:spcAft>
                <a:spcPts val="400"/>
              </a:spcAft>
            </a:pPr>
            <a:r>
              <a:rPr sz="2400" b="1" i="0">
                <a:solidFill>
                  <a:srgbClr val="E6EDF3"/>
                </a:solidFill>
                <a:latin typeface="Segoe UI"/>
              </a:rPr>
              <a:t>The LLM proposes. Mathematics and policy dispose.</a:t>
            </a:r>
          </a:p>
        </p:txBody>
      </p:sp>
      <p:sp>
        <p:nvSpPr>
          <p:cNvPr id="4" name="Rectangle 3"/>
          <p:cNvSpPr/>
          <p:nvPr/>
        </p:nvSpPr>
        <p:spPr>
          <a:xfrm>
            <a:off x="566928" y="1216152"/>
            <a:ext cx="100584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6400800" cy="274320"/>
          </a:xfrm>
          <a:prstGeom prst="rect">
            <a:avLst/>
          </a:prstGeom>
          <a:noFill/>
        </p:spPr>
        <p:txBody>
          <a:bodyPr wrap="square" anchor="t" lIns="36576" rIns="36576" tIns="36576" bIns="36576">
            <a:spAutoFit/>
          </a:bodyPr>
          <a:lstStyle/>
          <a:p>
            <a:pPr algn="l">
              <a:lnSpc>
                <a:spcPct val="110000"/>
              </a:lnSpc>
              <a:spcAft>
                <a:spcPts val="400"/>
              </a:spcAft>
            </a:pPr>
            <a:r>
              <a:rPr sz="950" b="0" i="0">
                <a:solidFill>
                  <a:srgbClr val="8B98A5"/>
                </a:solidFill>
                <a:latin typeface="Segoe UI"/>
              </a:rPr>
              <a:t>NEXUS · Autonomous Operations Intelligence</a:t>
            </a:r>
          </a:p>
        </p:txBody>
      </p:sp>
      <p:sp>
        <p:nvSpPr>
          <p:cNvPr id="6" name="TextBox 5"/>
          <p:cNvSpPr txBox="1"/>
          <p:nvPr/>
        </p:nvSpPr>
        <p:spPr>
          <a:xfrm>
            <a:off x="10607040" y="6446520"/>
            <a:ext cx="1051560" cy="274320"/>
          </a:xfrm>
          <a:prstGeom prst="rect">
            <a:avLst/>
          </a:prstGeom>
          <a:noFill/>
        </p:spPr>
        <p:txBody>
          <a:bodyPr wrap="square" anchor="t" lIns="36576" rIns="36576" tIns="36576" bIns="36576">
            <a:spAutoFit/>
          </a:bodyPr>
          <a:lstStyle/>
          <a:p>
            <a:pPr algn="r">
              <a:lnSpc>
                <a:spcPct val="110000"/>
              </a:lnSpc>
              <a:spcAft>
                <a:spcPts val="400"/>
              </a:spcAft>
            </a:pPr>
            <a:r>
              <a:rPr sz="950" b="0" i="0">
                <a:solidFill>
                  <a:srgbClr val="8B98A5"/>
                </a:solidFill>
                <a:latin typeface="Consolas"/>
              </a:rPr>
              <a:t>14</a:t>
            </a:r>
          </a:p>
        </p:txBody>
      </p:sp>
      <p:sp>
        <p:nvSpPr>
          <p:cNvPr id="7" name="Rounded Rectangle 6"/>
          <p:cNvSpPr/>
          <p:nvPr/>
        </p:nvSpPr>
        <p:spPr>
          <a:xfrm>
            <a:off x="548640" y="1463040"/>
            <a:ext cx="2103120" cy="1234440"/>
          </a:xfrm>
          <a:prstGeom prst="roundRect">
            <a:avLst>
              <a:gd name="adj" fmla="val 12000"/>
            </a:avLst>
          </a:prstGeom>
          <a:solidFill>
            <a:srgbClr val="11161D"/>
          </a:solidFill>
          <a:ln w="12700">
            <a:solidFill>
              <a:srgbClr val="8B98A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00" b="1">
                <a:solidFill>
                  <a:srgbClr val="8B98A5"/>
                </a:solidFill>
                <a:latin typeface="Segoe UI"/>
              </a:rPr>
              <a:t>GOAL + TRIGGER</a:t>
            </a:r>
          </a:p>
          <a:p>
            <a:pPr algn="ctr">
              <a:spcBef>
                <a:spcPts val="200"/>
              </a:spcBef>
            </a:pPr>
            <a:r>
              <a:rPr sz="850">
                <a:solidFill>
                  <a:srgbClr val="8B98A5"/>
                </a:solidFill>
                <a:latin typeface="Segoe UI"/>
              </a:rPr>
              <a:t>minimise SLA breach · ROBOT_FAILURE:R07</a:t>
            </a:r>
          </a:p>
        </p:txBody>
      </p:sp>
      <p:cxnSp>
        <p:nvCxnSpPr>
          <p:cNvPr id="8" name="Connector 7"/>
          <p:cNvCxnSpPr/>
          <p:nvPr/>
        </p:nvCxnSpPr>
        <p:spPr>
          <a:xfrm>
            <a:off x="2651760" y="2080260"/>
            <a:ext cx="146304" cy="0"/>
          </a:xfrm>
          <a:prstGeom prst="line">
            <a:avLst/>
          </a:prstGeom>
          <a:ln w="15875">
            <a:solidFill>
              <a:srgbClr val="8B98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798064" y="1463040"/>
            <a:ext cx="2103120" cy="1234440"/>
          </a:xfrm>
          <a:prstGeom prst="roundRect">
            <a:avLst>
              <a:gd name="adj" fmla="val 12000"/>
            </a:avLst>
          </a:prstGeom>
          <a:solidFill>
            <a:srgbClr val="11161D"/>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00" b="1">
                <a:solidFill>
                  <a:srgbClr val="F59E0B"/>
                </a:solidFill>
                <a:latin typeface="Segoe UI"/>
              </a:rPr>
              <a:t>FORECASTER</a:t>
            </a:r>
          </a:p>
          <a:p>
            <a:pPr algn="ctr">
              <a:spcBef>
                <a:spcPts val="200"/>
              </a:spcBef>
            </a:pPr>
            <a:r>
              <a:rPr sz="850">
                <a:solidFill>
                  <a:srgbClr val="8B98A5"/>
                </a:solidFill>
                <a:latin typeface="Segoe UI"/>
              </a:rPr>
              <a:t>demand · battery · congestion · bottlenecks</a:t>
            </a:r>
          </a:p>
        </p:txBody>
      </p:sp>
      <p:cxnSp>
        <p:nvCxnSpPr>
          <p:cNvPr id="10" name="Connector 9"/>
          <p:cNvCxnSpPr/>
          <p:nvPr/>
        </p:nvCxnSpPr>
        <p:spPr>
          <a:xfrm>
            <a:off x="4901183" y="2080260"/>
            <a:ext cx="146305" cy="0"/>
          </a:xfrm>
          <a:prstGeom prst="line">
            <a:avLst/>
          </a:prstGeom>
          <a:ln w="15875">
            <a:solidFill>
              <a:srgbClr val="8B98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47488" y="1463040"/>
            <a:ext cx="2103120" cy="1234440"/>
          </a:xfrm>
          <a:prstGeom prst="roundRect">
            <a:avLst>
              <a:gd name="adj" fmla="val 12000"/>
            </a:avLst>
          </a:prstGeom>
          <a:solidFill>
            <a:srgbClr val="11161D"/>
          </a:solidFill>
          <a:ln w="12700">
            <a:solidFill>
              <a:srgbClr val="E6EDF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00" b="1">
                <a:solidFill>
                  <a:srgbClr val="E6EDF3"/>
                </a:solidFill>
                <a:latin typeface="Segoe UI"/>
              </a:rPr>
              <a:t>SITUATION</a:t>
            </a:r>
          </a:p>
          <a:p>
            <a:pPr algn="ctr">
              <a:spcBef>
                <a:spcPts val="200"/>
              </a:spcBef>
            </a:pPr>
            <a:r>
              <a:rPr sz="850">
                <a:solidFill>
                  <a:srgbClr val="8B98A5"/>
                </a:solidFill>
                <a:latin typeface="Segoe UI"/>
              </a:rPr>
              <a:t>KPIs · fleet · hot zones · backlog · events</a:t>
            </a:r>
          </a:p>
        </p:txBody>
      </p:sp>
      <p:cxnSp>
        <p:nvCxnSpPr>
          <p:cNvPr id="12" name="Connector 11"/>
          <p:cNvCxnSpPr/>
          <p:nvPr/>
        </p:nvCxnSpPr>
        <p:spPr>
          <a:xfrm>
            <a:off x="7150607" y="2080260"/>
            <a:ext cx="146305" cy="0"/>
          </a:xfrm>
          <a:prstGeom prst="line">
            <a:avLst/>
          </a:prstGeom>
          <a:ln w="15875">
            <a:solidFill>
              <a:srgbClr val="8B98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296912" y="1463040"/>
            <a:ext cx="2103120" cy="1234440"/>
          </a:xfrm>
          <a:prstGeom prst="roundRect">
            <a:avLst>
              <a:gd name="adj" fmla="val 12000"/>
            </a:avLst>
          </a:prstGeom>
          <a:solidFill>
            <a:srgbClr val="11161D"/>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00" b="1">
                <a:solidFill>
                  <a:srgbClr val="A78BFA"/>
                </a:solidFill>
                <a:latin typeface="Segoe UI"/>
              </a:rPr>
              <a:t>PLANNER</a:t>
            </a:r>
          </a:p>
          <a:p>
            <a:pPr algn="ctr">
              <a:spcBef>
                <a:spcPts val="200"/>
              </a:spcBef>
            </a:pPr>
            <a:r>
              <a:rPr sz="850">
                <a:solidFill>
                  <a:srgbClr val="8B98A5"/>
                </a:solidFill>
                <a:latin typeface="Segoe UI"/>
              </a:rPr>
              <a:t>playbooks + LLM (Ollama) + SOP retrieval → candidates</a:t>
            </a:r>
          </a:p>
        </p:txBody>
      </p:sp>
      <p:cxnSp>
        <p:nvCxnSpPr>
          <p:cNvPr id="14" name="Connector 13"/>
          <p:cNvCxnSpPr/>
          <p:nvPr/>
        </p:nvCxnSpPr>
        <p:spPr>
          <a:xfrm>
            <a:off x="9400032" y="2080260"/>
            <a:ext cx="146304" cy="0"/>
          </a:xfrm>
          <a:prstGeom prst="line">
            <a:avLst/>
          </a:prstGeom>
          <a:ln w="15875">
            <a:solidFill>
              <a:srgbClr val="8B98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546336" y="1463040"/>
            <a:ext cx="2103120" cy="1234440"/>
          </a:xfrm>
          <a:prstGeom prst="roundRect">
            <a:avLst>
              <a:gd name="adj" fmla="val 12000"/>
            </a:avLst>
          </a:prstGeom>
          <a:solidFill>
            <a:srgbClr val="11161D"/>
          </a:solidFill>
          <a:ln w="127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00" b="1">
                <a:solidFill>
                  <a:srgbClr val="EF4444"/>
                </a:solidFill>
                <a:latin typeface="Segoe UI"/>
              </a:rPr>
              <a:t>VALIDATOR</a:t>
            </a:r>
          </a:p>
          <a:p>
            <a:pPr algn="ctr">
              <a:spcBef>
                <a:spcPts val="200"/>
              </a:spcBef>
            </a:pPr>
            <a:r>
              <a:rPr sz="850">
                <a:solidFill>
                  <a:srgbClr val="8B98A5"/>
                </a:solidFill>
                <a:latin typeface="Segoe UI"/>
              </a:rPr>
              <a:t>closed vocabulary · clamps · drops unsafe actions</a:t>
            </a:r>
          </a:p>
        </p:txBody>
      </p:sp>
      <p:sp>
        <p:nvSpPr>
          <p:cNvPr id="16" name="Rounded Rectangle 15"/>
          <p:cNvSpPr/>
          <p:nvPr/>
        </p:nvSpPr>
        <p:spPr>
          <a:xfrm>
            <a:off x="1673352" y="3200400"/>
            <a:ext cx="2103120" cy="1234440"/>
          </a:xfrm>
          <a:prstGeom prst="roundRect">
            <a:avLst>
              <a:gd name="adj" fmla="val 12000"/>
            </a:avLst>
          </a:prstGeom>
          <a:solidFill>
            <a:srgbClr val="11161D"/>
          </a:solidFill>
          <a:ln w="12700">
            <a:solidFill>
              <a:srgbClr val="60A5F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00" b="1">
                <a:solidFill>
                  <a:srgbClr val="60A5FA"/>
                </a:solidFill>
                <a:latin typeface="Segoe UI"/>
              </a:rPr>
              <a:t>OPTIMIZER</a:t>
            </a:r>
          </a:p>
          <a:p>
            <a:pPr algn="ctr">
              <a:spcBef>
                <a:spcPts val="200"/>
              </a:spcBef>
            </a:pPr>
            <a:r>
              <a:rPr sz="850">
                <a:solidFill>
                  <a:srgbClr val="8B98A5"/>
                </a:solidFill>
                <a:latin typeface="Segoe UI"/>
              </a:rPr>
              <a:t>CP-SAT assignment · concrete robot choices</a:t>
            </a:r>
          </a:p>
        </p:txBody>
      </p:sp>
      <p:cxnSp>
        <p:nvCxnSpPr>
          <p:cNvPr id="17" name="Connector 16"/>
          <p:cNvCxnSpPr/>
          <p:nvPr/>
        </p:nvCxnSpPr>
        <p:spPr>
          <a:xfrm>
            <a:off x="3776472" y="3817620"/>
            <a:ext cx="146304" cy="0"/>
          </a:xfrm>
          <a:prstGeom prst="line">
            <a:avLst/>
          </a:prstGeom>
          <a:ln w="15875">
            <a:solidFill>
              <a:srgbClr val="8B98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922776" y="3200400"/>
            <a:ext cx="2103120" cy="1234440"/>
          </a:xfrm>
          <a:prstGeom prst="roundRect">
            <a:avLst>
              <a:gd name="adj" fmla="val 12000"/>
            </a:avLst>
          </a:prstGeom>
          <a:solidFill>
            <a:srgbClr val="11161D"/>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00" b="1">
                <a:solidFill>
                  <a:srgbClr val="22D3EE"/>
                </a:solidFill>
                <a:latin typeface="Segoe UI"/>
              </a:rPr>
              <a:t>SIMULATOR</a:t>
            </a:r>
          </a:p>
          <a:p>
            <a:pPr algn="ctr">
              <a:spcBef>
                <a:spcPts val="200"/>
              </a:spcBef>
            </a:pPr>
            <a:r>
              <a:rPr sz="850">
                <a:solidFill>
                  <a:srgbClr val="8B98A5"/>
                </a:solidFill>
                <a:latin typeface="Segoe UI"/>
              </a:rPr>
              <a:t>forked twins · process pool · horizon KPIs</a:t>
            </a:r>
          </a:p>
        </p:txBody>
      </p:sp>
      <p:cxnSp>
        <p:nvCxnSpPr>
          <p:cNvPr id="19" name="Connector 18"/>
          <p:cNvCxnSpPr/>
          <p:nvPr/>
        </p:nvCxnSpPr>
        <p:spPr>
          <a:xfrm>
            <a:off x="6025896" y="3817620"/>
            <a:ext cx="146304" cy="0"/>
          </a:xfrm>
          <a:prstGeom prst="line">
            <a:avLst/>
          </a:prstGeom>
          <a:ln w="15875">
            <a:solidFill>
              <a:srgbClr val="8B98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172200" y="3200400"/>
            <a:ext cx="2103120" cy="1234440"/>
          </a:xfrm>
          <a:prstGeom prst="roundRect">
            <a:avLst>
              <a:gd name="adj" fmla="val 12000"/>
            </a:avLst>
          </a:prstGeom>
          <a:solidFill>
            <a:srgbClr val="11161D"/>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00" b="1">
                <a:solidFill>
                  <a:srgbClr val="F59E0B"/>
                </a:solidFill>
                <a:latin typeface="Segoe UI"/>
              </a:rPr>
              <a:t>RISK</a:t>
            </a:r>
          </a:p>
          <a:p>
            <a:pPr algn="ctr">
              <a:spcBef>
                <a:spcPts val="200"/>
              </a:spcBef>
            </a:pPr>
            <a:r>
              <a:rPr sz="850">
                <a:solidFill>
                  <a:srgbClr val="8B98A5"/>
                </a:solidFill>
                <a:latin typeface="Segoe UI"/>
              </a:rPr>
              <a:t>deadlock · safety · exhaustion · regression · stability seeds</a:t>
            </a:r>
          </a:p>
        </p:txBody>
      </p:sp>
      <p:cxnSp>
        <p:nvCxnSpPr>
          <p:cNvPr id="21" name="Connector 20"/>
          <p:cNvCxnSpPr/>
          <p:nvPr/>
        </p:nvCxnSpPr>
        <p:spPr>
          <a:xfrm>
            <a:off x="8275320" y="3817620"/>
            <a:ext cx="146304" cy="0"/>
          </a:xfrm>
          <a:prstGeom prst="line">
            <a:avLst/>
          </a:prstGeom>
          <a:ln w="15875">
            <a:solidFill>
              <a:srgbClr val="8B98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421624" y="3200400"/>
            <a:ext cx="2103120" cy="1234440"/>
          </a:xfrm>
          <a:prstGeom prst="roundRect">
            <a:avLst>
              <a:gd name="adj" fmla="val 12000"/>
            </a:avLst>
          </a:prstGeom>
          <a:solidFill>
            <a:srgbClr val="11161D"/>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00" b="1">
                <a:solidFill>
                  <a:srgbClr val="22C55E"/>
                </a:solidFill>
                <a:latin typeface="Segoe UI"/>
              </a:rPr>
              <a:t>POLICY → EXECUTOR</a:t>
            </a:r>
          </a:p>
          <a:p>
            <a:pPr algn="ctr">
              <a:spcBef>
                <a:spcPts val="200"/>
              </a:spcBef>
            </a:pPr>
            <a:r>
              <a:rPr sz="850">
                <a:solidFill>
                  <a:srgbClr val="8B98A5"/>
                </a:solidFill>
                <a:latin typeface="Segoe UI"/>
              </a:rPr>
              <a:t>auto if LOW risk &amp; ≥ 2 pp gain, else human · idempotent events</a:t>
            </a:r>
          </a:p>
        </p:txBody>
      </p:sp>
      <p:cxnSp>
        <p:nvCxnSpPr>
          <p:cNvPr id="23" name="Connector 22"/>
          <p:cNvCxnSpPr/>
          <p:nvPr/>
        </p:nvCxnSpPr>
        <p:spPr>
          <a:xfrm>
            <a:off x="10597896" y="2697480"/>
            <a:ext cx="0" cy="256032"/>
          </a:xfrm>
          <a:prstGeom prst="line">
            <a:avLst/>
          </a:prstGeom>
          <a:ln w="15875">
            <a:solidFill>
              <a:srgbClr val="8B98A5"/>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2724912" y="2953512"/>
            <a:ext cx="7872984" cy="0"/>
          </a:xfrm>
          <a:prstGeom prst="line">
            <a:avLst/>
          </a:prstGeom>
          <a:ln w="15875">
            <a:solidFill>
              <a:srgbClr val="8B98A5"/>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724912" y="2953512"/>
            <a:ext cx="0" cy="246888"/>
          </a:xfrm>
          <a:prstGeom prst="line">
            <a:avLst/>
          </a:prstGeom>
          <a:ln w="15875">
            <a:solidFill>
              <a:srgbClr val="8B98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548640" y="4983480"/>
            <a:ext cx="11109960" cy="1280160"/>
          </a:xfrm>
          <a:prstGeom prst="roundRect">
            <a:avLst>
              <a:gd name="adj" fmla="val 5000"/>
            </a:avLst>
          </a:prstGeom>
          <a:solidFill>
            <a:srgbClr val="0E1319"/>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5074920"/>
            <a:ext cx="10881360" cy="1188720"/>
          </a:xfrm>
          <a:prstGeom prst="rect">
            <a:avLst/>
          </a:prstGeom>
          <a:noFill/>
        </p:spPr>
        <p:txBody>
          <a:bodyPr wrap="square" lIns="45720" rIns="45720">
            <a:spAutoFit/>
          </a:bodyPr>
          <a:lstStyle/>
          <a:p>
            <a:pPr>
              <a:lnSpc>
                <a:spcPct val="112000"/>
              </a:lnSpc>
              <a:spcAft>
                <a:spcPts val="400"/>
              </a:spcAft>
            </a:pPr>
            <a:r>
              <a:rPr sz="1050" b="1">
                <a:solidFill>
                  <a:srgbClr val="22D3EE"/>
                </a:solidFill>
                <a:latin typeface="Segoe UI"/>
              </a:rPr>
              <a:t>•  </a:t>
            </a:r>
            <a:r>
              <a:rPr b="1" sz="1050">
                <a:solidFill>
                  <a:srgbClr val="E6EDF3"/>
                </a:solidFill>
                <a:latin typeface="Segoe UI"/>
              </a:rPr>
              <a:t>Decision record. </a:t>
            </a:r>
            <a:r>
              <a:rPr sz="1050">
                <a:solidFill>
                  <a:srgbClr val="E6EDF3"/>
                </a:solidFill>
                <a:latin typeface="Segoe UI"/>
              </a:rPr>
              <a:t>situation, baseline, every candidate with simulation + risk + rank, approval, explanation, timings — 9 plans / 21 allocations in 18.8 s on the demo incident (planning 1 ms · simulation 12.1 s · risk 7.2 s).</a:t>
            </a:r>
          </a:p>
          <a:p>
            <a:pPr>
              <a:lnSpc>
                <a:spcPct val="112000"/>
              </a:lnSpc>
              <a:spcAft>
                <a:spcPts val="400"/>
              </a:spcAft>
            </a:pPr>
            <a:r>
              <a:rPr sz="1050" b="1">
                <a:solidFill>
                  <a:srgbClr val="22D3EE"/>
                </a:solidFill>
                <a:latin typeface="Segoe UI"/>
              </a:rPr>
              <a:t>•  </a:t>
            </a:r>
            <a:r>
              <a:rPr b="1" sz="1050">
                <a:solidFill>
                  <a:srgbClr val="E6EDF3"/>
                </a:solidFill>
                <a:latin typeface="Segoe UI"/>
              </a:rPr>
              <a:t>Autopilot. </a:t>
            </a:r>
            <a:r>
              <a:rPr sz="1050">
                <a:solidFill>
                  <a:srgbClr val="E6EDF3"/>
                </a:solidFill>
                <a:latin typeface="Segoe UI"/>
              </a:rPr>
              <a:t>failures, closures, blockages and demand changes trigger a decision (15-minute cooldown) in a background thread while the twin keeps ticking; benchmark strategies ai_planner and nexus_full run this loop inside the simulation.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D12"/>
        </a:solidFill>
        <a:effectLst/>
      </p:bgPr>
    </p:bg>
    <p:spTree>
      <p:nvGrpSpPr>
        <p:cNvPr id="1" name=""/>
        <p:cNvGrpSpPr/>
        <p:nvPr/>
      </p:nvGrpSpPr>
      <p:grpSpPr/>
      <p:sp>
        <p:nvSpPr>
          <p:cNvPr id="2" name="TextBox 1"/>
          <p:cNvSpPr txBox="1"/>
          <p:nvPr/>
        </p:nvSpPr>
        <p:spPr>
          <a:xfrm>
            <a:off x="548640" y="256032"/>
            <a:ext cx="8229600" cy="274320"/>
          </a:xfrm>
          <a:prstGeom prst="rect">
            <a:avLst/>
          </a:prstGeom>
          <a:noFill/>
        </p:spPr>
        <p:txBody>
          <a:bodyPr wrap="square" anchor="t" lIns="36576" rIns="36576" tIns="36576" bIns="36576">
            <a:spAutoFit/>
          </a:bodyPr>
          <a:lstStyle/>
          <a:p>
            <a:pPr algn="l">
              <a:lnSpc>
                <a:spcPct val="110000"/>
              </a:lnSpc>
              <a:spcAft>
                <a:spcPts val="400"/>
              </a:spcAft>
            </a:pPr>
            <a:r>
              <a:rPr sz="1050" b="1" i="0">
                <a:solidFill>
                  <a:srgbClr val="22D3EE"/>
                </a:solidFill>
                <a:latin typeface="Segoe UI"/>
              </a:rPr>
              <a:t>SAFETY ARCHITECTURE</a:t>
            </a:r>
          </a:p>
        </p:txBody>
      </p:sp>
      <p:sp>
        <p:nvSpPr>
          <p:cNvPr id="3" name="TextBox 2"/>
          <p:cNvSpPr txBox="1"/>
          <p:nvPr/>
        </p:nvSpPr>
        <p:spPr>
          <a:xfrm>
            <a:off x="548640" y="502920"/>
            <a:ext cx="10607040" cy="731520"/>
          </a:xfrm>
          <a:prstGeom prst="rect">
            <a:avLst/>
          </a:prstGeom>
          <a:noFill/>
        </p:spPr>
        <p:txBody>
          <a:bodyPr wrap="square" anchor="ctr" lIns="36576" rIns="36576" tIns="36576" bIns="36576">
            <a:spAutoFit/>
          </a:bodyPr>
          <a:lstStyle/>
          <a:p>
            <a:pPr algn="l">
              <a:lnSpc>
                <a:spcPct val="110000"/>
              </a:lnSpc>
              <a:spcAft>
                <a:spcPts val="400"/>
              </a:spcAft>
            </a:pPr>
            <a:r>
              <a:rPr sz="2400" b="1" i="0">
                <a:solidFill>
                  <a:srgbClr val="E6EDF3"/>
                </a:solidFill>
                <a:latin typeface="Segoe UI"/>
              </a:rPr>
              <a:t>Simulate before execute, with a human in the loop</a:t>
            </a:r>
          </a:p>
        </p:txBody>
      </p:sp>
      <p:sp>
        <p:nvSpPr>
          <p:cNvPr id="4" name="Rectangle 3"/>
          <p:cNvSpPr/>
          <p:nvPr/>
        </p:nvSpPr>
        <p:spPr>
          <a:xfrm>
            <a:off x="566928" y="1216152"/>
            <a:ext cx="100584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6400800" cy="274320"/>
          </a:xfrm>
          <a:prstGeom prst="rect">
            <a:avLst/>
          </a:prstGeom>
          <a:noFill/>
        </p:spPr>
        <p:txBody>
          <a:bodyPr wrap="square" anchor="t" lIns="36576" rIns="36576" tIns="36576" bIns="36576">
            <a:spAutoFit/>
          </a:bodyPr>
          <a:lstStyle/>
          <a:p>
            <a:pPr algn="l">
              <a:lnSpc>
                <a:spcPct val="110000"/>
              </a:lnSpc>
              <a:spcAft>
                <a:spcPts val="400"/>
              </a:spcAft>
            </a:pPr>
            <a:r>
              <a:rPr sz="950" b="0" i="0">
                <a:solidFill>
                  <a:srgbClr val="8B98A5"/>
                </a:solidFill>
                <a:latin typeface="Segoe UI"/>
              </a:rPr>
              <a:t>NEXUS · Autonomous Operations Intelligence</a:t>
            </a:r>
          </a:p>
        </p:txBody>
      </p:sp>
      <p:sp>
        <p:nvSpPr>
          <p:cNvPr id="6" name="TextBox 5"/>
          <p:cNvSpPr txBox="1"/>
          <p:nvPr/>
        </p:nvSpPr>
        <p:spPr>
          <a:xfrm>
            <a:off x="10607040" y="6446520"/>
            <a:ext cx="1051560" cy="274320"/>
          </a:xfrm>
          <a:prstGeom prst="rect">
            <a:avLst/>
          </a:prstGeom>
          <a:noFill/>
        </p:spPr>
        <p:txBody>
          <a:bodyPr wrap="square" anchor="t" lIns="36576" rIns="36576" tIns="36576" bIns="36576">
            <a:spAutoFit/>
          </a:bodyPr>
          <a:lstStyle/>
          <a:p>
            <a:pPr algn="r">
              <a:lnSpc>
                <a:spcPct val="110000"/>
              </a:lnSpc>
              <a:spcAft>
                <a:spcPts val="400"/>
              </a:spcAft>
            </a:pPr>
            <a:r>
              <a:rPr sz="950" b="0" i="0">
                <a:solidFill>
                  <a:srgbClr val="8B98A5"/>
                </a:solidFill>
                <a:latin typeface="Consolas"/>
              </a:rPr>
              <a:t>15</a:t>
            </a:r>
          </a:p>
        </p:txBody>
      </p:sp>
      <p:sp>
        <p:nvSpPr>
          <p:cNvPr id="7" name="TextBox 6"/>
          <p:cNvSpPr txBox="1"/>
          <p:nvPr/>
        </p:nvSpPr>
        <p:spPr>
          <a:xfrm>
            <a:off x="548640" y="1417320"/>
            <a:ext cx="4846320" cy="4480560"/>
          </a:xfrm>
          <a:prstGeom prst="rect">
            <a:avLst/>
          </a:prstGeom>
          <a:noFill/>
        </p:spPr>
        <p:txBody>
          <a:bodyPr wrap="square" lIns="45720" rIns="45720">
            <a:spAutoFit/>
          </a:bodyPr>
          <a:lstStyle/>
          <a:p>
            <a:pPr>
              <a:lnSpc>
                <a:spcPct val="112000"/>
              </a:lnSpc>
              <a:spcAft>
                <a:spcPts val="600"/>
              </a:spcAft>
            </a:pPr>
            <a:r>
              <a:rPr sz="1150" b="1">
                <a:solidFill>
                  <a:srgbClr val="22D3EE"/>
                </a:solidFill>
                <a:latin typeface="Segoe UI"/>
              </a:rPr>
              <a:t>•  </a:t>
            </a:r>
            <a:r>
              <a:rPr b="1" sz="1150">
                <a:solidFill>
                  <a:srgbClr val="E6EDF3"/>
                </a:solidFill>
                <a:latin typeface="Segoe UI"/>
              </a:rPr>
              <a:t>Closed action vocabulary. </a:t>
            </a:r>
            <a:r>
              <a:rPr sz="1150">
                <a:solidFill>
                  <a:srgbClr val="E6EDF3"/>
                </a:solidFill>
                <a:latin typeface="Segoe UI"/>
              </a:rPr>
              <a:t>16 typed actions with parameter shapes; no free-form commands can reach the world.</a:t>
            </a:r>
          </a:p>
          <a:p>
            <a:pPr>
              <a:lnSpc>
                <a:spcPct val="112000"/>
              </a:lnSpc>
              <a:spcAft>
                <a:spcPts val="600"/>
              </a:spcAft>
            </a:pPr>
            <a:r>
              <a:rPr sz="1150" b="1">
                <a:solidFill>
                  <a:srgbClr val="22D3EE"/>
                </a:solidFill>
                <a:latin typeface="Segoe UI"/>
              </a:rPr>
              <a:t>•  </a:t>
            </a:r>
            <a:r>
              <a:rPr b="1" sz="1150">
                <a:solidFill>
                  <a:srgbClr val="E6EDF3"/>
                </a:solidFill>
                <a:latin typeface="Segoe UI"/>
              </a:rPr>
              <a:t>Constraint validation. </a:t>
            </a:r>
            <a:r>
              <a:rPr sz="1150">
                <a:solidFill>
                  <a:srgbClr val="E6EDF3"/>
                </a:solidFill>
                <a:latin typeface="Segoe UI"/>
              </a:rPr>
              <a:t>≤ ¼ of the fleet to charge · never remove &gt; ⅓ of the fleet · at least one storage zone and one dock stay open · unknown ids dropped, ranges clamped.</a:t>
            </a:r>
          </a:p>
          <a:p>
            <a:pPr>
              <a:lnSpc>
                <a:spcPct val="112000"/>
              </a:lnSpc>
              <a:spcAft>
                <a:spcPts val="600"/>
              </a:spcAft>
            </a:pPr>
            <a:r>
              <a:rPr sz="1150" b="1">
                <a:solidFill>
                  <a:srgbClr val="22D3EE"/>
                </a:solidFill>
                <a:latin typeface="Segoe UI"/>
              </a:rPr>
              <a:t>•  </a:t>
            </a:r>
            <a:r>
              <a:rPr b="1" sz="1150">
                <a:solidFill>
                  <a:srgbClr val="E6EDF3"/>
                </a:solidFill>
                <a:latin typeface="Segoe UI"/>
              </a:rPr>
              <a:t>Simulate before execute. </a:t>
            </a:r>
            <a:r>
              <a:rPr sz="1150">
                <a:solidFill>
                  <a:srgbClr val="E6EDF3"/>
                </a:solidFill>
                <a:latin typeface="Segoe UI"/>
              </a:rPr>
              <a:t>every candidate runs in a forked twin with the real engine over the decision horizon; the do-nothing reference is always simulated alongside.</a:t>
            </a:r>
          </a:p>
          <a:p>
            <a:pPr>
              <a:lnSpc>
                <a:spcPct val="112000"/>
              </a:lnSpc>
              <a:spcAft>
                <a:spcPts val="600"/>
              </a:spcAft>
            </a:pPr>
            <a:r>
              <a:rPr sz="1150" b="1">
                <a:solidFill>
                  <a:srgbClr val="22D3EE"/>
                </a:solidFill>
                <a:latin typeface="Segoe UI"/>
              </a:rPr>
              <a:t>•  </a:t>
            </a:r>
            <a:r>
              <a:rPr b="1" sz="1150">
                <a:solidFill>
                  <a:srgbClr val="E6EDF3"/>
                </a:solidFill>
                <a:latin typeface="Segoe UI"/>
              </a:rPr>
              <a:t>Risk agent. </a:t>
            </a:r>
            <a:r>
              <a:rPr sz="1150">
                <a:solidFill>
                  <a:srgbClr val="E6EDF3"/>
                </a:solidFill>
                <a:latin typeface="Segoe UI"/>
              </a:rPr>
              <a:t>findings from diagnostics, baseline comparison and stability re-runs under extra seeds (table).</a:t>
            </a:r>
          </a:p>
          <a:p>
            <a:pPr>
              <a:lnSpc>
                <a:spcPct val="112000"/>
              </a:lnSpc>
              <a:spcAft>
                <a:spcPts val="600"/>
              </a:spcAft>
            </a:pPr>
            <a:r>
              <a:rPr sz="1150" b="1">
                <a:solidFill>
                  <a:srgbClr val="22D3EE"/>
                </a:solidFill>
                <a:latin typeface="Segoe UI"/>
              </a:rPr>
              <a:t>•  </a:t>
            </a:r>
            <a:r>
              <a:rPr b="1" sz="1150">
                <a:solidFill>
                  <a:srgbClr val="E6EDF3"/>
                </a:solidFill>
                <a:latin typeface="Segoe UI"/>
              </a:rPr>
              <a:t>Approval policy. </a:t>
            </a:r>
            <a:r>
              <a:rPr sz="1150">
                <a:solidFill>
                  <a:srgbClr val="E6EDF3"/>
                </a:solidFill>
                <a:latin typeface="Segoe UI"/>
              </a:rPr>
              <a:t>auto-approve only if risk LOW and projected SLA gain ≥ 2 pp; otherwise proposed → operator approves, picks another candidate, or rejects.</a:t>
            </a:r>
          </a:p>
          <a:p>
            <a:pPr>
              <a:lnSpc>
                <a:spcPct val="112000"/>
              </a:lnSpc>
              <a:spcAft>
                <a:spcPts val="600"/>
              </a:spcAft>
            </a:pPr>
            <a:r>
              <a:rPr sz="1150" b="1">
                <a:solidFill>
                  <a:srgbClr val="22D3EE"/>
                </a:solidFill>
                <a:latin typeface="Segoe UI"/>
              </a:rPr>
              <a:t>•  </a:t>
            </a:r>
            <a:r>
              <a:rPr b="1" sz="1150">
                <a:solidFill>
                  <a:srgbClr val="E6EDF3"/>
                </a:solidFill>
                <a:latin typeface="Segoe UI"/>
              </a:rPr>
              <a:t>Attributable, idempotent execution. </a:t>
            </a:r>
            <a:r>
              <a:rPr sz="1150">
                <a:solidFill>
                  <a:srgbClr val="E6EDF3"/>
                </a:solidFill>
                <a:latin typeface="Segoe UI"/>
              </a:rPr>
              <a:t>origin · cause (plan id) · key on every event; executing a plan twice is a no-op.</a:t>
            </a:r>
          </a:p>
        </p:txBody>
      </p:sp>
      <p:graphicFrame>
        <p:nvGraphicFramePr>
          <p:cNvPr id="8" name="Table 7"/>
          <p:cNvGraphicFramePr>
            <a:graphicFrameLocks noGrp="1"/>
          </p:cNvGraphicFramePr>
          <p:nvPr/>
        </p:nvGraphicFramePr>
        <p:xfrm>
          <a:off x="5623560" y="1417320"/>
          <a:ext cx="6035040" cy="3063240"/>
        </p:xfrm>
        <a:graphic>
          <a:graphicData uri="http://schemas.openxmlformats.org/drawingml/2006/table">
            <a:tbl>
              <a:tblPr firstRow="1" bandRow="0">
                <a:tableStyleId>{2D5ABB26-0587-4C30-8999-92F81FD0307C}</a:tableStyleId>
              </a:tblPr>
              <a:tblGrid>
                <a:gridCol w="1371600"/>
                <a:gridCol w="3246120"/>
                <a:gridCol w="1417320"/>
              </a:tblGrid>
              <a:tr h="382905">
                <a:tc>
                  <a:txBody>
                    <a:bodyPr wrap="square"/>
                    <a:lstStyle/>
                    <a:p>
                      <a:pPr algn="l"/>
                      <a:r>
                        <a:rPr sz="900" b="1">
                          <a:solidFill>
                            <a:srgbClr val="22D3EE"/>
                          </a:solidFill>
                          <a:latin typeface="Segoe UI"/>
                        </a:rPr>
                        <a:t>finding</a:t>
                      </a:r>
                    </a:p>
                  </a:txBody>
                  <a:tcPr marL="64008" marR="64008" marT="27432" marB="27432" anchor="ctr">
                    <a:solidFill>
                      <a:srgbClr val="182130"/>
                    </a:solidFill>
                  </a:tcPr>
                </a:tc>
                <a:tc>
                  <a:txBody>
                    <a:bodyPr wrap="square"/>
                    <a:lstStyle/>
                    <a:p>
                      <a:pPr algn="l"/>
                      <a:r>
                        <a:rPr sz="900" b="1">
                          <a:solidFill>
                            <a:srgbClr val="22D3EE"/>
                          </a:solidFill>
                          <a:latin typeface="Segoe UI"/>
                        </a:rPr>
                        <a:t>trigger</a:t>
                      </a:r>
                    </a:p>
                  </a:txBody>
                  <a:tcPr marL="64008" marR="64008" marT="27432" marB="27432" anchor="ctr">
                    <a:solidFill>
                      <a:srgbClr val="182130"/>
                    </a:solidFill>
                  </a:tcPr>
                </a:tc>
                <a:tc>
                  <a:txBody>
                    <a:bodyPr wrap="square"/>
                    <a:lstStyle/>
                    <a:p>
                      <a:pPr algn="l"/>
                      <a:r>
                        <a:rPr sz="900" b="1">
                          <a:solidFill>
                            <a:srgbClr val="22D3EE"/>
                          </a:solidFill>
                          <a:latin typeface="Segoe UI"/>
                        </a:rPr>
                        <a:t>severity</a:t>
                      </a:r>
                    </a:p>
                  </a:txBody>
                  <a:tcPr marL="64008" marR="64008" marT="27432" marB="27432" anchor="ctr">
                    <a:solidFill>
                      <a:srgbClr val="182130"/>
                    </a:solidFill>
                  </a:tcPr>
                </a:tc>
              </a:tr>
              <a:tr h="382905">
                <a:tc>
                  <a:txBody>
                    <a:bodyPr wrap="square"/>
                    <a:lstStyle/>
                    <a:p>
                      <a:pPr algn="l"/>
                      <a:r>
                        <a:rPr sz="950" b="0">
                          <a:solidFill>
                            <a:srgbClr val="E6EDF3"/>
                          </a:solidFill>
                          <a:latin typeface="Segoe UI"/>
                        </a:rPr>
                        <a:t>constraint</a:t>
                      </a:r>
                    </a:p>
                  </a:txBody>
                  <a:tcPr marL="64008" marR="64008" marT="27432" marB="27432" anchor="ctr">
                    <a:solidFill>
                      <a:srgbClr val="11161D"/>
                    </a:solidFill>
                  </a:tcPr>
                </a:tc>
                <a:tc>
                  <a:txBody>
                    <a:bodyPr wrap="square"/>
                    <a:lstStyle/>
                    <a:p>
                      <a:pPr algn="l"/>
                      <a:r>
                        <a:rPr sz="950" b="0">
                          <a:solidFill>
                            <a:srgbClr val="E6EDF3"/>
                          </a:solidFill>
                          <a:latin typeface="Segoe UI"/>
                        </a:rPr>
                        <a:t>plan infeasible · actions dropped by validation</a:t>
                      </a:r>
                    </a:p>
                  </a:txBody>
                  <a:tcPr marL="64008" marR="64008" marT="27432" marB="27432" anchor="ctr">
                    <a:solidFill>
                      <a:srgbClr val="11161D"/>
                    </a:solidFill>
                  </a:tcPr>
                </a:tc>
                <a:tc>
                  <a:txBody>
                    <a:bodyPr wrap="square"/>
                    <a:lstStyle/>
                    <a:p>
                      <a:pPr algn="l"/>
                      <a:r>
                        <a:rPr sz="950" b="0">
                          <a:solidFill>
                            <a:srgbClr val="E6EDF3"/>
                          </a:solidFill>
                          <a:latin typeface="Segoe UI"/>
                        </a:rPr>
                        <a:t>critical · info</a:t>
                      </a:r>
                    </a:p>
                  </a:txBody>
                  <a:tcPr marL="64008" marR="64008" marT="27432" marB="27432" anchor="ctr">
                    <a:solidFill>
                      <a:srgbClr val="11161D"/>
                    </a:solidFill>
                  </a:tcPr>
                </a:tc>
              </a:tr>
              <a:tr h="382905">
                <a:tc>
                  <a:txBody>
                    <a:bodyPr wrap="square"/>
                    <a:lstStyle/>
                    <a:p>
                      <a:pPr algn="l"/>
                      <a:r>
                        <a:rPr sz="950" b="0">
                          <a:solidFill>
                            <a:srgbClr val="E6EDF3"/>
                          </a:solidFill>
                          <a:latin typeface="Segoe UI"/>
                        </a:rPr>
                        <a:t>deadlock</a:t>
                      </a:r>
                    </a:p>
                  </a:txBody>
                  <a:tcPr marL="64008" marR="64008" marT="27432" marB="27432" anchor="ctr">
                    <a:solidFill>
                      <a:srgbClr val="0E1319"/>
                    </a:solidFill>
                  </a:tcPr>
                </a:tc>
                <a:tc>
                  <a:txBody>
                    <a:bodyPr wrap="square"/>
                    <a:lstStyle/>
                    <a:p>
                      <a:pPr algn="l"/>
                      <a:r>
                        <a:rPr sz="950" b="0">
                          <a:solidFill>
                            <a:srgbClr val="E6EDF3"/>
                          </a:solidFill>
                          <a:latin typeface="Segoe UI"/>
                        </a:rPr>
                        <a:t>robot blocked ≥ 60 s or &gt; 600 stuck robot-s · ≥ 25 s / &gt; 150</a:t>
                      </a:r>
                    </a:p>
                  </a:txBody>
                  <a:tcPr marL="64008" marR="64008" marT="27432" marB="27432" anchor="ctr">
                    <a:solidFill>
                      <a:srgbClr val="0E1319"/>
                    </a:solidFill>
                  </a:tcPr>
                </a:tc>
                <a:tc>
                  <a:txBody>
                    <a:bodyPr wrap="square"/>
                    <a:lstStyle/>
                    <a:p>
                      <a:pPr algn="l"/>
                      <a:r>
                        <a:rPr sz="950" b="0">
                          <a:solidFill>
                            <a:srgbClr val="E6EDF3"/>
                          </a:solidFill>
                          <a:latin typeface="Segoe UI"/>
                        </a:rPr>
                        <a:t>high · medium</a:t>
                      </a:r>
                    </a:p>
                  </a:txBody>
                  <a:tcPr marL="64008" marR="64008" marT="27432" marB="27432" anchor="ctr">
                    <a:solidFill>
                      <a:srgbClr val="0E1319"/>
                    </a:solidFill>
                  </a:tcPr>
                </a:tc>
              </a:tr>
              <a:tr h="382905">
                <a:tc>
                  <a:txBody>
                    <a:bodyPr wrap="square"/>
                    <a:lstStyle/>
                    <a:p>
                      <a:pPr algn="l"/>
                      <a:r>
                        <a:rPr sz="950" b="0">
                          <a:solidFill>
                            <a:srgbClr val="E6EDF3"/>
                          </a:solidFill>
                          <a:latin typeface="Segoe UI"/>
                        </a:rPr>
                        <a:t>safety</a:t>
                      </a:r>
                    </a:p>
                  </a:txBody>
                  <a:tcPr marL="64008" marR="64008" marT="27432" marB="27432" anchor="ctr">
                    <a:solidFill>
                      <a:srgbClr val="11161D"/>
                    </a:solidFill>
                  </a:tcPr>
                </a:tc>
                <a:tc>
                  <a:txBody>
                    <a:bodyPr wrap="square"/>
                    <a:lstStyle/>
                    <a:p>
                      <a:pPr algn="l"/>
                      <a:r>
                        <a:rPr sz="950" b="0">
                          <a:solidFill>
                            <a:srgbClr val="E6EDF3"/>
                          </a:solidFill>
                          <a:latin typeface="Segoe UI"/>
                        </a:rPr>
                        <a:t>zones over 2× capacity ≥ 5% of horizon · ≥ 1% · transient</a:t>
                      </a:r>
                    </a:p>
                  </a:txBody>
                  <a:tcPr marL="64008" marR="64008" marT="27432" marB="27432" anchor="ctr">
                    <a:solidFill>
                      <a:srgbClr val="11161D"/>
                    </a:solidFill>
                  </a:tcPr>
                </a:tc>
                <a:tc>
                  <a:txBody>
                    <a:bodyPr wrap="square"/>
                    <a:lstStyle/>
                    <a:p>
                      <a:pPr algn="l"/>
                      <a:r>
                        <a:rPr sz="950" b="0">
                          <a:solidFill>
                            <a:srgbClr val="E6EDF3"/>
                          </a:solidFill>
                          <a:latin typeface="Segoe UI"/>
                        </a:rPr>
                        <a:t>high · medium · low</a:t>
                      </a:r>
                    </a:p>
                  </a:txBody>
                  <a:tcPr marL="64008" marR="64008" marT="27432" marB="27432" anchor="ctr">
                    <a:solidFill>
                      <a:srgbClr val="11161D"/>
                    </a:solidFill>
                  </a:tcPr>
                </a:tc>
              </a:tr>
              <a:tr h="382905">
                <a:tc>
                  <a:txBody>
                    <a:bodyPr wrap="square"/>
                    <a:lstStyle/>
                    <a:p>
                      <a:pPr algn="l"/>
                      <a:r>
                        <a:rPr sz="950" b="0">
                          <a:solidFill>
                            <a:srgbClr val="E6EDF3"/>
                          </a:solidFill>
                          <a:latin typeface="Segoe UI"/>
                        </a:rPr>
                        <a:t>resource exhaustion</a:t>
                      </a:r>
                    </a:p>
                  </a:txBody>
                  <a:tcPr marL="64008" marR="64008" marT="27432" marB="27432" anchor="ctr">
                    <a:solidFill>
                      <a:srgbClr val="0E1319"/>
                    </a:solidFill>
                  </a:tcPr>
                </a:tc>
                <a:tc>
                  <a:txBody>
                    <a:bodyPr wrap="square"/>
                    <a:lstStyle/>
                    <a:p>
                      <a:pPr algn="l"/>
                      <a:r>
                        <a:rPr sz="950" b="0">
                          <a:solidFill>
                            <a:srgbClr val="E6EDF3"/>
                          </a:solidFill>
                          <a:latin typeface="Segoe UI"/>
                        </a:rPr>
                        <a:t>battery &lt; 5% · &lt; 12% · charger starvation · stock-outs</a:t>
                      </a:r>
                    </a:p>
                  </a:txBody>
                  <a:tcPr marL="64008" marR="64008" marT="27432" marB="27432" anchor="ctr">
                    <a:solidFill>
                      <a:srgbClr val="0E1319"/>
                    </a:solidFill>
                  </a:tcPr>
                </a:tc>
                <a:tc>
                  <a:txBody>
                    <a:bodyPr wrap="square"/>
                    <a:lstStyle/>
                    <a:p>
                      <a:pPr algn="l"/>
                      <a:r>
                        <a:rPr sz="950" b="0">
                          <a:solidFill>
                            <a:srgbClr val="E6EDF3"/>
                          </a:solidFill>
                          <a:latin typeface="Segoe UI"/>
                        </a:rPr>
                        <a:t>high · medium · low</a:t>
                      </a:r>
                    </a:p>
                  </a:txBody>
                  <a:tcPr marL="64008" marR="64008" marT="27432" marB="27432" anchor="ctr">
                    <a:solidFill>
                      <a:srgbClr val="0E1319"/>
                    </a:solidFill>
                  </a:tcPr>
                </a:tc>
              </a:tr>
              <a:tr h="382905">
                <a:tc>
                  <a:txBody>
                    <a:bodyPr wrap="square"/>
                    <a:lstStyle/>
                    <a:p>
                      <a:pPr algn="l"/>
                      <a:r>
                        <a:rPr sz="950" b="0">
                          <a:solidFill>
                            <a:srgbClr val="E6EDF3"/>
                          </a:solidFill>
                          <a:latin typeface="Segoe UI"/>
                        </a:rPr>
                        <a:t>regression</a:t>
                      </a:r>
                    </a:p>
                  </a:txBody>
                  <a:tcPr marL="64008" marR="64008" marT="27432" marB="27432" anchor="ctr">
                    <a:solidFill>
                      <a:srgbClr val="11161D"/>
                    </a:solidFill>
                  </a:tcPr>
                </a:tc>
                <a:tc>
                  <a:txBody>
                    <a:bodyPr wrap="square"/>
                    <a:lstStyle/>
                    <a:p>
                      <a:pPr algn="l"/>
                      <a:r>
                        <a:rPr sz="950" b="0">
                          <a:solidFill>
                            <a:srgbClr val="E6EDF3"/>
                          </a:solidFill>
                          <a:latin typeface="Segoe UI"/>
                        </a:rPr>
                        <a:t>breach worse than doing nothing · throughput −5% · congestion +50%</a:t>
                      </a:r>
                    </a:p>
                  </a:txBody>
                  <a:tcPr marL="64008" marR="64008" marT="27432" marB="27432" anchor="ctr">
                    <a:solidFill>
                      <a:srgbClr val="11161D"/>
                    </a:solidFill>
                  </a:tcPr>
                </a:tc>
                <a:tc>
                  <a:txBody>
                    <a:bodyPr wrap="square"/>
                    <a:lstStyle/>
                    <a:p>
                      <a:pPr algn="l"/>
                      <a:r>
                        <a:rPr sz="950" b="0">
                          <a:solidFill>
                            <a:srgbClr val="E6EDF3"/>
                          </a:solidFill>
                          <a:latin typeface="Segoe UI"/>
                        </a:rPr>
                        <a:t>high · medium · low</a:t>
                      </a:r>
                    </a:p>
                  </a:txBody>
                  <a:tcPr marL="64008" marR="64008" marT="27432" marB="27432" anchor="ctr">
                    <a:solidFill>
                      <a:srgbClr val="11161D"/>
                    </a:solidFill>
                  </a:tcPr>
                </a:tc>
              </a:tr>
              <a:tr h="382905">
                <a:tc>
                  <a:txBody>
                    <a:bodyPr wrap="square"/>
                    <a:lstStyle/>
                    <a:p>
                      <a:pPr algn="l"/>
                      <a:r>
                        <a:rPr sz="950" b="0">
                          <a:solidFill>
                            <a:srgbClr val="E6EDF3"/>
                          </a:solidFill>
                          <a:latin typeface="Segoe UI"/>
                        </a:rPr>
                        <a:t>capacity</a:t>
                      </a:r>
                    </a:p>
                  </a:txBody>
                  <a:tcPr marL="64008" marR="64008" marT="27432" marB="27432" anchor="ctr">
                    <a:solidFill>
                      <a:srgbClr val="0E1319"/>
                    </a:solidFill>
                  </a:tcPr>
                </a:tc>
                <a:tc>
                  <a:txBody>
                    <a:bodyPr wrap="square"/>
                    <a:lstStyle/>
                    <a:p>
                      <a:pPr algn="l"/>
                      <a:r>
                        <a:rPr sz="950" b="0">
                          <a:solidFill>
                            <a:srgbClr val="E6EDF3"/>
                          </a:solidFill>
                          <a:latin typeface="Segoe UI"/>
                        </a:rPr>
                        <a:t>utilization &gt; 97% — no slack</a:t>
                      </a:r>
                    </a:p>
                  </a:txBody>
                  <a:tcPr marL="64008" marR="64008" marT="27432" marB="27432" anchor="ctr">
                    <a:solidFill>
                      <a:srgbClr val="0E1319"/>
                    </a:solidFill>
                  </a:tcPr>
                </a:tc>
                <a:tc>
                  <a:txBody>
                    <a:bodyPr wrap="square"/>
                    <a:lstStyle/>
                    <a:p>
                      <a:pPr algn="l"/>
                      <a:r>
                        <a:rPr sz="950" b="0">
                          <a:solidFill>
                            <a:srgbClr val="E6EDF3"/>
                          </a:solidFill>
                          <a:latin typeface="Segoe UI"/>
                        </a:rPr>
                        <a:t>low</a:t>
                      </a:r>
                    </a:p>
                  </a:txBody>
                  <a:tcPr marL="64008" marR="64008" marT="27432" marB="27432" anchor="ctr">
                    <a:solidFill>
                      <a:srgbClr val="0E1319"/>
                    </a:solidFill>
                  </a:tcPr>
                </a:tc>
              </a:tr>
              <a:tr h="382905">
                <a:tc>
                  <a:txBody>
                    <a:bodyPr wrap="square"/>
                    <a:lstStyle/>
                    <a:p>
                      <a:pPr algn="l"/>
                      <a:r>
                        <a:rPr sz="950" b="0">
                          <a:solidFill>
                            <a:srgbClr val="E6EDF3"/>
                          </a:solidFill>
                          <a:latin typeface="Segoe UI"/>
                        </a:rPr>
                        <a:t>instability</a:t>
                      </a:r>
                    </a:p>
                  </a:txBody>
                  <a:tcPr marL="64008" marR="64008" marT="27432" marB="27432" anchor="ctr">
                    <a:solidFill>
                      <a:srgbClr val="11161D"/>
                    </a:solidFill>
                  </a:tcPr>
                </a:tc>
                <a:tc>
                  <a:txBody>
                    <a:bodyPr wrap="square"/>
                    <a:lstStyle/>
                    <a:p>
                      <a:pPr algn="l"/>
                      <a:r>
                        <a:rPr sz="950" b="0">
                          <a:solidFill>
                            <a:srgbClr val="E6EDF3"/>
                          </a:solidFill>
                          <a:latin typeface="Segoe UI"/>
                        </a:rPr>
                        <a:t>σ of breach across seeds &gt; 5% · &gt; 2.5% · else</a:t>
                      </a:r>
                    </a:p>
                  </a:txBody>
                  <a:tcPr marL="64008" marR="64008" marT="27432" marB="27432" anchor="ctr">
                    <a:solidFill>
                      <a:srgbClr val="11161D"/>
                    </a:solidFill>
                  </a:tcPr>
                </a:tc>
                <a:tc>
                  <a:txBody>
                    <a:bodyPr wrap="square"/>
                    <a:lstStyle/>
                    <a:p>
                      <a:pPr algn="l"/>
                      <a:r>
                        <a:rPr sz="950" b="0">
                          <a:solidFill>
                            <a:srgbClr val="E6EDF3"/>
                          </a:solidFill>
                          <a:latin typeface="Segoe UI"/>
                        </a:rPr>
                        <a:t>high · medium · info</a:t>
                      </a:r>
                    </a:p>
                  </a:txBody>
                  <a:tcPr marL="64008" marR="64008" marT="27432" marB="27432" anchor="ctr">
                    <a:solidFill>
                      <a:srgbClr val="11161D"/>
                    </a:solidFill>
                  </a:tcPr>
                </a:tc>
              </a:tr>
            </a:tbl>
          </a:graphicData>
        </a:graphic>
      </p:graphicFrame>
      <p:sp>
        <p:nvSpPr>
          <p:cNvPr id="9" name="TextBox 8"/>
          <p:cNvSpPr txBox="1"/>
          <p:nvPr/>
        </p:nvSpPr>
        <p:spPr>
          <a:xfrm>
            <a:off x="5623560" y="4553712"/>
            <a:ext cx="6035040" cy="457200"/>
          </a:xfrm>
          <a:prstGeom prst="rect">
            <a:avLst/>
          </a:prstGeom>
          <a:noFill/>
        </p:spPr>
        <p:txBody>
          <a:bodyPr wrap="square" anchor="t" lIns="36576" rIns="36576" tIns="36576" bIns="36576">
            <a:spAutoFit/>
          </a:bodyPr>
          <a:lstStyle/>
          <a:p>
            <a:pPr algn="l">
              <a:lnSpc>
                <a:spcPct val="110000"/>
              </a:lnSpc>
              <a:spcAft>
                <a:spcPts val="400"/>
              </a:spcAft>
            </a:pPr>
            <a:r>
              <a:rPr sz="950" b="0" i="0">
                <a:solidFill>
                  <a:srgbClr val="8B98A5"/>
                </a:solidFill>
                <a:latin typeface="Segoe UI"/>
              </a:rPr>
              <a:t>Score = Σ severity weights (low 0.12 · medium 0.30 · high 0.55 · critical 1.0). LOW &lt; 0.2 ≤ MEDIUM &lt; 0.45 ≤ HIGH; any critical finding → CRITICAL.</a:t>
            </a:r>
          </a:p>
        </p:txBody>
      </p:sp>
      <p:sp>
        <p:nvSpPr>
          <p:cNvPr id="10" name="Rounded Rectangle 9"/>
          <p:cNvSpPr/>
          <p:nvPr/>
        </p:nvSpPr>
        <p:spPr>
          <a:xfrm>
            <a:off x="5623560" y="5074920"/>
            <a:ext cx="6035040" cy="118872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51576" y="5166359"/>
            <a:ext cx="5779007" cy="274320"/>
          </a:xfrm>
          <a:prstGeom prst="rect">
            <a:avLst/>
          </a:prstGeom>
          <a:noFill/>
        </p:spPr>
        <p:txBody>
          <a:bodyPr wrap="square" anchor="t" lIns="36576" rIns="36576" tIns="36576" bIns="36576">
            <a:spAutoFit/>
          </a:bodyPr>
          <a:lstStyle/>
          <a:p>
            <a:pPr algn="l">
              <a:lnSpc>
                <a:spcPct val="110000"/>
              </a:lnSpc>
              <a:spcAft>
                <a:spcPts val="400"/>
              </a:spcAft>
            </a:pPr>
            <a:r>
              <a:rPr sz="950" b="1" i="0">
                <a:solidFill>
                  <a:srgbClr val="F59E0B"/>
                </a:solidFill>
                <a:latin typeface="Segoe UI"/>
              </a:rPr>
              <a:t>LIMITATIONS, STATED HONESTLY</a:t>
            </a:r>
          </a:p>
        </p:txBody>
      </p:sp>
      <p:sp>
        <p:nvSpPr>
          <p:cNvPr id="12" name="TextBox 11"/>
          <p:cNvSpPr txBox="1"/>
          <p:nvPr/>
        </p:nvSpPr>
        <p:spPr>
          <a:xfrm>
            <a:off x="5760720" y="5394960"/>
            <a:ext cx="5760720" cy="868680"/>
          </a:xfrm>
          <a:prstGeom prst="rect">
            <a:avLst/>
          </a:prstGeom>
          <a:noFill/>
        </p:spPr>
        <p:txBody>
          <a:bodyPr wrap="square" anchor="t" lIns="36576" rIns="36576" tIns="36576" bIns="36576">
            <a:spAutoFit/>
          </a:bodyPr>
          <a:lstStyle/>
          <a:p>
            <a:pPr algn="l">
              <a:lnSpc>
                <a:spcPct val="115000"/>
              </a:lnSpc>
              <a:spcAft>
                <a:spcPts val="400"/>
              </a:spcAft>
            </a:pPr>
            <a:r>
              <a:rPr sz="950" b="0" i="0">
                <a:solidFill>
                  <a:srgbClr val="8B98A5"/>
                </a:solidFill>
                <a:latin typeface="Segoe UI"/>
              </a:rPr>
              <a:t>The twin is a calibrated simulation, not a physics engine; fidelity against a real site must be measured (planned: historical replay ingestion, Webots/Gazebo/Isaac bridges). No plan reaches real equipment without a fleet-manager integration and an operator.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D12"/>
        </a:solidFill>
        <a:effectLst/>
      </p:bgPr>
    </p:bg>
    <p:spTree>
      <p:nvGrpSpPr>
        <p:cNvPr id="1" name=""/>
        <p:cNvGrpSpPr/>
        <p:nvPr/>
      </p:nvGrpSpPr>
      <p:grpSpPr/>
      <p:sp>
        <p:nvSpPr>
          <p:cNvPr id="2" name="TextBox 1"/>
          <p:cNvSpPr txBox="1"/>
          <p:nvPr/>
        </p:nvSpPr>
        <p:spPr>
          <a:xfrm>
            <a:off x="548640" y="256032"/>
            <a:ext cx="8229600" cy="274320"/>
          </a:xfrm>
          <a:prstGeom prst="rect">
            <a:avLst/>
          </a:prstGeom>
          <a:noFill/>
        </p:spPr>
        <p:txBody>
          <a:bodyPr wrap="square" anchor="t" lIns="36576" rIns="36576" tIns="36576" bIns="36576">
            <a:spAutoFit/>
          </a:bodyPr>
          <a:lstStyle/>
          <a:p>
            <a:pPr algn="l">
              <a:lnSpc>
                <a:spcPct val="110000"/>
              </a:lnSpc>
              <a:spcAft>
                <a:spcPts val="400"/>
              </a:spcAft>
            </a:pPr>
            <a:r>
              <a:rPr sz="1050" b="1" i="0">
                <a:solidFill>
                  <a:srgbClr val="22D3EE"/>
                </a:solidFill>
                <a:latin typeface="Segoe UI"/>
              </a:rPr>
              <a:t>SPATIAL AI</a:t>
            </a:r>
          </a:p>
        </p:txBody>
      </p:sp>
      <p:sp>
        <p:nvSpPr>
          <p:cNvPr id="3" name="TextBox 2"/>
          <p:cNvSpPr txBox="1"/>
          <p:nvPr/>
        </p:nvSpPr>
        <p:spPr>
          <a:xfrm>
            <a:off x="548640" y="502920"/>
            <a:ext cx="10607040" cy="731520"/>
          </a:xfrm>
          <a:prstGeom prst="rect">
            <a:avLst/>
          </a:prstGeom>
          <a:noFill/>
        </p:spPr>
        <p:txBody>
          <a:bodyPr wrap="square" anchor="ctr" lIns="36576" rIns="36576" tIns="36576" bIns="36576">
            <a:spAutoFit/>
          </a:bodyPr>
          <a:lstStyle/>
          <a:p>
            <a:pPr algn="l">
              <a:lnSpc>
                <a:spcPct val="110000"/>
              </a:lnSpc>
              <a:spcAft>
                <a:spcPts val="400"/>
              </a:spcAft>
            </a:pPr>
            <a:r>
              <a:rPr sz="2800" b="1" i="0">
                <a:solidFill>
                  <a:srgbClr val="E6EDF3"/>
                </a:solidFill>
                <a:latin typeface="Segoe UI"/>
              </a:rPr>
              <a:t>Relationships, not just coordinates</a:t>
            </a:r>
          </a:p>
        </p:txBody>
      </p:sp>
      <p:sp>
        <p:nvSpPr>
          <p:cNvPr id="4" name="Rectangle 3"/>
          <p:cNvSpPr/>
          <p:nvPr/>
        </p:nvSpPr>
        <p:spPr>
          <a:xfrm>
            <a:off x="566928" y="1216152"/>
            <a:ext cx="100584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6400800" cy="274320"/>
          </a:xfrm>
          <a:prstGeom prst="rect">
            <a:avLst/>
          </a:prstGeom>
          <a:noFill/>
        </p:spPr>
        <p:txBody>
          <a:bodyPr wrap="square" anchor="t" lIns="36576" rIns="36576" tIns="36576" bIns="36576">
            <a:spAutoFit/>
          </a:bodyPr>
          <a:lstStyle/>
          <a:p>
            <a:pPr algn="l">
              <a:lnSpc>
                <a:spcPct val="110000"/>
              </a:lnSpc>
              <a:spcAft>
                <a:spcPts val="400"/>
              </a:spcAft>
            </a:pPr>
            <a:r>
              <a:rPr sz="950" b="0" i="0">
                <a:solidFill>
                  <a:srgbClr val="8B98A5"/>
                </a:solidFill>
                <a:latin typeface="Segoe UI"/>
              </a:rPr>
              <a:t>NEXUS · Autonomous Operations Intelligence</a:t>
            </a:r>
          </a:p>
        </p:txBody>
      </p:sp>
      <p:sp>
        <p:nvSpPr>
          <p:cNvPr id="6" name="TextBox 5"/>
          <p:cNvSpPr txBox="1"/>
          <p:nvPr/>
        </p:nvSpPr>
        <p:spPr>
          <a:xfrm>
            <a:off x="10607040" y="6446520"/>
            <a:ext cx="1051560" cy="274320"/>
          </a:xfrm>
          <a:prstGeom prst="rect">
            <a:avLst/>
          </a:prstGeom>
          <a:noFill/>
        </p:spPr>
        <p:txBody>
          <a:bodyPr wrap="square" anchor="t" lIns="36576" rIns="36576" tIns="36576" bIns="36576">
            <a:spAutoFit/>
          </a:bodyPr>
          <a:lstStyle/>
          <a:p>
            <a:pPr algn="r">
              <a:lnSpc>
                <a:spcPct val="110000"/>
              </a:lnSpc>
              <a:spcAft>
                <a:spcPts val="400"/>
              </a:spcAft>
            </a:pPr>
            <a:r>
              <a:rPr sz="950" b="0" i="0">
                <a:solidFill>
                  <a:srgbClr val="8B98A5"/>
                </a:solidFill>
                <a:latin typeface="Consolas"/>
              </a:rPr>
              <a:t>16</a:t>
            </a:r>
          </a:p>
        </p:txBody>
      </p:sp>
      <p:sp>
        <p:nvSpPr>
          <p:cNvPr id="7" name="TextBox 6"/>
          <p:cNvSpPr txBox="1"/>
          <p:nvPr/>
        </p:nvSpPr>
        <p:spPr>
          <a:xfrm>
            <a:off x="548640" y="1417320"/>
            <a:ext cx="5394960" cy="4206240"/>
          </a:xfrm>
          <a:prstGeom prst="rect">
            <a:avLst/>
          </a:prstGeom>
          <a:noFill/>
        </p:spPr>
        <p:txBody>
          <a:bodyPr wrap="square" lIns="45720" rIns="45720">
            <a:spAutoFit/>
          </a:bodyPr>
          <a:lstStyle/>
          <a:p>
            <a:pPr>
              <a:lnSpc>
                <a:spcPct val="112000"/>
              </a:lnSpc>
              <a:spcAft>
                <a:spcPts val="700"/>
              </a:spcAft>
            </a:pPr>
            <a:r>
              <a:rPr sz="1150" b="1">
                <a:solidFill>
                  <a:srgbClr val="22D3EE"/>
                </a:solidFill>
                <a:latin typeface="Segoe UI"/>
              </a:rPr>
              <a:t>•  </a:t>
            </a:r>
            <a:r>
              <a:rPr b="1" sz="1150">
                <a:solidFill>
                  <a:srgbClr val="E6EDF3"/>
                </a:solidFill>
                <a:latin typeface="Segoe UI"/>
              </a:rPr>
              <a:t>Relations. </a:t>
            </a:r>
            <a:r>
              <a:rPr sz="1150">
                <a:solidFill>
                  <a:srgbClr val="E6EDF3"/>
                </a:solidFill>
                <a:latin typeface="Segoe UI"/>
              </a:rPr>
              <a:t>is_inside · adjacent_to · located_in · requires · requires_zone · assigned_to · serves · charging_at · unloading_at</a:t>
            </a:r>
          </a:p>
          <a:p>
            <a:pPr>
              <a:lnSpc>
                <a:spcPct val="112000"/>
              </a:lnSpc>
              <a:spcAft>
                <a:spcPts val="700"/>
              </a:spcAft>
            </a:pPr>
            <a:r>
              <a:rPr sz="1150" b="1">
                <a:solidFill>
                  <a:srgbClr val="22D3EE"/>
                </a:solidFill>
                <a:latin typeface="Segoe UI"/>
              </a:rPr>
              <a:t>•  </a:t>
            </a:r>
            <a:r>
              <a:rPr b="1" sz="1150">
                <a:solidFill>
                  <a:srgbClr val="E6EDF3"/>
                </a:solidFill>
                <a:latin typeface="Segoe UI"/>
              </a:rPr>
              <a:t>Queries. </a:t>
            </a:r>
            <a:r>
              <a:rPr sz="1150">
                <a:solidFill>
                  <a:srgbClr val="E6EDF3"/>
                </a:solidFill>
                <a:latin typeface="Segoe UI"/>
              </a:rPr>
              <a:t>entities in a zone, orders requiring a zone, zone-level routes (BFS honouring closures), per-zone load, relations of any entity</a:t>
            </a:r>
          </a:p>
          <a:p>
            <a:pPr>
              <a:lnSpc>
                <a:spcPct val="112000"/>
              </a:lnSpc>
              <a:spcAft>
                <a:spcPts val="700"/>
              </a:spcAft>
            </a:pPr>
            <a:r>
              <a:rPr sz="1150" b="1">
                <a:solidFill>
                  <a:srgbClr val="22D3EE"/>
                </a:solidFill>
                <a:latin typeface="Segoe UI"/>
              </a:rPr>
              <a:t>•  </a:t>
            </a:r>
            <a:r>
              <a:rPr b="1" sz="1150">
                <a:solidFill>
                  <a:srgbClr val="E6EDF3"/>
                </a:solidFill>
                <a:latin typeface="Segoe UI"/>
              </a:rPr>
              <a:t>Used by the planner — </a:t>
            </a:r>
            <a:r>
              <a:rPr sz="1150">
                <a:solidFill>
                  <a:srgbClr val="E6EDF3"/>
                </a:solidFill>
                <a:latin typeface="Segoe UI"/>
              </a:rPr>
              <a:t>nearest helpers by zone hops from a failed robot; spare neighbour zones for inventory repositioning; corridors adjacent to hot zones</a:t>
            </a:r>
          </a:p>
          <a:p>
            <a:pPr>
              <a:lnSpc>
                <a:spcPct val="112000"/>
              </a:lnSpc>
              <a:spcAft>
                <a:spcPts val="700"/>
              </a:spcAft>
            </a:pPr>
            <a:r>
              <a:rPr sz="1150" b="1">
                <a:solidFill>
                  <a:srgbClr val="22D3EE"/>
                </a:solidFill>
                <a:latin typeface="Segoe UI"/>
              </a:rPr>
              <a:t>•  </a:t>
            </a:r>
            <a:r>
              <a:rPr b="1" sz="1150">
                <a:solidFill>
                  <a:srgbClr val="E6EDF3"/>
                </a:solidFill>
                <a:latin typeface="Segoe UI"/>
              </a:rPr>
              <a:t>Used by the risk agent and the console — </a:t>
            </a:r>
            <a:r>
              <a:rPr sz="1150">
                <a:solidFill>
                  <a:srgbClr val="E6EDF3"/>
                </a:solidFill>
                <a:latin typeface="Segoe UI"/>
              </a:rPr>
              <a:t>"Zone C congestion accounts for ~61% of predicted delay"-style attribution grounded in the graph</a:t>
            </a:r>
          </a:p>
          <a:p>
            <a:pPr>
              <a:lnSpc>
                <a:spcPct val="112000"/>
              </a:lnSpc>
              <a:spcAft>
                <a:spcPts val="700"/>
              </a:spcAft>
            </a:pPr>
            <a:r>
              <a:rPr sz="1150" b="1">
                <a:solidFill>
                  <a:srgbClr val="22D3EE"/>
                </a:solidFill>
                <a:latin typeface="Segoe UI"/>
              </a:rPr>
              <a:t>•  </a:t>
            </a:r>
            <a:r>
              <a:rPr b="1" sz="1150">
                <a:solidFill>
                  <a:srgbClr val="E6EDF3"/>
                </a:solidFill>
                <a:latin typeface="Segoe UI"/>
              </a:rPr>
              <a:t>Grid + graph. </a:t>
            </a:r>
            <a:r>
              <a:rPr sz="1150">
                <a:solidFill>
                  <a:srgbClr val="E6EDF3"/>
                </a:solidFill>
                <a:latin typeface="Segoe UI"/>
              </a:rPr>
              <a:t>the occupancy grid (A*, congestion, blockages) and the semantic graph are two views of one world — geometry for robots, semantics for agents and people</a:t>
            </a:r>
          </a:p>
        </p:txBody>
      </p:sp>
      <p:sp>
        <p:nvSpPr>
          <p:cNvPr id="8" name="Rounded Rectangle 7"/>
          <p:cNvSpPr/>
          <p:nvPr/>
        </p:nvSpPr>
        <p:spPr>
          <a:xfrm>
            <a:off x="6217920" y="1417320"/>
            <a:ext cx="5440680" cy="420624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45936" y="1508760"/>
            <a:ext cx="5184648" cy="274320"/>
          </a:xfrm>
          <a:prstGeom prst="rect">
            <a:avLst/>
          </a:prstGeom>
          <a:noFill/>
        </p:spPr>
        <p:txBody>
          <a:bodyPr wrap="square" anchor="t" lIns="36576" rIns="36576" tIns="36576" bIns="36576">
            <a:spAutoFit/>
          </a:bodyPr>
          <a:lstStyle/>
          <a:p>
            <a:pPr algn="l">
              <a:lnSpc>
                <a:spcPct val="110000"/>
              </a:lnSpc>
              <a:spcAft>
                <a:spcPts val="400"/>
              </a:spcAft>
            </a:pPr>
            <a:r>
              <a:rPr sz="950" b="1" i="0">
                <a:solidFill>
                  <a:srgbClr val="22D3EE"/>
                </a:solidFill>
                <a:latin typeface="Segoe UI"/>
              </a:rPr>
              <a:t>SEMANTIC GRAPH (EXCERPT)</a:t>
            </a:r>
          </a:p>
        </p:txBody>
      </p:sp>
      <p:sp>
        <p:nvSpPr>
          <p:cNvPr id="10" name="Rounded Rectangle 9"/>
          <p:cNvSpPr/>
          <p:nvPr/>
        </p:nvSpPr>
        <p:spPr>
          <a:xfrm>
            <a:off x="6263640" y="2084832"/>
            <a:ext cx="822960" cy="585216"/>
          </a:xfrm>
          <a:prstGeom prst="roundRect">
            <a:avLst>
              <a:gd name="adj" fmla="val 12000"/>
            </a:avLst>
          </a:prstGeom>
          <a:solidFill>
            <a:srgbClr val="11161D"/>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50" b="1">
                <a:solidFill>
                  <a:srgbClr val="E6EDF3"/>
                </a:solidFill>
                <a:latin typeface="Segoe UI"/>
              </a:rPr>
              <a:t>Zone A</a:t>
            </a:r>
          </a:p>
        </p:txBody>
      </p:sp>
      <p:sp>
        <p:nvSpPr>
          <p:cNvPr id="11" name="Rounded Rectangle 10"/>
          <p:cNvSpPr/>
          <p:nvPr/>
        </p:nvSpPr>
        <p:spPr>
          <a:xfrm>
            <a:off x="8092440" y="2084832"/>
            <a:ext cx="822960" cy="585216"/>
          </a:xfrm>
          <a:prstGeom prst="roundRect">
            <a:avLst>
              <a:gd name="adj" fmla="val 12000"/>
            </a:avLst>
          </a:prstGeom>
          <a:solidFill>
            <a:srgbClr val="11161D"/>
          </a:solidFill>
          <a:ln w="12700">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50" b="1">
                <a:solidFill>
                  <a:srgbClr val="E6EDF3"/>
                </a:solidFill>
                <a:latin typeface="Segoe UI"/>
              </a:rPr>
              <a:t>Zone B</a:t>
            </a:r>
          </a:p>
        </p:txBody>
      </p:sp>
      <p:sp>
        <p:nvSpPr>
          <p:cNvPr id="12" name="Rounded Rectangle 11"/>
          <p:cNvSpPr/>
          <p:nvPr/>
        </p:nvSpPr>
        <p:spPr>
          <a:xfrm>
            <a:off x="9921240" y="2084832"/>
            <a:ext cx="822960" cy="585216"/>
          </a:xfrm>
          <a:prstGeom prst="roundRect">
            <a:avLst>
              <a:gd name="adj" fmla="val 12000"/>
            </a:avLst>
          </a:prstGeom>
          <a:solidFill>
            <a:srgbClr val="11161D"/>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50" b="1">
                <a:solidFill>
                  <a:srgbClr val="E6EDF3"/>
                </a:solidFill>
                <a:latin typeface="Segoe UI"/>
              </a:rPr>
              <a:t>Zone C</a:t>
            </a:r>
          </a:p>
        </p:txBody>
      </p:sp>
      <p:sp>
        <p:nvSpPr>
          <p:cNvPr id="13" name="Rounded Rectangle 12"/>
          <p:cNvSpPr/>
          <p:nvPr/>
        </p:nvSpPr>
        <p:spPr>
          <a:xfrm>
            <a:off x="6263640" y="3913631"/>
            <a:ext cx="822960" cy="585216"/>
          </a:xfrm>
          <a:prstGeom prst="roundRect">
            <a:avLst>
              <a:gd name="adj" fmla="val 12000"/>
            </a:avLst>
          </a:prstGeom>
          <a:solidFill>
            <a:srgbClr val="11161D"/>
          </a:solidFill>
          <a:ln w="12700">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50" b="1">
                <a:solidFill>
                  <a:srgbClr val="E6EDF3"/>
                </a:solidFill>
                <a:latin typeface="Segoe UI"/>
              </a:rPr>
              <a:t>Zone D</a:t>
            </a:r>
          </a:p>
        </p:txBody>
      </p:sp>
      <p:sp>
        <p:nvSpPr>
          <p:cNvPr id="14" name="Rounded Rectangle 13"/>
          <p:cNvSpPr/>
          <p:nvPr/>
        </p:nvSpPr>
        <p:spPr>
          <a:xfrm>
            <a:off x="8092440" y="3913631"/>
            <a:ext cx="822960" cy="585216"/>
          </a:xfrm>
          <a:prstGeom prst="roundRect">
            <a:avLst>
              <a:gd name="adj" fmla="val 12000"/>
            </a:avLst>
          </a:prstGeom>
          <a:solidFill>
            <a:srgbClr val="11161D"/>
          </a:solidFill>
          <a:ln w="12700">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50" b="1">
                <a:solidFill>
                  <a:srgbClr val="E6EDF3"/>
                </a:solidFill>
                <a:latin typeface="Segoe UI"/>
              </a:rPr>
              <a:t>Zone E</a:t>
            </a:r>
          </a:p>
        </p:txBody>
      </p:sp>
      <p:sp>
        <p:nvSpPr>
          <p:cNvPr id="15" name="Rounded Rectangle 14"/>
          <p:cNvSpPr/>
          <p:nvPr/>
        </p:nvSpPr>
        <p:spPr>
          <a:xfrm>
            <a:off x="9921240" y="3913631"/>
            <a:ext cx="822960" cy="585216"/>
          </a:xfrm>
          <a:prstGeom prst="roundRect">
            <a:avLst>
              <a:gd name="adj" fmla="val 12000"/>
            </a:avLst>
          </a:prstGeom>
          <a:solidFill>
            <a:srgbClr val="11161D"/>
          </a:solidFill>
          <a:ln w="12700">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50" b="1">
                <a:solidFill>
                  <a:srgbClr val="E6EDF3"/>
                </a:solidFill>
                <a:latin typeface="Segoe UI"/>
              </a:rPr>
              <a:t>Zone F</a:t>
            </a:r>
          </a:p>
        </p:txBody>
      </p:sp>
      <p:sp>
        <p:nvSpPr>
          <p:cNvPr id="16" name="Rounded Rectangle 15"/>
          <p:cNvSpPr/>
          <p:nvPr/>
        </p:nvSpPr>
        <p:spPr>
          <a:xfrm>
            <a:off x="7132320" y="3054096"/>
            <a:ext cx="914400" cy="475488"/>
          </a:xfrm>
          <a:prstGeom prst="roundRect">
            <a:avLst>
              <a:gd name="adj" fmla="val 12000"/>
            </a:avLst>
          </a:prstGeom>
          <a:solidFill>
            <a:srgbClr val="11161D"/>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00" b="1">
                <a:solidFill>
                  <a:srgbClr val="A78BFA"/>
                </a:solidFill>
                <a:latin typeface="Segoe UI"/>
              </a:rPr>
              <a:t>C1</a:t>
            </a:r>
          </a:p>
          <a:p>
            <a:pPr algn="ctr">
              <a:spcBef>
                <a:spcPts val="200"/>
              </a:spcBef>
            </a:pPr>
            <a:r>
              <a:rPr sz="750">
                <a:solidFill>
                  <a:srgbClr val="8B98A5"/>
                </a:solidFill>
                <a:latin typeface="Segoe UI"/>
              </a:rPr>
              <a:t>corridor</a:t>
            </a:r>
          </a:p>
        </p:txBody>
      </p:sp>
      <p:sp>
        <p:nvSpPr>
          <p:cNvPr id="17" name="Rounded Rectangle 16"/>
          <p:cNvSpPr/>
          <p:nvPr/>
        </p:nvSpPr>
        <p:spPr>
          <a:xfrm>
            <a:off x="8961120" y="3054096"/>
            <a:ext cx="914400" cy="475488"/>
          </a:xfrm>
          <a:prstGeom prst="roundRect">
            <a:avLst>
              <a:gd name="adj" fmla="val 12000"/>
            </a:avLst>
          </a:prstGeom>
          <a:solidFill>
            <a:srgbClr val="11161D"/>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00" b="1">
                <a:solidFill>
                  <a:srgbClr val="A78BFA"/>
                </a:solidFill>
                <a:latin typeface="Segoe UI"/>
              </a:rPr>
              <a:t>C2</a:t>
            </a:r>
          </a:p>
          <a:p>
            <a:pPr algn="ctr">
              <a:spcBef>
                <a:spcPts val="200"/>
              </a:spcBef>
            </a:pPr>
            <a:r>
              <a:rPr sz="750">
                <a:solidFill>
                  <a:srgbClr val="8B98A5"/>
                </a:solidFill>
                <a:latin typeface="Segoe UI"/>
              </a:rPr>
              <a:t>corridor</a:t>
            </a:r>
          </a:p>
        </p:txBody>
      </p:sp>
      <p:cxnSp>
        <p:nvCxnSpPr>
          <p:cNvPr id="18" name="Connector 17"/>
          <p:cNvCxnSpPr/>
          <p:nvPr/>
        </p:nvCxnSpPr>
        <p:spPr>
          <a:xfrm>
            <a:off x="6675120" y="2670048"/>
            <a:ext cx="914400" cy="384048"/>
          </a:xfrm>
          <a:prstGeom prst="line">
            <a:avLst/>
          </a:prstGeom>
          <a:ln w="12700">
            <a:solidFill>
              <a:srgbClr val="1F2933"/>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7589520" y="2670048"/>
            <a:ext cx="914400" cy="384048"/>
          </a:xfrm>
          <a:prstGeom prst="line">
            <a:avLst/>
          </a:prstGeom>
          <a:ln w="12700">
            <a:solidFill>
              <a:srgbClr val="1F2933"/>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6675120" y="3529584"/>
            <a:ext cx="914400" cy="384047"/>
          </a:xfrm>
          <a:prstGeom prst="line">
            <a:avLst/>
          </a:prstGeom>
          <a:ln w="12700">
            <a:solidFill>
              <a:srgbClr val="1F2933"/>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7589520" y="3529584"/>
            <a:ext cx="914400" cy="384047"/>
          </a:xfrm>
          <a:prstGeom prst="line">
            <a:avLst/>
          </a:prstGeom>
          <a:ln w="12700">
            <a:solidFill>
              <a:srgbClr val="1F2933"/>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503920" y="2670048"/>
            <a:ext cx="914400" cy="384048"/>
          </a:xfrm>
          <a:prstGeom prst="line">
            <a:avLst/>
          </a:prstGeom>
          <a:ln w="12700">
            <a:solidFill>
              <a:srgbClr val="1F2933"/>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9418320" y="2670048"/>
            <a:ext cx="914400" cy="384048"/>
          </a:xfrm>
          <a:prstGeom prst="line">
            <a:avLst/>
          </a:prstGeom>
          <a:ln w="12700">
            <a:solidFill>
              <a:srgbClr val="1F2933"/>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8503920" y="3529584"/>
            <a:ext cx="914400" cy="384047"/>
          </a:xfrm>
          <a:prstGeom prst="line">
            <a:avLst/>
          </a:prstGeom>
          <a:ln w="12700">
            <a:solidFill>
              <a:srgbClr val="1F2933"/>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9418320" y="3529584"/>
            <a:ext cx="914400" cy="384047"/>
          </a:xfrm>
          <a:prstGeom prst="line">
            <a:avLst/>
          </a:prstGeom>
          <a:ln w="12700">
            <a:solidFill>
              <a:srgbClr val="1F2933"/>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355080" y="4709160"/>
            <a:ext cx="5166360" cy="868680"/>
          </a:xfrm>
          <a:prstGeom prst="rect">
            <a:avLst/>
          </a:prstGeom>
          <a:noFill/>
        </p:spPr>
        <p:txBody>
          <a:bodyPr wrap="square" anchor="t" lIns="36576" rIns="36576" tIns="36576" bIns="36576">
            <a:spAutoFit/>
          </a:bodyPr>
          <a:lstStyle/>
          <a:p>
            <a:pPr algn="l">
              <a:lnSpc>
                <a:spcPct val="120000"/>
              </a:lnSpc>
              <a:spcAft>
                <a:spcPts val="200"/>
              </a:spcAft>
            </a:pPr>
            <a:r>
              <a:rPr sz="900" b="0" i="0">
                <a:solidFill>
                  <a:srgbClr val="8B98A5"/>
                </a:solidFill>
                <a:latin typeface="Consolas"/>
              </a:rPr>
              <a:t>R07  is_inside  Zone C        Zone C  adjacent_to  C2</a:t>
            </a:r>
          </a:p>
          <a:p>
            <a:pPr algn="l">
              <a:lnSpc>
                <a:spcPct val="120000"/>
              </a:lnSpc>
              <a:spcAft>
                <a:spcPts val="200"/>
              </a:spcAft>
            </a:pPr>
            <a:r>
              <a:rPr sz="900" b="0" i="0">
                <a:solidFill>
                  <a:srgbClr val="8B98A5"/>
                </a:solidFill>
                <a:latin typeface="Consolas"/>
              </a:rPr>
              <a:t>ORD-8821  requires  Shelf C-41   Shelf C-41  located_in  Zone C</a:t>
            </a:r>
          </a:p>
          <a:p>
            <a:pPr algn="l">
              <a:lnSpc>
                <a:spcPct val="120000"/>
              </a:lnSpc>
              <a:spcAft>
                <a:spcPts val="200"/>
              </a:spcAft>
            </a:pPr>
            <a:r>
              <a:rPr sz="900" b="0" i="0">
                <a:solidFill>
                  <a:srgbClr val="8B98A5"/>
                </a:solidFill>
                <a:latin typeface="Consolas"/>
              </a:rPr>
              <a:t>zone_route(A → C) = A → C1 → C2 → C   (closures honoured)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D12"/>
        </a:solidFill>
        <a:effectLst/>
      </p:bgPr>
    </p:bg>
    <p:spTree>
      <p:nvGrpSpPr>
        <p:cNvPr id="1" name=""/>
        <p:cNvGrpSpPr/>
        <p:nvPr/>
      </p:nvGrpSpPr>
      <p:grpSpPr/>
      <p:sp>
        <p:nvSpPr>
          <p:cNvPr id="2" name="TextBox 1"/>
          <p:cNvSpPr txBox="1"/>
          <p:nvPr/>
        </p:nvSpPr>
        <p:spPr>
          <a:xfrm>
            <a:off x="548640" y="256032"/>
            <a:ext cx="8229600" cy="274320"/>
          </a:xfrm>
          <a:prstGeom prst="rect">
            <a:avLst/>
          </a:prstGeom>
          <a:noFill/>
        </p:spPr>
        <p:txBody>
          <a:bodyPr wrap="square" anchor="t" lIns="36576" rIns="36576" tIns="36576" bIns="36576">
            <a:spAutoFit/>
          </a:bodyPr>
          <a:lstStyle/>
          <a:p>
            <a:pPr algn="l">
              <a:lnSpc>
                <a:spcPct val="110000"/>
              </a:lnSpc>
              <a:spcAft>
                <a:spcPts val="400"/>
              </a:spcAft>
            </a:pPr>
            <a:r>
              <a:rPr sz="1050" b="1" i="0">
                <a:solidFill>
                  <a:srgbClr val="22D3EE"/>
                </a:solidFill>
                <a:latin typeface="Segoe UI"/>
              </a:rPr>
              <a:t>WHAT-IF ENGINE</a:t>
            </a:r>
          </a:p>
        </p:txBody>
      </p:sp>
      <p:sp>
        <p:nvSpPr>
          <p:cNvPr id="3" name="TextBox 2"/>
          <p:cNvSpPr txBox="1"/>
          <p:nvPr/>
        </p:nvSpPr>
        <p:spPr>
          <a:xfrm>
            <a:off x="548640" y="502920"/>
            <a:ext cx="10607040" cy="731520"/>
          </a:xfrm>
          <a:prstGeom prst="rect">
            <a:avLst/>
          </a:prstGeom>
          <a:noFill/>
        </p:spPr>
        <p:txBody>
          <a:bodyPr wrap="square" anchor="ctr" lIns="36576" rIns="36576" tIns="36576" bIns="36576">
            <a:spAutoFit/>
          </a:bodyPr>
          <a:lstStyle/>
          <a:p>
            <a:pPr algn="l">
              <a:lnSpc>
                <a:spcPct val="110000"/>
              </a:lnSpc>
              <a:spcAft>
                <a:spcPts val="400"/>
              </a:spcAft>
            </a:pPr>
            <a:r>
              <a:rPr sz="2800" b="1" i="0">
                <a:solidFill>
                  <a:srgbClr val="E6EDF3"/>
                </a:solidFill>
                <a:latin typeface="Segoe UI"/>
              </a:rPr>
              <a:t>Ask about one future, get four back — compared</a:t>
            </a:r>
          </a:p>
        </p:txBody>
      </p:sp>
      <p:sp>
        <p:nvSpPr>
          <p:cNvPr id="4" name="Rectangle 3"/>
          <p:cNvSpPr/>
          <p:nvPr/>
        </p:nvSpPr>
        <p:spPr>
          <a:xfrm>
            <a:off x="566928" y="1216152"/>
            <a:ext cx="100584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6400800" cy="274320"/>
          </a:xfrm>
          <a:prstGeom prst="rect">
            <a:avLst/>
          </a:prstGeom>
          <a:noFill/>
        </p:spPr>
        <p:txBody>
          <a:bodyPr wrap="square" anchor="t" lIns="36576" rIns="36576" tIns="36576" bIns="36576">
            <a:spAutoFit/>
          </a:bodyPr>
          <a:lstStyle/>
          <a:p>
            <a:pPr algn="l">
              <a:lnSpc>
                <a:spcPct val="110000"/>
              </a:lnSpc>
              <a:spcAft>
                <a:spcPts val="400"/>
              </a:spcAft>
            </a:pPr>
            <a:r>
              <a:rPr sz="950" b="0" i="0">
                <a:solidFill>
                  <a:srgbClr val="8B98A5"/>
                </a:solidFill>
                <a:latin typeface="Segoe UI"/>
              </a:rPr>
              <a:t>NEXUS · Autonomous Operations Intelligence</a:t>
            </a:r>
          </a:p>
        </p:txBody>
      </p:sp>
      <p:sp>
        <p:nvSpPr>
          <p:cNvPr id="6" name="TextBox 5"/>
          <p:cNvSpPr txBox="1"/>
          <p:nvPr/>
        </p:nvSpPr>
        <p:spPr>
          <a:xfrm>
            <a:off x="10607040" y="6446520"/>
            <a:ext cx="1051560" cy="274320"/>
          </a:xfrm>
          <a:prstGeom prst="rect">
            <a:avLst/>
          </a:prstGeom>
          <a:noFill/>
        </p:spPr>
        <p:txBody>
          <a:bodyPr wrap="square" anchor="t" lIns="36576" rIns="36576" tIns="36576" bIns="36576">
            <a:spAutoFit/>
          </a:bodyPr>
          <a:lstStyle/>
          <a:p>
            <a:pPr algn="r">
              <a:lnSpc>
                <a:spcPct val="110000"/>
              </a:lnSpc>
              <a:spcAft>
                <a:spcPts val="400"/>
              </a:spcAft>
            </a:pPr>
            <a:r>
              <a:rPr sz="950" b="0" i="0">
                <a:solidFill>
                  <a:srgbClr val="8B98A5"/>
                </a:solidFill>
                <a:latin typeface="Consolas"/>
              </a:rPr>
              <a:t>17</a:t>
            </a:r>
          </a:p>
        </p:txBody>
      </p:sp>
      <p:sp>
        <p:nvSpPr>
          <p:cNvPr id="7" name="Rounded Rectangle 6"/>
          <p:cNvSpPr/>
          <p:nvPr/>
        </p:nvSpPr>
        <p:spPr>
          <a:xfrm>
            <a:off x="548640" y="1417320"/>
            <a:ext cx="5577840" cy="214884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6656" y="1508760"/>
            <a:ext cx="5321807" cy="274320"/>
          </a:xfrm>
          <a:prstGeom prst="rect">
            <a:avLst/>
          </a:prstGeom>
          <a:noFill/>
        </p:spPr>
        <p:txBody>
          <a:bodyPr wrap="square" anchor="t" lIns="36576" rIns="36576" tIns="36576" bIns="36576">
            <a:spAutoFit/>
          </a:bodyPr>
          <a:lstStyle/>
          <a:p>
            <a:pPr algn="l">
              <a:lnSpc>
                <a:spcPct val="110000"/>
              </a:lnSpc>
              <a:spcAft>
                <a:spcPts val="400"/>
              </a:spcAft>
            </a:pPr>
            <a:r>
              <a:rPr sz="950" b="1" i="0">
                <a:solidFill>
                  <a:srgbClr val="22D3EE"/>
                </a:solidFill>
                <a:latin typeface="Segoe UI"/>
              </a:rPr>
              <a:t>HOW IT WORKS</a:t>
            </a:r>
          </a:p>
        </p:txBody>
      </p:sp>
      <p:sp>
        <p:nvSpPr>
          <p:cNvPr id="9" name="TextBox 8"/>
          <p:cNvSpPr txBox="1"/>
          <p:nvPr/>
        </p:nvSpPr>
        <p:spPr>
          <a:xfrm>
            <a:off x="640080" y="1783080"/>
            <a:ext cx="5394960" cy="1783080"/>
          </a:xfrm>
          <a:prstGeom prst="rect">
            <a:avLst/>
          </a:prstGeom>
          <a:noFill/>
        </p:spPr>
        <p:txBody>
          <a:bodyPr wrap="square" lIns="45720" rIns="45720">
            <a:spAutoFit/>
          </a:bodyPr>
          <a:lstStyle/>
          <a:p>
            <a:pPr>
              <a:lnSpc>
                <a:spcPct val="112000"/>
              </a:lnSpc>
              <a:spcAft>
                <a:spcPts val="400"/>
              </a:spcAft>
            </a:pPr>
            <a:r>
              <a:rPr sz="1050" b="1">
                <a:solidFill>
                  <a:srgbClr val="22D3EE"/>
                </a:solidFill>
                <a:latin typeface="Segoe UI"/>
              </a:rPr>
              <a:t>•  </a:t>
            </a:r>
            <a:r>
              <a:rPr sz="1050">
                <a:solidFill>
                  <a:srgbClr val="E6EDF3"/>
                </a:solidFill>
                <a:latin typeface="Segoe UI"/>
              </a:rPr>
              <a:t>fork the current state → apply scenario mutations as scheduled events → run every strategy × seeds in a process pool</a:t>
            </a:r>
          </a:p>
          <a:p>
            <a:pPr>
              <a:lnSpc>
                <a:spcPct val="112000"/>
              </a:lnSpc>
              <a:spcAft>
                <a:spcPts val="400"/>
              </a:spcAft>
            </a:pPr>
            <a:r>
              <a:rPr sz="1050" b="1">
                <a:solidFill>
                  <a:srgbClr val="22D3EE"/>
                </a:solidFill>
                <a:latin typeface="Segoe UI"/>
              </a:rPr>
              <a:t>•  </a:t>
            </a:r>
            <a:r>
              <a:rPr sz="1050">
                <a:solidFill>
                  <a:srgbClr val="E6EDF3"/>
                </a:solidFill>
                <a:latin typeface="Segoe UI"/>
              </a:rPr>
              <a:t>compare on the shared KPI definitions, score with the optimization objective, keep the unmodified world as reference</a:t>
            </a:r>
          </a:p>
          <a:p>
            <a:pPr>
              <a:lnSpc>
                <a:spcPct val="112000"/>
              </a:lnSpc>
              <a:spcAft>
                <a:spcPts val="400"/>
              </a:spcAft>
            </a:pPr>
            <a:r>
              <a:rPr sz="1050" b="1">
                <a:solidFill>
                  <a:srgbClr val="22D3EE"/>
                </a:solidFill>
                <a:latin typeface="Segoe UI"/>
              </a:rPr>
              <a:t>•  </a:t>
            </a:r>
            <a:r>
              <a:rPr sz="1050">
                <a:solidFill>
                  <a:srgbClr val="E6EDF3"/>
                </a:solidFill>
                <a:latin typeface="Segoe UI"/>
              </a:rPr>
              <a:t>a deterministic narrative + comparison table; results stream back to the UI</a:t>
            </a:r>
          </a:p>
        </p:txBody>
      </p:sp>
      <p:sp>
        <p:nvSpPr>
          <p:cNvPr id="10" name="Rounded Rectangle 9"/>
          <p:cNvSpPr/>
          <p:nvPr/>
        </p:nvSpPr>
        <p:spPr>
          <a:xfrm>
            <a:off x="548640" y="3703320"/>
            <a:ext cx="5577840" cy="256032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794759"/>
            <a:ext cx="5321807" cy="274320"/>
          </a:xfrm>
          <a:prstGeom prst="rect">
            <a:avLst/>
          </a:prstGeom>
          <a:noFill/>
        </p:spPr>
        <p:txBody>
          <a:bodyPr wrap="square" anchor="t" lIns="36576" rIns="36576" tIns="36576" bIns="36576">
            <a:spAutoFit/>
          </a:bodyPr>
          <a:lstStyle/>
          <a:p>
            <a:pPr algn="l">
              <a:lnSpc>
                <a:spcPct val="110000"/>
              </a:lnSpc>
              <a:spcAft>
                <a:spcPts val="400"/>
              </a:spcAft>
            </a:pPr>
            <a:r>
              <a:rPr sz="950" b="1" i="0">
                <a:solidFill>
                  <a:srgbClr val="22D3EE"/>
                </a:solidFill>
                <a:latin typeface="Segoe UI"/>
              </a:rPr>
              <a:t>PRESETS (ALSO REACHABLE BY ASKING IN PLAIN ENGLISH)</a:t>
            </a:r>
          </a:p>
        </p:txBody>
      </p:sp>
      <p:sp>
        <p:nvSpPr>
          <p:cNvPr id="12" name="TextBox 11"/>
          <p:cNvSpPr txBox="1"/>
          <p:nvPr/>
        </p:nvSpPr>
        <p:spPr>
          <a:xfrm>
            <a:off x="731520" y="4069080"/>
            <a:ext cx="2651760" cy="329184"/>
          </a:xfrm>
          <a:prstGeom prst="rect">
            <a:avLst/>
          </a:prstGeom>
          <a:noFill/>
        </p:spPr>
        <p:txBody>
          <a:bodyPr wrap="square" anchor="t" lIns="36576" rIns="36576" tIns="36576" bIns="36576">
            <a:spAutoFit/>
          </a:bodyPr>
          <a:lstStyle/>
          <a:p>
            <a:pPr algn="l">
              <a:lnSpc>
                <a:spcPct val="110000"/>
              </a:lnSpc>
              <a:spcAft>
                <a:spcPts val="400"/>
              </a:spcAft>
            </a:pPr>
            <a:r>
              <a:rPr sz="1000" b="0" i="0">
                <a:solidFill>
                  <a:srgbClr val="E6EDF3"/>
                </a:solidFill>
                <a:latin typeface="Segoe UI"/>
              </a:rPr>
              <a:t>›  Demand +40%</a:t>
            </a:r>
          </a:p>
        </p:txBody>
      </p:sp>
      <p:sp>
        <p:nvSpPr>
          <p:cNvPr id="13" name="TextBox 12"/>
          <p:cNvSpPr txBox="1"/>
          <p:nvPr/>
        </p:nvSpPr>
        <p:spPr>
          <a:xfrm>
            <a:off x="731520" y="4416552"/>
            <a:ext cx="2651760" cy="329184"/>
          </a:xfrm>
          <a:prstGeom prst="rect">
            <a:avLst/>
          </a:prstGeom>
          <a:noFill/>
        </p:spPr>
        <p:txBody>
          <a:bodyPr wrap="square" anchor="t" lIns="36576" rIns="36576" tIns="36576" bIns="36576">
            <a:spAutoFit/>
          </a:bodyPr>
          <a:lstStyle/>
          <a:p>
            <a:pPr algn="l">
              <a:lnSpc>
                <a:spcPct val="110000"/>
              </a:lnSpc>
              <a:spcAft>
                <a:spcPts val="400"/>
              </a:spcAft>
            </a:pPr>
            <a:r>
              <a:rPr sz="1000" b="0" i="0">
                <a:solidFill>
                  <a:srgbClr val="E6EDF3"/>
                </a:solidFill>
                <a:latin typeface="Segoe UI"/>
              </a:rPr>
              <a:t>›  Demand doubles for 30 min</a:t>
            </a:r>
          </a:p>
        </p:txBody>
      </p:sp>
      <p:sp>
        <p:nvSpPr>
          <p:cNvPr id="14" name="TextBox 13"/>
          <p:cNvSpPr txBox="1"/>
          <p:nvPr/>
        </p:nvSpPr>
        <p:spPr>
          <a:xfrm>
            <a:off x="731520" y="4764024"/>
            <a:ext cx="2651760" cy="329184"/>
          </a:xfrm>
          <a:prstGeom prst="rect">
            <a:avLst/>
          </a:prstGeom>
          <a:noFill/>
        </p:spPr>
        <p:txBody>
          <a:bodyPr wrap="square" anchor="t" lIns="36576" rIns="36576" tIns="36576" bIns="36576">
            <a:spAutoFit/>
          </a:bodyPr>
          <a:lstStyle/>
          <a:p>
            <a:pPr algn="l">
              <a:lnSpc>
                <a:spcPct val="110000"/>
              </a:lnSpc>
              <a:spcAft>
                <a:spcPts val="400"/>
              </a:spcAft>
            </a:pPr>
            <a:r>
              <a:rPr sz="1000" b="0" i="0">
                <a:solidFill>
                  <a:srgbClr val="E6EDF3"/>
                </a:solidFill>
                <a:latin typeface="Segoe UI"/>
              </a:rPr>
              <a:t>›  Robot R07 fails</a:t>
            </a:r>
          </a:p>
        </p:txBody>
      </p:sp>
      <p:sp>
        <p:nvSpPr>
          <p:cNvPr id="15" name="TextBox 14"/>
          <p:cNvSpPr txBox="1"/>
          <p:nvPr/>
        </p:nvSpPr>
        <p:spPr>
          <a:xfrm>
            <a:off x="731520" y="5111496"/>
            <a:ext cx="2651760" cy="329184"/>
          </a:xfrm>
          <a:prstGeom prst="rect">
            <a:avLst/>
          </a:prstGeom>
          <a:noFill/>
        </p:spPr>
        <p:txBody>
          <a:bodyPr wrap="square" anchor="t" lIns="36576" rIns="36576" tIns="36576" bIns="36576">
            <a:spAutoFit/>
          </a:bodyPr>
          <a:lstStyle/>
          <a:p>
            <a:pPr algn="l">
              <a:lnSpc>
                <a:spcPct val="110000"/>
              </a:lnSpc>
              <a:spcAft>
                <a:spcPts val="400"/>
              </a:spcAft>
            </a:pPr>
            <a:r>
              <a:rPr sz="1000" b="0" i="0">
                <a:solidFill>
                  <a:srgbClr val="E6EDF3"/>
                </a:solidFill>
                <a:latin typeface="Segoe UI"/>
              </a:rPr>
              <a:t>›  Remove 2 robots</a:t>
            </a:r>
          </a:p>
        </p:txBody>
      </p:sp>
      <p:sp>
        <p:nvSpPr>
          <p:cNvPr id="16" name="TextBox 15"/>
          <p:cNvSpPr txBox="1"/>
          <p:nvPr/>
        </p:nvSpPr>
        <p:spPr>
          <a:xfrm>
            <a:off x="731520" y="5458968"/>
            <a:ext cx="2651760" cy="329184"/>
          </a:xfrm>
          <a:prstGeom prst="rect">
            <a:avLst/>
          </a:prstGeom>
          <a:noFill/>
        </p:spPr>
        <p:txBody>
          <a:bodyPr wrap="square" anchor="t" lIns="36576" rIns="36576" tIns="36576" bIns="36576">
            <a:spAutoFit/>
          </a:bodyPr>
          <a:lstStyle/>
          <a:p>
            <a:pPr algn="l">
              <a:lnSpc>
                <a:spcPct val="110000"/>
              </a:lnSpc>
              <a:spcAft>
                <a:spcPts val="400"/>
              </a:spcAft>
            </a:pPr>
            <a:r>
              <a:rPr sz="1000" b="0" i="0">
                <a:solidFill>
                  <a:srgbClr val="E6EDF3"/>
                </a:solidFill>
                <a:latin typeface="Segoe UI"/>
              </a:rPr>
              <a:t>›  Add 2 robots</a:t>
            </a:r>
          </a:p>
        </p:txBody>
      </p:sp>
      <p:sp>
        <p:nvSpPr>
          <p:cNvPr id="17" name="TextBox 16"/>
          <p:cNvSpPr txBox="1"/>
          <p:nvPr/>
        </p:nvSpPr>
        <p:spPr>
          <a:xfrm>
            <a:off x="731520" y="5806440"/>
            <a:ext cx="2651760" cy="329184"/>
          </a:xfrm>
          <a:prstGeom prst="rect">
            <a:avLst/>
          </a:prstGeom>
          <a:noFill/>
        </p:spPr>
        <p:txBody>
          <a:bodyPr wrap="square" anchor="t" lIns="36576" rIns="36576" tIns="36576" bIns="36576">
            <a:spAutoFit/>
          </a:bodyPr>
          <a:lstStyle/>
          <a:p>
            <a:pPr algn="l">
              <a:lnSpc>
                <a:spcPct val="110000"/>
              </a:lnSpc>
              <a:spcAft>
                <a:spcPts val="400"/>
              </a:spcAft>
            </a:pPr>
            <a:r>
              <a:rPr sz="1000" b="0" i="0">
                <a:solidFill>
                  <a:srgbClr val="E6EDF3"/>
                </a:solidFill>
                <a:latin typeface="Segoe UI"/>
              </a:rPr>
              <a:t>›  Zone B inaccessible (60 min)</a:t>
            </a:r>
          </a:p>
        </p:txBody>
      </p:sp>
      <p:sp>
        <p:nvSpPr>
          <p:cNvPr id="18" name="TextBox 17"/>
          <p:cNvSpPr txBox="1"/>
          <p:nvPr/>
        </p:nvSpPr>
        <p:spPr>
          <a:xfrm>
            <a:off x="3474720" y="4069080"/>
            <a:ext cx="2651760" cy="329184"/>
          </a:xfrm>
          <a:prstGeom prst="rect">
            <a:avLst/>
          </a:prstGeom>
          <a:noFill/>
        </p:spPr>
        <p:txBody>
          <a:bodyPr wrap="square" anchor="t" lIns="36576" rIns="36576" tIns="36576" bIns="36576">
            <a:spAutoFit/>
          </a:bodyPr>
          <a:lstStyle/>
          <a:p>
            <a:pPr algn="l">
              <a:lnSpc>
                <a:spcPct val="110000"/>
              </a:lnSpc>
              <a:spcAft>
                <a:spcPts val="400"/>
              </a:spcAft>
            </a:pPr>
            <a:r>
              <a:rPr sz="1000" b="0" i="0">
                <a:solidFill>
                  <a:srgbClr val="E6EDF3"/>
                </a:solidFill>
                <a:latin typeface="Segoe UI"/>
              </a:rPr>
              <a:t>›  Loading dock D2 closes</a:t>
            </a:r>
          </a:p>
        </p:txBody>
      </p:sp>
      <p:sp>
        <p:nvSpPr>
          <p:cNvPr id="19" name="TextBox 18"/>
          <p:cNvSpPr txBox="1"/>
          <p:nvPr/>
        </p:nvSpPr>
        <p:spPr>
          <a:xfrm>
            <a:off x="3474720" y="4416552"/>
            <a:ext cx="2651760" cy="329184"/>
          </a:xfrm>
          <a:prstGeom prst="rect">
            <a:avLst/>
          </a:prstGeom>
          <a:noFill/>
        </p:spPr>
        <p:txBody>
          <a:bodyPr wrap="square" anchor="t" lIns="36576" rIns="36576" tIns="36576" bIns="36576">
            <a:spAutoFit/>
          </a:bodyPr>
          <a:lstStyle/>
          <a:p>
            <a:pPr algn="l">
              <a:lnSpc>
                <a:spcPct val="110000"/>
              </a:lnSpc>
              <a:spcAft>
                <a:spcPts val="400"/>
              </a:spcAft>
            </a:pPr>
            <a:r>
              <a:rPr sz="1000" b="0" i="0">
                <a:solidFill>
                  <a:srgbClr val="E6EDF3"/>
                </a:solidFill>
                <a:latin typeface="Segoe UI"/>
              </a:rPr>
              <a:t>›  Charging capacity halved</a:t>
            </a:r>
          </a:p>
        </p:txBody>
      </p:sp>
      <p:sp>
        <p:nvSpPr>
          <p:cNvPr id="20" name="TextBox 19"/>
          <p:cNvSpPr txBox="1"/>
          <p:nvPr/>
        </p:nvSpPr>
        <p:spPr>
          <a:xfrm>
            <a:off x="3474720" y="4764024"/>
            <a:ext cx="2651760" cy="329184"/>
          </a:xfrm>
          <a:prstGeom prst="rect">
            <a:avLst/>
          </a:prstGeom>
          <a:noFill/>
        </p:spPr>
        <p:txBody>
          <a:bodyPr wrap="square" anchor="t" lIns="36576" rIns="36576" tIns="36576" bIns="36576">
            <a:spAutoFit/>
          </a:bodyPr>
          <a:lstStyle/>
          <a:p>
            <a:pPr algn="l">
              <a:lnSpc>
                <a:spcPct val="110000"/>
              </a:lnSpc>
              <a:spcAft>
                <a:spcPts val="400"/>
              </a:spcAft>
            </a:pPr>
            <a:r>
              <a:rPr sz="1000" b="0" i="0">
                <a:solidFill>
                  <a:srgbClr val="E6EDF3"/>
                </a:solidFill>
                <a:latin typeface="Segoe UI"/>
              </a:rPr>
              <a:t>›  Aisle blocked in Zone C (30 min)</a:t>
            </a:r>
          </a:p>
        </p:txBody>
      </p:sp>
      <p:sp>
        <p:nvSpPr>
          <p:cNvPr id="21" name="TextBox 20"/>
          <p:cNvSpPr txBox="1"/>
          <p:nvPr/>
        </p:nvSpPr>
        <p:spPr>
          <a:xfrm>
            <a:off x="3474720" y="5111496"/>
            <a:ext cx="2651760" cy="329184"/>
          </a:xfrm>
          <a:prstGeom prst="rect">
            <a:avLst/>
          </a:prstGeom>
          <a:noFill/>
        </p:spPr>
        <p:txBody>
          <a:bodyPr wrap="square" anchor="t" lIns="36576" rIns="36576" tIns="36576" bIns="36576">
            <a:spAutoFit/>
          </a:bodyPr>
          <a:lstStyle/>
          <a:p>
            <a:pPr algn="l">
              <a:lnSpc>
                <a:spcPct val="110000"/>
              </a:lnSpc>
              <a:spcAft>
                <a:spcPts val="400"/>
              </a:spcAft>
            </a:pPr>
            <a:r>
              <a:rPr sz="1000" b="0" i="0">
                <a:solidFill>
                  <a:srgbClr val="E6EDF3"/>
                </a:solidFill>
                <a:latin typeface="Segoe UI"/>
              </a:rPr>
              <a:t>›  Move hot inventory C → B</a:t>
            </a:r>
          </a:p>
        </p:txBody>
      </p:sp>
      <p:sp>
        <p:nvSpPr>
          <p:cNvPr id="22" name="TextBox 21"/>
          <p:cNvSpPr txBox="1"/>
          <p:nvPr/>
        </p:nvSpPr>
        <p:spPr>
          <a:xfrm>
            <a:off x="3474720" y="5458968"/>
            <a:ext cx="2651760" cy="329184"/>
          </a:xfrm>
          <a:prstGeom prst="rect">
            <a:avLst/>
          </a:prstGeom>
          <a:noFill/>
        </p:spPr>
        <p:txBody>
          <a:bodyPr wrap="square" anchor="t" lIns="36576" rIns="36576" tIns="36576" bIns="36576">
            <a:spAutoFit/>
          </a:bodyPr>
          <a:lstStyle/>
          <a:p>
            <a:pPr algn="l">
              <a:lnSpc>
                <a:spcPct val="110000"/>
              </a:lnSpc>
              <a:spcAft>
                <a:spcPts val="400"/>
              </a:spcAft>
            </a:pPr>
            <a:r>
              <a:rPr sz="1000" b="0" i="0">
                <a:solidFill>
                  <a:srgbClr val="E6EDF3"/>
                </a:solidFill>
                <a:latin typeface="Segoe UI"/>
              </a:rPr>
              <a:t>›  Enable 3-order batching</a:t>
            </a:r>
          </a:p>
        </p:txBody>
      </p:sp>
      <p:sp>
        <p:nvSpPr>
          <p:cNvPr id="23" name="TextBox 22"/>
          <p:cNvSpPr txBox="1"/>
          <p:nvPr/>
        </p:nvSpPr>
        <p:spPr>
          <a:xfrm>
            <a:off x="3474720" y="5806440"/>
            <a:ext cx="2651760" cy="329184"/>
          </a:xfrm>
          <a:prstGeom prst="rect">
            <a:avLst/>
          </a:prstGeom>
          <a:noFill/>
        </p:spPr>
        <p:txBody>
          <a:bodyPr wrap="square" anchor="t" lIns="36576" rIns="36576" tIns="36576" bIns="36576">
            <a:spAutoFit/>
          </a:bodyPr>
          <a:lstStyle/>
          <a:p>
            <a:pPr algn="l">
              <a:lnSpc>
                <a:spcPct val="110000"/>
              </a:lnSpc>
              <a:spcAft>
                <a:spcPts val="400"/>
              </a:spcAft>
            </a:pPr>
            <a:r>
              <a:rPr sz="1000" b="0" i="0">
                <a:solidFill>
                  <a:srgbClr val="E6EDF3"/>
                </a:solidFill>
                <a:latin typeface="Segoe UI"/>
              </a:rPr>
              <a:t>›  R07 fails during a +30% demand spike</a:t>
            </a:r>
          </a:p>
        </p:txBody>
      </p:sp>
      <p:pic>
        <p:nvPicPr>
          <p:cNvPr id="24" name="Picture 23" descr="deck_whatif.png"/>
          <p:cNvPicPr>
            <a:picLocks noChangeAspect="1"/>
          </p:cNvPicPr>
          <p:nvPr/>
        </p:nvPicPr>
        <p:blipFill>
          <a:blip r:embed="rId3"/>
          <a:stretch>
            <a:fillRect/>
          </a:stretch>
        </p:blipFill>
        <p:spPr>
          <a:xfrm>
            <a:off x="6355080" y="1371600"/>
            <a:ext cx="5303520" cy="3900168"/>
          </a:xfrm>
          <a:prstGeom prst="rect">
            <a:avLst/>
          </a:prstGeom>
        </p:spPr>
      </p:pic>
      <p:sp>
        <p:nvSpPr>
          <p:cNvPr id="25" name="TextBox 24"/>
          <p:cNvSpPr txBox="1"/>
          <p:nvPr/>
        </p:nvSpPr>
        <p:spPr>
          <a:xfrm>
            <a:off x="6355080" y="5349240"/>
            <a:ext cx="5303520" cy="914400"/>
          </a:xfrm>
          <a:prstGeom prst="rect">
            <a:avLst/>
          </a:prstGeom>
          <a:noFill/>
        </p:spPr>
        <p:txBody>
          <a:bodyPr wrap="square" anchor="t" lIns="36576" rIns="36576" tIns="36576" bIns="36576">
            <a:spAutoFit/>
          </a:bodyPr>
          <a:lstStyle/>
          <a:p>
            <a:pPr algn="l">
              <a:lnSpc>
                <a:spcPct val="120000"/>
              </a:lnSpc>
              <a:spcAft>
                <a:spcPts val="400"/>
              </a:spcAft>
            </a:pPr>
            <a:r>
              <a:rPr sz="1050" b="0" i="0">
                <a:solidFill>
                  <a:srgbClr val="8B98A5"/>
                </a:solidFill>
                <a:latin typeface="Segoe UI"/>
              </a:rPr>
              <a:t>Under the same peak demand, the R07 failure costs the naive scheduler 7 pp of SLA breach and the optimized scheduler 1.5 pp — resilience is a scheduling property, not only a hardware count.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D12"/>
        </a:solidFill>
        <a:effectLst/>
      </p:bgPr>
    </p:bg>
    <p:spTree>
      <p:nvGrpSpPr>
        <p:cNvPr id="1" name=""/>
        <p:cNvGrpSpPr/>
        <p:nvPr/>
      </p:nvGrpSpPr>
      <p:grpSpPr/>
      <p:sp>
        <p:nvSpPr>
          <p:cNvPr id="2" name="TextBox 1"/>
          <p:cNvSpPr txBox="1"/>
          <p:nvPr/>
        </p:nvSpPr>
        <p:spPr>
          <a:xfrm>
            <a:off x="548640" y="256032"/>
            <a:ext cx="8229600" cy="274320"/>
          </a:xfrm>
          <a:prstGeom prst="rect">
            <a:avLst/>
          </a:prstGeom>
          <a:noFill/>
        </p:spPr>
        <p:txBody>
          <a:bodyPr wrap="square" anchor="t" lIns="36576" rIns="36576" tIns="36576" bIns="36576">
            <a:spAutoFit/>
          </a:bodyPr>
          <a:lstStyle/>
          <a:p>
            <a:pPr algn="l">
              <a:lnSpc>
                <a:spcPct val="110000"/>
              </a:lnSpc>
              <a:spcAft>
                <a:spcPts val="400"/>
              </a:spcAft>
            </a:pPr>
            <a:r>
              <a:rPr sz="1050" b="1" i="0">
                <a:solidFill>
                  <a:srgbClr val="22D3EE"/>
                </a:solidFill>
                <a:latin typeface="Segoe UI"/>
              </a:rPr>
              <a:t>NATURAL-LANGUAGE CONSOLE</a:t>
            </a:r>
          </a:p>
        </p:txBody>
      </p:sp>
      <p:sp>
        <p:nvSpPr>
          <p:cNvPr id="3" name="TextBox 2"/>
          <p:cNvSpPr txBox="1"/>
          <p:nvPr/>
        </p:nvSpPr>
        <p:spPr>
          <a:xfrm>
            <a:off x="548640" y="502920"/>
            <a:ext cx="10607040" cy="731520"/>
          </a:xfrm>
          <a:prstGeom prst="rect">
            <a:avLst/>
          </a:prstGeom>
          <a:noFill/>
        </p:spPr>
        <p:txBody>
          <a:bodyPr wrap="square" anchor="ctr" lIns="36576" rIns="36576" tIns="36576" bIns="36576">
            <a:spAutoFit/>
          </a:bodyPr>
          <a:lstStyle/>
          <a:p>
            <a:pPr algn="l">
              <a:lnSpc>
                <a:spcPct val="110000"/>
              </a:lnSpc>
              <a:spcAft>
                <a:spcPts val="400"/>
              </a:spcAft>
            </a:pPr>
            <a:r>
              <a:rPr sz="2400" b="1" i="0">
                <a:solidFill>
                  <a:srgbClr val="E6EDF3"/>
                </a:solidFill>
                <a:latin typeface="Segoe UI"/>
              </a:rPr>
              <a:t>Ask the operation. Get grounded numbers, not vibes.</a:t>
            </a:r>
          </a:p>
        </p:txBody>
      </p:sp>
      <p:sp>
        <p:nvSpPr>
          <p:cNvPr id="4" name="Rectangle 3"/>
          <p:cNvSpPr/>
          <p:nvPr/>
        </p:nvSpPr>
        <p:spPr>
          <a:xfrm>
            <a:off x="566928" y="1216152"/>
            <a:ext cx="100584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6400800" cy="274320"/>
          </a:xfrm>
          <a:prstGeom prst="rect">
            <a:avLst/>
          </a:prstGeom>
          <a:noFill/>
        </p:spPr>
        <p:txBody>
          <a:bodyPr wrap="square" anchor="t" lIns="36576" rIns="36576" tIns="36576" bIns="36576">
            <a:spAutoFit/>
          </a:bodyPr>
          <a:lstStyle/>
          <a:p>
            <a:pPr algn="l">
              <a:lnSpc>
                <a:spcPct val="110000"/>
              </a:lnSpc>
              <a:spcAft>
                <a:spcPts val="400"/>
              </a:spcAft>
            </a:pPr>
            <a:r>
              <a:rPr sz="950" b="0" i="0">
                <a:solidFill>
                  <a:srgbClr val="8B98A5"/>
                </a:solidFill>
                <a:latin typeface="Segoe UI"/>
              </a:rPr>
              <a:t>NEXUS · Autonomous Operations Intelligence</a:t>
            </a:r>
          </a:p>
        </p:txBody>
      </p:sp>
      <p:sp>
        <p:nvSpPr>
          <p:cNvPr id="6" name="TextBox 5"/>
          <p:cNvSpPr txBox="1"/>
          <p:nvPr/>
        </p:nvSpPr>
        <p:spPr>
          <a:xfrm>
            <a:off x="10607040" y="6446520"/>
            <a:ext cx="1051560" cy="274320"/>
          </a:xfrm>
          <a:prstGeom prst="rect">
            <a:avLst/>
          </a:prstGeom>
          <a:noFill/>
        </p:spPr>
        <p:txBody>
          <a:bodyPr wrap="square" anchor="t" lIns="36576" rIns="36576" tIns="36576" bIns="36576">
            <a:spAutoFit/>
          </a:bodyPr>
          <a:lstStyle/>
          <a:p>
            <a:pPr algn="r">
              <a:lnSpc>
                <a:spcPct val="110000"/>
              </a:lnSpc>
              <a:spcAft>
                <a:spcPts val="400"/>
              </a:spcAft>
            </a:pPr>
            <a:r>
              <a:rPr sz="950" b="0" i="0">
                <a:solidFill>
                  <a:srgbClr val="8B98A5"/>
                </a:solidFill>
                <a:latin typeface="Consolas"/>
              </a:rPr>
              <a:t>18</a:t>
            </a:r>
          </a:p>
        </p:txBody>
      </p:sp>
      <p:sp>
        <p:nvSpPr>
          <p:cNvPr id="7" name="Rounded Rectangle 6"/>
          <p:cNvSpPr/>
          <p:nvPr/>
        </p:nvSpPr>
        <p:spPr>
          <a:xfrm>
            <a:off x="548640" y="1417320"/>
            <a:ext cx="5486400" cy="224028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27048"/>
            <a:ext cx="4023360" cy="320040"/>
          </a:xfrm>
          <a:prstGeom prst="rect">
            <a:avLst/>
          </a:prstGeom>
          <a:noFill/>
        </p:spPr>
        <p:txBody>
          <a:bodyPr wrap="square" anchor="t" lIns="36576" rIns="36576" tIns="36576" bIns="36576">
            <a:spAutoFit/>
          </a:bodyPr>
          <a:lstStyle/>
          <a:p>
            <a:pPr algn="l">
              <a:lnSpc>
                <a:spcPct val="110000"/>
              </a:lnSpc>
              <a:spcAft>
                <a:spcPts val="400"/>
              </a:spcAft>
            </a:pPr>
            <a:r>
              <a:rPr sz="1200" b="1" i="0">
                <a:solidFill>
                  <a:srgbClr val="22D3EE"/>
                </a:solidFill>
                <a:latin typeface="Segoe UI"/>
              </a:rPr>
              <a:t>How many orders are open right now?</a:t>
            </a:r>
          </a:p>
        </p:txBody>
      </p:sp>
      <p:sp>
        <p:nvSpPr>
          <p:cNvPr id="9" name="Rounded Rectangle 8"/>
          <p:cNvSpPr/>
          <p:nvPr/>
        </p:nvSpPr>
        <p:spPr>
          <a:xfrm>
            <a:off x="4800600" y="1545336"/>
            <a:ext cx="1051560" cy="274320"/>
          </a:xfrm>
          <a:prstGeom prst="roundRect">
            <a:avLst>
              <a:gd name="adj" fmla="val 50000"/>
            </a:avLst>
          </a:prstGeom>
          <a:solidFill>
            <a:srgbClr val="11161D"/>
          </a:solidFill>
          <a:ln w="1143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tIns="9144" bIns="9144"/>
          <a:lstStyle/>
          <a:p>
            <a:pPr algn="ctr"/>
            <a:r>
              <a:rPr sz="800" b="1">
                <a:solidFill>
                  <a:srgbClr val="A78BFA"/>
                </a:solidFill>
                <a:latin typeface="Segoe UI"/>
              </a:rPr>
              <a:t>STATUS</a:t>
            </a:r>
          </a:p>
        </p:txBody>
      </p:sp>
      <p:sp>
        <p:nvSpPr>
          <p:cNvPr id="10" name="TextBox 9"/>
          <p:cNvSpPr txBox="1"/>
          <p:nvPr/>
        </p:nvSpPr>
        <p:spPr>
          <a:xfrm>
            <a:off x="731520" y="1892808"/>
            <a:ext cx="5120640" cy="1554480"/>
          </a:xfrm>
          <a:prstGeom prst="rect">
            <a:avLst/>
          </a:prstGeom>
          <a:noFill/>
        </p:spPr>
        <p:txBody>
          <a:bodyPr wrap="square" anchor="t" lIns="36576" rIns="36576" tIns="36576" bIns="36576">
            <a:spAutoFit/>
          </a:bodyPr>
          <a:lstStyle/>
          <a:p>
            <a:pPr algn="l">
              <a:lnSpc>
                <a:spcPct val="115000"/>
              </a:lnSpc>
              <a:spcAft>
                <a:spcPts val="400"/>
              </a:spcAft>
            </a:pPr>
            <a:r>
              <a:rPr sz="950" b="0" i="0">
                <a:solidFill>
                  <a:srgbClr val="E6EDF3"/>
                </a:solidFill>
                <a:latin typeface="Segoe UI"/>
              </a:rPr>
              <a:t>At 10:29: 40 open orders (28 pending), 11/12 robots operational (2 charging), projected SLA breach 0.5%, average fulfillment 2.1 min (p95 3.8), throughput 363 orders/h, utilization 74%, congestion index 0.03. 1 robot(s) are down.</a:t>
            </a:r>
          </a:p>
        </p:txBody>
      </p:sp>
      <p:sp>
        <p:nvSpPr>
          <p:cNvPr id="11" name="TextBox 10"/>
          <p:cNvSpPr txBox="1"/>
          <p:nvPr/>
        </p:nvSpPr>
        <p:spPr>
          <a:xfrm>
            <a:off x="731520" y="3383280"/>
            <a:ext cx="5120640" cy="256032"/>
          </a:xfrm>
          <a:prstGeom prst="rect">
            <a:avLst/>
          </a:prstGeom>
          <a:noFill/>
        </p:spPr>
        <p:txBody>
          <a:bodyPr wrap="square" anchor="t" lIns="36576" rIns="36576" tIns="36576" bIns="36576">
            <a:spAutoFit/>
          </a:bodyPr>
          <a:lstStyle/>
          <a:p>
            <a:pPr algn="l">
              <a:lnSpc>
                <a:spcPct val="110000"/>
              </a:lnSpc>
              <a:spcAft>
                <a:spcPts val="400"/>
              </a:spcAft>
            </a:pPr>
            <a:r>
              <a:rPr sz="800" b="0" i="0">
                <a:solidFill>
                  <a:srgbClr val="8B98A5"/>
                </a:solidFill>
                <a:latin typeface="Consolas"/>
              </a:rPr>
              <a:t>deterministic · 8 ms · LLM off</a:t>
            </a:r>
          </a:p>
        </p:txBody>
      </p:sp>
      <p:sp>
        <p:nvSpPr>
          <p:cNvPr id="12" name="Rounded Rectangle 11"/>
          <p:cNvSpPr/>
          <p:nvPr/>
        </p:nvSpPr>
        <p:spPr>
          <a:xfrm>
            <a:off x="548640" y="3794760"/>
            <a:ext cx="5486400" cy="224028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904488"/>
            <a:ext cx="4023360" cy="320040"/>
          </a:xfrm>
          <a:prstGeom prst="rect">
            <a:avLst/>
          </a:prstGeom>
          <a:noFill/>
        </p:spPr>
        <p:txBody>
          <a:bodyPr wrap="square" anchor="t" lIns="36576" rIns="36576" tIns="36576" bIns="36576">
            <a:spAutoFit/>
          </a:bodyPr>
          <a:lstStyle/>
          <a:p>
            <a:pPr algn="l">
              <a:lnSpc>
                <a:spcPct val="110000"/>
              </a:lnSpc>
              <a:spcAft>
                <a:spcPts val="400"/>
              </a:spcAft>
            </a:pPr>
            <a:r>
              <a:rPr sz="1200" b="1" i="0">
                <a:solidFill>
                  <a:srgbClr val="22D3EE"/>
                </a:solidFill>
                <a:latin typeface="Segoe UI"/>
              </a:rPr>
              <a:t>Why are orders slowing down?</a:t>
            </a:r>
          </a:p>
        </p:txBody>
      </p:sp>
      <p:sp>
        <p:nvSpPr>
          <p:cNvPr id="14" name="Rounded Rectangle 13"/>
          <p:cNvSpPr/>
          <p:nvPr/>
        </p:nvSpPr>
        <p:spPr>
          <a:xfrm>
            <a:off x="4800600" y="3922776"/>
            <a:ext cx="1051560" cy="274320"/>
          </a:xfrm>
          <a:prstGeom prst="roundRect">
            <a:avLst>
              <a:gd name="adj" fmla="val 50000"/>
            </a:avLst>
          </a:prstGeom>
          <a:solidFill>
            <a:srgbClr val="11161D"/>
          </a:solidFill>
          <a:ln w="1143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tIns="9144" bIns="9144"/>
          <a:lstStyle/>
          <a:p>
            <a:pPr algn="ctr"/>
            <a:r>
              <a:rPr sz="800" b="1">
                <a:solidFill>
                  <a:srgbClr val="A78BFA"/>
                </a:solidFill>
                <a:latin typeface="Segoe UI"/>
              </a:rPr>
              <a:t>EXPLAIN</a:t>
            </a:r>
          </a:p>
        </p:txBody>
      </p:sp>
      <p:sp>
        <p:nvSpPr>
          <p:cNvPr id="15" name="TextBox 14"/>
          <p:cNvSpPr txBox="1"/>
          <p:nvPr/>
        </p:nvSpPr>
        <p:spPr>
          <a:xfrm>
            <a:off x="731520" y="4270248"/>
            <a:ext cx="5120640" cy="1554480"/>
          </a:xfrm>
          <a:prstGeom prst="rect">
            <a:avLst/>
          </a:prstGeom>
          <a:noFill/>
        </p:spPr>
        <p:txBody>
          <a:bodyPr wrap="square" anchor="t" lIns="36576" rIns="36576" tIns="36576" bIns="36576">
            <a:spAutoFit/>
          </a:bodyPr>
          <a:lstStyle/>
          <a:p>
            <a:pPr algn="l">
              <a:lnSpc>
                <a:spcPct val="115000"/>
              </a:lnSpc>
              <a:spcAft>
                <a:spcPts val="400"/>
              </a:spcAft>
            </a:pPr>
            <a:r>
              <a:rPr sz="950" b="0" i="0">
                <a:solidFill>
                  <a:srgbClr val="E6EDF3"/>
                </a:solidFill>
                <a:latin typeface="Segoe UI"/>
              </a:rPr>
              <a:t>Fleet capacity backlog is currently the largest contributor, accounting for approximately 74% of predicted delay (28 orders waiting for a free robot (oldest 5 min)). Other contributors: Robot unavailability (R07) 13%; Robots charging (R06,R11) 13%. Right now: 40 open orders (28 pending), projected SLA breach 0.5%, p95 fulfillment 3.8 min, utilization 74%.</a:t>
            </a:r>
          </a:p>
        </p:txBody>
      </p:sp>
      <p:sp>
        <p:nvSpPr>
          <p:cNvPr id="16" name="TextBox 15"/>
          <p:cNvSpPr txBox="1"/>
          <p:nvPr/>
        </p:nvSpPr>
        <p:spPr>
          <a:xfrm>
            <a:off x="731520" y="5760720"/>
            <a:ext cx="5120640" cy="256032"/>
          </a:xfrm>
          <a:prstGeom prst="rect">
            <a:avLst/>
          </a:prstGeom>
          <a:noFill/>
        </p:spPr>
        <p:txBody>
          <a:bodyPr wrap="square" anchor="t" lIns="36576" rIns="36576" tIns="36576" bIns="36576">
            <a:spAutoFit/>
          </a:bodyPr>
          <a:lstStyle/>
          <a:p>
            <a:pPr algn="l">
              <a:lnSpc>
                <a:spcPct val="110000"/>
              </a:lnSpc>
              <a:spcAft>
                <a:spcPts val="400"/>
              </a:spcAft>
            </a:pPr>
            <a:r>
              <a:rPr sz="800" b="0" i="0">
                <a:solidFill>
                  <a:srgbClr val="8B98A5"/>
                </a:solidFill>
                <a:latin typeface="Consolas"/>
              </a:rPr>
              <a:t>deterministic · 2 ms · LLM off</a:t>
            </a:r>
          </a:p>
        </p:txBody>
      </p:sp>
      <p:sp>
        <p:nvSpPr>
          <p:cNvPr id="17" name="Rounded Rectangle 16"/>
          <p:cNvSpPr/>
          <p:nvPr/>
        </p:nvSpPr>
        <p:spPr>
          <a:xfrm>
            <a:off x="6172200" y="1417320"/>
            <a:ext cx="5486400" cy="224028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080" y="1527048"/>
            <a:ext cx="4023360" cy="320040"/>
          </a:xfrm>
          <a:prstGeom prst="rect">
            <a:avLst/>
          </a:prstGeom>
          <a:noFill/>
        </p:spPr>
        <p:txBody>
          <a:bodyPr wrap="square" anchor="t" lIns="36576" rIns="36576" tIns="36576" bIns="36576">
            <a:spAutoFit/>
          </a:bodyPr>
          <a:lstStyle/>
          <a:p>
            <a:pPr algn="l">
              <a:lnSpc>
                <a:spcPct val="110000"/>
              </a:lnSpc>
              <a:spcAft>
                <a:spcPts val="400"/>
              </a:spcAft>
            </a:pPr>
            <a:r>
              <a:rPr sz="1200" b="1" i="0">
                <a:solidFill>
                  <a:srgbClr val="22D3EE"/>
                </a:solidFill>
                <a:latin typeface="Segoe UI"/>
              </a:rPr>
              <a:t>What happens if order volume increases by 40%?</a:t>
            </a:r>
          </a:p>
        </p:txBody>
      </p:sp>
      <p:sp>
        <p:nvSpPr>
          <p:cNvPr id="19" name="Rounded Rectangle 18"/>
          <p:cNvSpPr/>
          <p:nvPr/>
        </p:nvSpPr>
        <p:spPr>
          <a:xfrm>
            <a:off x="10424160" y="1545336"/>
            <a:ext cx="1051560" cy="274320"/>
          </a:xfrm>
          <a:prstGeom prst="roundRect">
            <a:avLst>
              <a:gd name="adj" fmla="val 50000"/>
            </a:avLst>
          </a:prstGeom>
          <a:solidFill>
            <a:srgbClr val="11161D"/>
          </a:solidFill>
          <a:ln w="1143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tIns="9144" bIns="9144"/>
          <a:lstStyle/>
          <a:p>
            <a:pPr algn="ctr"/>
            <a:r>
              <a:rPr sz="800" b="1">
                <a:solidFill>
                  <a:srgbClr val="A78BFA"/>
                </a:solidFill>
                <a:latin typeface="Segoe UI"/>
              </a:rPr>
              <a:t>WHATIF</a:t>
            </a:r>
          </a:p>
        </p:txBody>
      </p:sp>
      <p:sp>
        <p:nvSpPr>
          <p:cNvPr id="20" name="TextBox 19"/>
          <p:cNvSpPr txBox="1"/>
          <p:nvPr/>
        </p:nvSpPr>
        <p:spPr>
          <a:xfrm>
            <a:off x="6355080" y="1892808"/>
            <a:ext cx="5120640" cy="1554480"/>
          </a:xfrm>
          <a:prstGeom prst="rect">
            <a:avLst/>
          </a:prstGeom>
          <a:noFill/>
        </p:spPr>
        <p:txBody>
          <a:bodyPr wrap="square" anchor="t" lIns="36576" rIns="36576" tIns="36576" bIns="36576">
            <a:spAutoFit/>
          </a:bodyPr>
          <a:lstStyle/>
          <a:p>
            <a:pPr algn="l">
              <a:lnSpc>
                <a:spcPct val="115000"/>
              </a:lnSpc>
              <a:spcAft>
                <a:spcPts val="400"/>
              </a:spcAft>
            </a:pPr>
            <a:r>
              <a:rPr sz="950" b="0" i="0">
                <a:solidFill>
                  <a:srgbClr val="E6EDF3"/>
                </a:solidFill>
                <a:latin typeface="Segoe UI"/>
              </a:rPr>
              <a:t>Scenario “demand ×1.40”: demand ×1.40. Horizon 45 min, 2 strategies × 1 seed(s) simulated in 8.0s. Reference (no scenario, optimized): SLA breach 11.4%, avg fulfillment 6.9 min, throughput 444/h. optimized: SLA breach 54.9%, avg fulfillment 11.8 min, throughput 401/h, congestion 0.04. baseline: SLA breach 62.1%, avg fulfillment 16.0 min, throughput 349/h, congestion 0.04. Best strategy: optimized — SLA breach 54.9% vs 62.1% for baseline. Under this scenario the current strategy (optimized) projects an SLA breach of 54.9% (vs 11.4% today).</a:t>
            </a:r>
          </a:p>
        </p:txBody>
      </p:sp>
      <p:sp>
        <p:nvSpPr>
          <p:cNvPr id="21" name="TextBox 20"/>
          <p:cNvSpPr txBox="1"/>
          <p:nvPr/>
        </p:nvSpPr>
        <p:spPr>
          <a:xfrm>
            <a:off x="6355080" y="3383280"/>
            <a:ext cx="5120640" cy="256032"/>
          </a:xfrm>
          <a:prstGeom prst="rect">
            <a:avLst/>
          </a:prstGeom>
          <a:noFill/>
        </p:spPr>
        <p:txBody>
          <a:bodyPr wrap="square" anchor="t" lIns="36576" rIns="36576" tIns="36576" bIns="36576">
            <a:spAutoFit/>
          </a:bodyPr>
          <a:lstStyle/>
          <a:p>
            <a:pPr algn="l">
              <a:lnSpc>
                <a:spcPct val="110000"/>
              </a:lnSpc>
              <a:spcAft>
                <a:spcPts val="400"/>
              </a:spcAft>
            </a:pPr>
            <a:r>
              <a:rPr sz="800" b="0" i="0">
                <a:solidFill>
                  <a:srgbClr val="8B98A5"/>
                </a:solidFill>
                <a:latin typeface="Consolas"/>
              </a:rPr>
              <a:t>deterministic · 7892 ms · LLM off</a:t>
            </a:r>
          </a:p>
        </p:txBody>
      </p:sp>
      <p:sp>
        <p:nvSpPr>
          <p:cNvPr id="22" name="Rounded Rectangle 21"/>
          <p:cNvSpPr/>
          <p:nvPr/>
        </p:nvSpPr>
        <p:spPr>
          <a:xfrm>
            <a:off x="6172200" y="3794760"/>
            <a:ext cx="5486400" cy="224028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55080" y="3904488"/>
            <a:ext cx="4023360" cy="320040"/>
          </a:xfrm>
          <a:prstGeom prst="rect">
            <a:avLst/>
          </a:prstGeom>
          <a:noFill/>
        </p:spPr>
        <p:txBody>
          <a:bodyPr wrap="square" anchor="t" lIns="36576" rIns="36576" tIns="36576" bIns="36576">
            <a:spAutoFit/>
          </a:bodyPr>
          <a:lstStyle/>
          <a:p>
            <a:pPr algn="l">
              <a:lnSpc>
                <a:spcPct val="110000"/>
              </a:lnSpc>
              <a:spcAft>
                <a:spcPts val="400"/>
              </a:spcAft>
            </a:pPr>
            <a:r>
              <a:rPr sz="1200" b="1" i="0">
                <a:solidFill>
                  <a:srgbClr val="22D3EE"/>
                </a:solidFill>
                <a:latin typeface="Segoe UI"/>
              </a:rPr>
              <a:t>Where is R03 and what is it doing?</a:t>
            </a:r>
          </a:p>
        </p:txBody>
      </p:sp>
      <p:sp>
        <p:nvSpPr>
          <p:cNvPr id="24" name="Rounded Rectangle 23"/>
          <p:cNvSpPr/>
          <p:nvPr/>
        </p:nvSpPr>
        <p:spPr>
          <a:xfrm>
            <a:off x="10424160" y="3922776"/>
            <a:ext cx="1051560" cy="274320"/>
          </a:xfrm>
          <a:prstGeom prst="roundRect">
            <a:avLst>
              <a:gd name="adj" fmla="val 50000"/>
            </a:avLst>
          </a:prstGeom>
          <a:solidFill>
            <a:srgbClr val="11161D"/>
          </a:solidFill>
          <a:ln w="1143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tIns="9144" bIns="9144"/>
          <a:lstStyle/>
          <a:p>
            <a:pPr algn="ctr"/>
            <a:r>
              <a:rPr sz="800" b="1">
                <a:solidFill>
                  <a:srgbClr val="A78BFA"/>
                </a:solidFill>
                <a:latin typeface="Segoe UI"/>
              </a:rPr>
              <a:t>ENTITY</a:t>
            </a:r>
          </a:p>
        </p:txBody>
      </p:sp>
      <p:sp>
        <p:nvSpPr>
          <p:cNvPr id="25" name="TextBox 24"/>
          <p:cNvSpPr txBox="1"/>
          <p:nvPr/>
        </p:nvSpPr>
        <p:spPr>
          <a:xfrm>
            <a:off x="6355080" y="4270248"/>
            <a:ext cx="5120640" cy="1554480"/>
          </a:xfrm>
          <a:prstGeom prst="rect">
            <a:avLst/>
          </a:prstGeom>
          <a:noFill/>
        </p:spPr>
        <p:txBody>
          <a:bodyPr wrap="square" anchor="t" lIns="36576" rIns="36576" tIns="36576" bIns="36576">
            <a:spAutoFit/>
          </a:bodyPr>
          <a:lstStyle/>
          <a:p>
            <a:pPr algn="l">
              <a:lnSpc>
                <a:spcPct val="115000"/>
              </a:lnSpc>
              <a:spcAft>
                <a:spcPts val="400"/>
              </a:spcAft>
            </a:pPr>
            <a:r>
              <a:rPr sz="950" b="0" i="0">
                <a:solidFill>
                  <a:srgbClr val="E6EDF3"/>
                </a:solidFill>
                <a:latin typeface="Segoe UI"/>
              </a:rPr>
              <a:t>R03 is delivering in zone A at cell (11, 13), battery 88%, task TASK-000754, 67 orders completed, 5309 cells traveled. Relations: R03 is_inside A; TASK-000754 assigned_to R03.</a:t>
            </a:r>
          </a:p>
        </p:txBody>
      </p:sp>
      <p:sp>
        <p:nvSpPr>
          <p:cNvPr id="26" name="TextBox 25"/>
          <p:cNvSpPr txBox="1"/>
          <p:nvPr/>
        </p:nvSpPr>
        <p:spPr>
          <a:xfrm>
            <a:off x="6355080" y="5760720"/>
            <a:ext cx="5120640" cy="256032"/>
          </a:xfrm>
          <a:prstGeom prst="rect">
            <a:avLst/>
          </a:prstGeom>
          <a:noFill/>
        </p:spPr>
        <p:txBody>
          <a:bodyPr wrap="square" anchor="t" lIns="36576" rIns="36576" tIns="36576" bIns="36576">
            <a:spAutoFit/>
          </a:bodyPr>
          <a:lstStyle/>
          <a:p>
            <a:pPr algn="l">
              <a:lnSpc>
                <a:spcPct val="110000"/>
              </a:lnSpc>
              <a:spcAft>
                <a:spcPts val="400"/>
              </a:spcAft>
            </a:pPr>
            <a:r>
              <a:rPr sz="800" b="0" i="0">
                <a:solidFill>
                  <a:srgbClr val="8B98A5"/>
                </a:solidFill>
                <a:latin typeface="Consolas"/>
              </a:rPr>
              <a:t>deterministic · 14 ms · LLM off</a:t>
            </a:r>
          </a:p>
        </p:txBody>
      </p:sp>
      <p:sp>
        <p:nvSpPr>
          <p:cNvPr id="27" name="TextBox 26"/>
          <p:cNvSpPr txBox="1"/>
          <p:nvPr/>
        </p:nvSpPr>
        <p:spPr>
          <a:xfrm>
            <a:off x="548640" y="6172200"/>
            <a:ext cx="11064240" cy="274320"/>
          </a:xfrm>
          <a:prstGeom prst="rect">
            <a:avLst/>
          </a:prstGeom>
          <a:noFill/>
        </p:spPr>
        <p:txBody>
          <a:bodyPr wrap="square" anchor="t" lIns="36576" rIns="36576" tIns="36576" bIns="36576">
            <a:spAutoFit/>
          </a:bodyPr>
          <a:lstStyle/>
          <a:p>
            <a:pPr algn="l">
              <a:lnSpc>
                <a:spcPct val="110000"/>
              </a:lnSpc>
              <a:spcAft>
                <a:spcPts val="400"/>
              </a:spcAft>
            </a:pPr>
            <a:r>
              <a:rPr sz="900" b="0" i="1">
                <a:solidFill>
                  <a:srgbClr val="8B98A5"/>
                </a:solidFill>
                <a:latin typeface="Segoe UI"/>
              </a:rPr>
              <a:t>Captured at 10:29 sim time after a x1.2 surge and an R07 failure; deterministic answers (LLM off).  Intents: status · explain · whatif · forecast · recommend · entity.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D12"/>
        </a:solidFill>
        <a:effectLst/>
      </p:bgPr>
    </p:bg>
    <p:spTree>
      <p:nvGrpSpPr>
        <p:cNvPr id="1" name=""/>
        <p:cNvGrpSpPr/>
        <p:nvPr/>
      </p:nvGrpSpPr>
      <p:grpSpPr/>
      <p:sp>
        <p:nvSpPr>
          <p:cNvPr id="2" name="TextBox 1"/>
          <p:cNvSpPr txBox="1"/>
          <p:nvPr/>
        </p:nvSpPr>
        <p:spPr>
          <a:xfrm>
            <a:off x="548640" y="256032"/>
            <a:ext cx="8229600" cy="274320"/>
          </a:xfrm>
          <a:prstGeom prst="rect">
            <a:avLst/>
          </a:prstGeom>
          <a:noFill/>
        </p:spPr>
        <p:txBody>
          <a:bodyPr wrap="square" anchor="t" lIns="36576" rIns="36576" tIns="36576" bIns="36576">
            <a:spAutoFit/>
          </a:bodyPr>
          <a:lstStyle/>
          <a:p>
            <a:pPr algn="l">
              <a:lnSpc>
                <a:spcPct val="110000"/>
              </a:lnSpc>
              <a:spcAft>
                <a:spcPts val="400"/>
              </a:spcAft>
            </a:pPr>
            <a:r>
              <a:rPr sz="1050" b="1" i="0">
                <a:solidFill>
                  <a:srgbClr val="22D3EE"/>
                </a:solidFill>
                <a:latin typeface="Segoe UI"/>
              </a:rPr>
              <a:t>VISUALIZATION</a:t>
            </a:r>
          </a:p>
        </p:txBody>
      </p:sp>
      <p:sp>
        <p:nvSpPr>
          <p:cNvPr id="3" name="TextBox 2"/>
          <p:cNvSpPr txBox="1"/>
          <p:nvPr/>
        </p:nvSpPr>
        <p:spPr>
          <a:xfrm>
            <a:off x="548640" y="502920"/>
            <a:ext cx="10607040" cy="731520"/>
          </a:xfrm>
          <a:prstGeom prst="rect">
            <a:avLst/>
          </a:prstGeom>
          <a:noFill/>
        </p:spPr>
        <p:txBody>
          <a:bodyPr wrap="square" anchor="ctr" lIns="36576" rIns="36576" tIns="36576" bIns="36576">
            <a:spAutoFit/>
          </a:bodyPr>
          <a:lstStyle/>
          <a:p>
            <a:pPr algn="l">
              <a:lnSpc>
                <a:spcPct val="110000"/>
              </a:lnSpc>
              <a:spcAft>
                <a:spcPts val="400"/>
              </a:spcAft>
            </a:pPr>
            <a:r>
              <a:rPr sz="2800" b="1" i="0">
                <a:solidFill>
                  <a:srgbClr val="E6EDF3"/>
                </a:solidFill>
                <a:latin typeface="Segoe UI"/>
              </a:rPr>
              <a:t>A control room, not a dashboard</a:t>
            </a:r>
          </a:p>
        </p:txBody>
      </p:sp>
      <p:sp>
        <p:nvSpPr>
          <p:cNvPr id="4" name="Rectangle 3"/>
          <p:cNvSpPr/>
          <p:nvPr/>
        </p:nvSpPr>
        <p:spPr>
          <a:xfrm>
            <a:off x="566928" y="1216152"/>
            <a:ext cx="100584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6400800" cy="274320"/>
          </a:xfrm>
          <a:prstGeom prst="rect">
            <a:avLst/>
          </a:prstGeom>
          <a:noFill/>
        </p:spPr>
        <p:txBody>
          <a:bodyPr wrap="square" anchor="t" lIns="36576" rIns="36576" tIns="36576" bIns="36576">
            <a:spAutoFit/>
          </a:bodyPr>
          <a:lstStyle/>
          <a:p>
            <a:pPr algn="l">
              <a:lnSpc>
                <a:spcPct val="110000"/>
              </a:lnSpc>
              <a:spcAft>
                <a:spcPts val="400"/>
              </a:spcAft>
            </a:pPr>
            <a:r>
              <a:rPr sz="950" b="0" i="0">
                <a:solidFill>
                  <a:srgbClr val="8B98A5"/>
                </a:solidFill>
                <a:latin typeface="Segoe UI"/>
              </a:rPr>
              <a:t>NEXUS · Autonomous Operations Intelligence</a:t>
            </a:r>
          </a:p>
        </p:txBody>
      </p:sp>
      <p:sp>
        <p:nvSpPr>
          <p:cNvPr id="6" name="TextBox 5"/>
          <p:cNvSpPr txBox="1"/>
          <p:nvPr/>
        </p:nvSpPr>
        <p:spPr>
          <a:xfrm>
            <a:off x="10607040" y="6446520"/>
            <a:ext cx="1051560" cy="274320"/>
          </a:xfrm>
          <a:prstGeom prst="rect">
            <a:avLst/>
          </a:prstGeom>
          <a:noFill/>
        </p:spPr>
        <p:txBody>
          <a:bodyPr wrap="square" anchor="t" lIns="36576" rIns="36576" tIns="36576" bIns="36576">
            <a:spAutoFit/>
          </a:bodyPr>
          <a:lstStyle/>
          <a:p>
            <a:pPr algn="r">
              <a:lnSpc>
                <a:spcPct val="110000"/>
              </a:lnSpc>
              <a:spcAft>
                <a:spcPts val="400"/>
              </a:spcAft>
            </a:pPr>
            <a:r>
              <a:rPr sz="950" b="0" i="0">
                <a:solidFill>
                  <a:srgbClr val="8B98A5"/>
                </a:solidFill>
                <a:latin typeface="Consolas"/>
              </a:rPr>
              <a:t>19</a:t>
            </a:r>
          </a:p>
        </p:txBody>
      </p:sp>
      <p:graphicFrame>
        <p:nvGraphicFramePr>
          <p:cNvPr id="7" name="Table 6"/>
          <p:cNvGraphicFramePr>
            <a:graphicFrameLocks noGrp="1"/>
          </p:cNvGraphicFramePr>
          <p:nvPr/>
        </p:nvGraphicFramePr>
        <p:xfrm>
          <a:off x="548640" y="1417320"/>
          <a:ext cx="7406640" cy="4114800"/>
        </p:xfrm>
        <a:graphic>
          <a:graphicData uri="http://schemas.openxmlformats.org/drawingml/2006/table">
            <a:tbl>
              <a:tblPr firstRow="1" bandRow="0">
                <a:tableStyleId>{2D5ABB26-0587-4C30-8999-92F81FD0307C}</a:tableStyleId>
              </a:tblPr>
              <a:tblGrid>
                <a:gridCol w="1097280"/>
                <a:gridCol w="6309360"/>
              </a:tblGrid>
              <a:tr h="514350">
                <a:tc>
                  <a:txBody>
                    <a:bodyPr wrap="square"/>
                    <a:lstStyle/>
                    <a:p>
                      <a:pPr algn="l"/>
                      <a:r>
                        <a:rPr sz="900" b="1">
                          <a:solidFill>
                            <a:srgbClr val="22D3EE"/>
                          </a:solidFill>
                          <a:latin typeface="Segoe UI"/>
                        </a:rPr>
                        <a:t>route</a:t>
                      </a:r>
                    </a:p>
                  </a:txBody>
                  <a:tcPr marL="64008" marR="64008" marT="27432" marB="27432" anchor="ctr">
                    <a:solidFill>
                      <a:srgbClr val="182130"/>
                    </a:solidFill>
                  </a:tcPr>
                </a:tc>
                <a:tc>
                  <a:txBody>
                    <a:bodyPr wrap="square"/>
                    <a:lstStyle/>
                    <a:p>
                      <a:pPr algn="l"/>
                      <a:r>
                        <a:rPr sz="900" b="1">
                          <a:solidFill>
                            <a:srgbClr val="22D3EE"/>
                          </a:solidFill>
                          <a:latin typeface="Segoe UI"/>
                        </a:rPr>
                        <a:t>what it shows</a:t>
                      </a:r>
                    </a:p>
                  </a:txBody>
                  <a:tcPr marL="64008" marR="64008" marT="27432" marB="27432" anchor="ctr">
                    <a:solidFill>
                      <a:srgbClr val="182130"/>
                    </a:solidFill>
                  </a:tcPr>
                </a:tc>
              </a:tr>
              <a:tr h="514350">
                <a:tc>
                  <a:txBody>
                    <a:bodyPr wrap="square"/>
                    <a:lstStyle/>
                    <a:p>
                      <a:pPr algn="l"/>
                      <a:r>
                        <a:rPr sz="950" b="0">
                          <a:solidFill>
                            <a:srgbClr val="E6EDF3"/>
                          </a:solidFill>
                          <a:latin typeface="Consolas"/>
                        </a:rPr>
                        <a:t>/</a:t>
                      </a:r>
                    </a:p>
                  </a:txBody>
                  <a:tcPr marL="64008" marR="64008" marT="27432" marB="27432" anchor="ctr">
                    <a:solidFill>
                      <a:srgbClr val="11161D"/>
                    </a:solidFill>
                  </a:tcPr>
                </a:tc>
                <a:tc>
                  <a:txBody>
                    <a:bodyPr wrap="square"/>
                    <a:lstStyle/>
                    <a:p>
                      <a:pPr algn="l"/>
                      <a:r>
                        <a:rPr sz="950" b="0">
                          <a:solidFill>
                            <a:srgbClr val="E6EDF3"/>
                          </a:solidFill>
                          <a:latin typeface="Segoe UI"/>
                        </a:rPr>
                        <a:t>Live Twin — 3D/2D view, KPI bar, sim controls (play · pause · step · speed · reset · autopilot), events/robots/orders/zones panel, fault injection, Decide now</a:t>
                      </a:r>
                    </a:p>
                  </a:txBody>
                  <a:tcPr marL="64008" marR="64008" marT="27432" marB="27432" anchor="ctr">
                    <a:solidFill>
                      <a:srgbClr val="11161D"/>
                    </a:solidFill>
                  </a:tcPr>
                </a:tc>
              </a:tr>
              <a:tr h="514350">
                <a:tc>
                  <a:txBody>
                    <a:bodyPr wrap="square"/>
                    <a:lstStyle/>
                    <a:p>
                      <a:pPr algn="l"/>
                      <a:r>
                        <a:rPr sz="950" b="0">
                          <a:solidFill>
                            <a:srgbClr val="E6EDF3"/>
                          </a:solidFill>
                          <a:latin typeface="Consolas"/>
                        </a:rPr>
                        <a:t>/decisions</a:t>
                      </a:r>
                    </a:p>
                  </a:txBody>
                  <a:tcPr marL="64008" marR="64008" marT="27432" marB="27432" anchor="ctr">
                    <a:solidFill>
                      <a:srgbClr val="0E1319"/>
                    </a:solidFill>
                  </a:tcPr>
                </a:tc>
                <a:tc>
                  <a:txBody>
                    <a:bodyPr wrap="square"/>
                    <a:lstStyle/>
                    <a:p>
                      <a:pPr algn="l"/>
                      <a:r>
                        <a:rPr sz="950" b="0">
                          <a:solidFill>
                            <a:srgbClr val="E6EDF3"/>
                          </a:solidFill>
                          <a:latin typeface="Segoe UI"/>
                        </a:rPr>
                        <a:t>situation · baseline vs candidates (recommended highlighted) · actions with rationale · risk findings · approve / reject / execute · timeline chart · timings · LLM badge</a:t>
                      </a:r>
                    </a:p>
                  </a:txBody>
                  <a:tcPr marL="64008" marR="64008" marT="27432" marB="27432" anchor="ctr">
                    <a:solidFill>
                      <a:srgbClr val="0E1319"/>
                    </a:solidFill>
                  </a:tcPr>
                </a:tc>
              </a:tr>
              <a:tr h="514350">
                <a:tc>
                  <a:txBody>
                    <a:bodyPr wrap="square"/>
                    <a:lstStyle/>
                    <a:p>
                      <a:pPr algn="l"/>
                      <a:r>
                        <a:rPr sz="950" b="0">
                          <a:solidFill>
                            <a:srgbClr val="E6EDF3"/>
                          </a:solidFill>
                          <a:latin typeface="Consolas"/>
                        </a:rPr>
                        <a:t>/whatif</a:t>
                      </a:r>
                    </a:p>
                  </a:txBody>
                  <a:tcPr marL="64008" marR="64008" marT="27432" marB="27432" anchor="ctr">
                    <a:solidFill>
                      <a:srgbClr val="11161D"/>
                    </a:solidFill>
                  </a:tcPr>
                </a:tc>
                <a:tc>
                  <a:txBody>
                    <a:bodyPr wrap="square"/>
                    <a:lstStyle/>
                    <a:p>
                      <a:pPr algn="l"/>
                      <a:r>
                        <a:rPr sz="950" b="0">
                          <a:solidFill>
                            <a:srgbClr val="E6EDF3"/>
                          </a:solidFill>
                          <a:latin typeface="Segoe UI"/>
                        </a:rPr>
                        <a:t>preset cards · scenario builder (mutation vocabulary) · async runs · comparison table · KPI bars · timelines · best strategy · narrative</a:t>
                      </a:r>
                    </a:p>
                  </a:txBody>
                  <a:tcPr marL="64008" marR="64008" marT="27432" marB="27432" anchor="ctr">
                    <a:solidFill>
                      <a:srgbClr val="11161D"/>
                    </a:solidFill>
                  </a:tcPr>
                </a:tc>
              </a:tr>
              <a:tr h="514350">
                <a:tc>
                  <a:txBody>
                    <a:bodyPr wrap="square"/>
                    <a:lstStyle/>
                    <a:p>
                      <a:pPr algn="l"/>
                      <a:r>
                        <a:rPr sz="950" b="0">
                          <a:solidFill>
                            <a:srgbClr val="E6EDF3"/>
                          </a:solidFill>
                          <a:latin typeface="Consolas"/>
                        </a:rPr>
                        <a:t>/forecast</a:t>
                      </a:r>
                    </a:p>
                  </a:txBody>
                  <a:tcPr marL="64008" marR="64008" marT="27432" marB="27432" anchor="ctr">
                    <a:solidFill>
                      <a:srgbClr val="0E1319"/>
                    </a:solidFill>
                  </a:tcPr>
                </a:tc>
                <a:tc>
                  <a:txBody>
                    <a:bodyPr wrap="square"/>
                    <a:lstStyle/>
                    <a:p>
                      <a:pPr algn="l"/>
                      <a:r>
                        <a:rPr sz="950" b="0">
                          <a:solidFill>
                            <a:srgbClr val="E6EDF3"/>
                          </a:solidFill>
                          <a:latin typeface="Segoe UI"/>
                        </a:rPr>
                        <a:t>demand band chart · capacity vs forecast · projected utilization · battery table · congestion bars · bottleneck list</a:t>
                      </a:r>
                    </a:p>
                  </a:txBody>
                  <a:tcPr marL="64008" marR="64008" marT="27432" marB="27432" anchor="ctr">
                    <a:solidFill>
                      <a:srgbClr val="0E1319"/>
                    </a:solidFill>
                  </a:tcPr>
                </a:tc>
              </a:tr>
              <a:tr h="514350">
                <a:tc>
                  <a:txBody>
                    <a:bodyPr wrap="square"/>
                    <a:lstStyle/>
                    <a:p>
                      <a:pPr algn="l"/>
                      <a:r>
                        <a:rPr sz="950" b="0">
                          <a:solidFill>
                            <a:srgbClr val="E6EDF3"/>
                          </a:solidFill>
                          <a:latin typeface="Consolas"/>
                        </a:rPr>
                        <a:t>/console</a:t>
                      </a:r>
                    </a:p>
                  </a:txBody>
                  <a:tcPr marL="64008" marR="64008" marT="27432" marB="27432" anchor="ctr">
                    <a:solidFill>
                      <a:srgbClr val="11161D"/>
                    </a:solidFill>
                  </a:tcPr>
                </a:tc>
                <a:tc>
                  <a:txBody>
                    <a:bodyPr wrap="square"/>
                    <a:lstStyle/>
                    <a:p>
                      <a:pPr algn="l"/>
                      <a:r>
                        <a:rPr sz="950" b="0">
                          <a:solidFill>
                            <a:srgbClr val="E6EDF3"/>
                          </a:solidFill>
                          <a:latin typeface="Segoe UI"/>
                        </a:rPr>
                        <a:t>natural-language chat with suggestion chips, intent chip, LLM/deterministic badge, inline what-if card</a:t>
                      </a:r>
                    </a:p>
                  </a:txBody>
                  <a:tcPr marL="64008" marR="64008" marT="27432" marB="27432" anchor="ctr">
                    <a:solidFill>
                      <a:srgbClr val="11161D"/>
                    </a:solidFill>
                  </a:tcPr>
                </a:tc>
              </a:tr>
              <a:tr h="514350">
                <a:tc>
                  <a:txBody>
                    <a:bodyPr wrap="square"/>
                    <a:lstStyle/>
                    <a:p>
                      <a:pPr algn="l"/>
                      <a:r>
                        <a:rPr sz="950" b="0">
                          <a:solidFill>
                            <a:srgbClr val="E6EDF3"/>
                          </a:solidFill>
                          <a:latin typeface="Consolas"/>
                        </a:rPr>
                        <a:t>/timeline</a:t>
                      </a:r>
                    </a:p>
                  </a:txBody>
                  <a:tcPr marL="64008" marR="64008" marT="27432" marB="27432" anchor="ctr">
                    <a:solidFill>
                      <a:srgbClr val="0E1319"/>
                    </a:solidFill>
                  </a:tcPr>
                </a:tc>
                <a:tc>
                  <a:txBody>
                    <a:bodyPr wrap="square"/>
                    <a:lstStyle/>
                    <a:p>
                      <a:pPr algn="l"/>
                      <a:r>
                        <a:rPr sz="950" b="0">
                          <a:solidFill>
                            <a:srgbClr val="E6EDF3"/>
                          </a:solidFill>
                          <a:latin typeface="Segoe UI"/>
                        </a:rPr>
                        <a:t>KPI history with notable-event markers · snapshot scrubber · playback in the 2D view</a:t>
                      </a:r>
                    </a:p>
                  </a:txBody>
                  <a:tcPr marL="64008" marR="64008" marT="27432" marB="27432" anchor="ctr">
                    <a:solidFill>
                      <a:srgbClr val="0E1319"/>
                    </a:solidFill>
                  </a:tcPr>
                </a:tc>
              </a:tr>
              <a:tr h="514350">
                <a:tc>
                  <a:txBody>
                    <a:bodyPr wrap="square"/>
                    <a:lstStyle/>
                    <a:p>
                      <a:pPr algn="l"/>
                      <a:r>
                        <a:rPr sz="950" b="0">
                          <a:solidFill>
                            <a:srgbClr val="E6EDF3"/>
                          </a:solidFill>
                          <a:latin typeface="Consolas"/>
                        </a:rPr>
                        <a:t>/benchmarks</a:t>
                      </a:r>
                    </a:p>
                  </a:txBody>
                  <a:tcPr marL="64008" marR="64008" marT="27432" marB="27432" anchor="ctr">
                    <a:solidFill>
                      <a:srgbClr val="11161D"/>
                    </a:solidFill>
                  </a:tcPr>
                </a:tc>
                <a:tc>
                  <a:txBody>
                    <a:bodyPr wrap="square"/>
                    <a:lstStyle/>
                    <a:p>
                      <a:pPr algn="l"/>
                      <a:r>
                        <a:rPr sz="950" b="0">
                          <a:solidFill>
                            <a:srgbClr val="E6EDF3"/>
                          </a:solidFill>
                          <a:latin typeface="Segoe UI"/>
                        </a:rPr>
                        <a:t>grouped KPI bars per scale · normalised radar · results table</a:t>
                      </a:r>
                    </a:p>
                  </a:txBody>
                  <a:tcPr marL="64008" marR="64008" marT="27432" marB="27432" anchor="ctr">
                    <a:solidFill>
                      <a:srgbClr val="11161D"/>
                    </a:solidFill>
                  </a:tcPr>
                </a:tc>
              </a:tr>
            </a:tbl>
          </a:graphicData>
        </a:graphic>
      </p:graphicFrame>
      <p:sp>
        <p:nvSpPr>
          <p:cNvPr id="8" name="Rounded Rectangle 7"/>
          <p:cNvSpPr/>
          <p:nvPr/>
        </p:nvSpPr>
        <p:spPr>
          <a:xfrm>
            <a:off x="8183879" y="1417320"/>
            <a:ext cx="3474720" cy="411480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11896" y="1508760"/>
            <a:ext cx="3218687" cy="274320"/>
          </a:xfrm>
          <a:prstGeom prst="rect">
            <a:avLst/>
          </a:prstGeom>
          <a:noFill/>
        </p:spPr>
        <p:txBody>
          <a:bodyPr wrap="square" anchor="t" lIns="36576" rIns="36576" tIns="36576" bIns="36576">
            <a:spAutoFit/>
          </a:bodyPr>
          <a:lstStyle/>
          <a:p>
            <a:pPr algn="l">
              <a:lnSpc>
                <a:spcPct val="110000"/>
              </a:lnSpc>
              <a:spcAft>
                <a:spcPts val="400"/>
              </a:spcAft>
            </a:pPr>
            <a:r>
              <a:rPr sz="950" b="1" i="0">
                <a:solidFill>
                  <a:srgbClr val="22D3EE"/>
                </a:solidFill>
                <a:latin typeface="Segoe UI"/>
              </a:rPr>
              <a:t>THE 3D TWIN</a:t>
            </a:r>
          </a:p>
        </p:txBody>
      </p:sp>
      <p:sp>
        <p:nvSpPr>
          <p:cNvPr id="10" name="TextBox 9"/>
          <p:cNvSpPr txBox="1"/>
          <p:nvPr/>
        </p:nvSpPr>
        <p:spPr>
          <a:xfrm>
            <a:off x="8275320" y="1783080"/>
            <a:ext cx="3291840" cy="3749039"/>
          </a:xfrm>
          <a:prstGeom prst="rect">
            <a:avLst/>
          </a:prstGeom>
          <a:noFill/>
        </p:spPr>
        <p:txBody>
          <a:bodyPr wrap="square" lIns="45720" rIns="45720">
            <a:spAutoFit/>
          </a:bodyPr>
          <a:lstStyle/>
          <a:p>
            <a:pPr>
              <a:lnSpc>
                <a:spcPct val="112000"/>
              </a:lnSpc>
              <a:spcAft>
                <a:spcPts val="500"/>
              </a:spcAft>
            </a:pPr>
            <a:r>
              <a:rPr sz="1050" b="1">
                <a:solidFill>
                  <a:srgbClr val="22D3EE"/>
                </a:solidFill>
                <a:latin typeface="Segoe UI"/>
              </a:rPr>
              <a:t>•  </a:t>
            </a:r>
            <a:r>
              <a:rPr sz="1050">
                <a:solidFill>
                  <a:srgbClr val="E6EDF3"/>
                </a:solidFill>
                <a:latin typeface="Segoe UI"/>
              </a:rPr>
              <a:t>instanced shelves (up to 2,400), zones tinted by occupancy / capacity</a:t>
            </a:r>
          </a:p>
          <a:p>
            <a:pPr>
              <a:lnSpc>
                <a:spcPct val="112000"/>
              </a:lnSpc>
              <a:spcAft>
                <a:spcPts val="500"/>
              </a:spcAft>
            </a:pPr>
            <a:r>
              <a:rPr sz="1050" b="1">
                <a:solidFill>
                  <a:srgbClr val="22D3EE"/>
                </a:solidFill>
                <a:latin typeface="Segoe UI"/>
              </a:rPr>
              <a:t>•  </a:t>
            </a:r>
            <a:r>
              <a:rPr sz="1050">
                <a:solidFill>
                  <a:srgbClr val="E6EDF3"/>
                </a:solidFill>
                <a:latin typeface="Segoe UI"/>
              </a:rPr>
              <a:t>robots coloured by status with id labels and remaining path; failed robots pulse red</a:t>
            </a:r>
          </a:p>
          <a:p>
            <a:pPr>
              <a:lnSpc>
                <a:spcPct val="112000"/>
              </a:lnSpc>
              <a:spcAft>
                <a:spcPts val="500"/>
              </a:spcAft>
            </a:pPr>
            <a:r>
              <a:rPr sz="1050" b="1">
                <a:solidFill>
                  <a:srgbClr val="22D3EE"/>
                </a:solidFill>
                <a:latin typeface="Segoe UI"/>
              </a:rPr>
              <a:t>•  </a:t>
            </a:r>
            <a:r>
              <a:rPr sz="1050">
                <a:solidFill>
                  <a:srgbClr val="E6EDF3"/>
                </a:solidFill>
                <a:latin typeface="Segoe UI"/>
              </a:rPr>
              <a:t>docks, chargers, blocked cells, hatched closed zones</a:t>
            </a:r>
          </a:p>
          <a:p>
            <a:pPr>
              <a:lnSpc>
                <a:spcPct val="112000"/>
              </a:lnSpc>
              <a:spcAft>
                <a:spcPts val="500"/>
              </a:spcAft>
            </a:pPr>
            <a:r>
              <a:rPr sz="1050" b="1">
                <a:solidFill>
                  <a:srgbClr val="22D3EE"/>
                </a:solidFill>
                <a:latin typeface="Segoe UI"/>
              </a:rPr>
              <a:t>•  </a:t>
            </a:r>
            <a:r>
              <a:rPr sz="1050">
                <a:solidFill>
                  <a:srgbClr val="E6EDF3"/>
                </a:solidFill>
                <a:latin typeface="Segoe UI"/>
              </a:rPr>
              <a:t>smooth interpolation between ~20 tick frames/s over one WebSocket</a:t>
            </a:r>
          </a:p>
          <a:p>
            <a:pPr>
              <a:lnSpc>
                <a:spcPct val="112000"/>
              </a:lnSpc>
              <a:spcAft>
                <a:spcPts val="500"/>
              </a:spcAft>
            </a:pPr>
            <a:r>
              <a:rPr sz="1050" b="1">
                <a:solidFill>
                  <a:srgbClr val="22D3EE"/>
                </a:solidFill>
                <a:latin typeface="Segoe UI"/>
              </a:rPr>
              <a:t>•  </a:t>
            </a:r>
            <a:r>
              <a:rPr sz="1050">
                <a:solidFill>
                  <a:srgbClr val="E6EDF3"/>
                </a:solidFill>
                <a:latin typeface="Segoe UI"/>
              </a:rPr>
              <a:t>2D canvas toggle and snapshot playback</a:t>
            </a:r>
          </a:p>
          <a:p>
            <a:pPr>
              <a:lnSpc>
                <a:spcPct val="112000"/>
              </a:lnSpc>
              <a:spcAft>
                <a:spcPts val="500"/>
              </a:spcAft>
            </a:pPr>
            <a:r>
              <a:rPr sz="1050" b="1">
                <a:solidFill>
                  <a:srgbClr val="22D3EE"/>
                </a:solidFill>
                <a:latin typeface="Segoe UI"/>
              </a:rPr>
              <a:t>•  </a:t>
            </a:r>
            <a:r>
              <a:rPr sz="1050">
                <a:solidFill>
                  <a:srgbClr val="E6EDF3"/>
                </a:solidFill>
                <a:latin typeface="Segoe UI"/>
              </a:rPr>
              <a:t>dark control-room design system; responsive to 1280 px</a:t>
            </a:r>
          </a:p>
        </p:txBody>
      </p:sp>
      <p:sp>
        <p:nvSpPr>
          <p:cNvPr id="11" name="TextBox 10"/>
          <p:cNvSpPr txBox="1"/>
          <p:nvPr/>
        </p:nvSpPr>
        <p:spPr>
          <a:xfrm>
            <a:off x="548640" y="5669280"/>
            <a:ext cx="11064240" cy="548640"/>
          </a:xfrm>
          <a:prstGeom prst="rect">
            <a:avLst/>
          </a:prstGeom>
          <a:noFill/>
        </p:spPr>
        <p:txBody>
          <a:bodyPr wrap="square" anchor="t" lIns="36576" rIns="36576" tIns="36576" bIns="36576">
            <a:spAutoFit/>
          </a:bodyPr>
          <a:lstStyle/>
          <a:p>
            <a:pPr algn="l">
              <a:lnSpc>
                <a:spcPct val="120000"/>
              </a:lnSpc>
              <a:spcAft>
                <a:spcPts val="400"/>
              </a:spcAft>
            </a:pPr>
            <a:r>
              <a:rPr sz="1000" b="0" i="0">
                <a:solidFill>
                  <a:srgbClr val="8B98A5"/>
                </a:solidFill>
                <a:latin typeface="Segoe UI"/>
              </a:rPr>
              <a:t>Next.js 15 · React 19 · TypeScript strict · Tailwind v4 · @react-three/fiber + drei · recharts · zustand · typed API client mirroring the pydantic contract · NEXT_PUBLIC_MOCK=1 runs every page offline against an in-browser sim.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D12"/>
        </a:solidFill>
        <a:effectLst/>
      </p:bgPr>
    </p:bg>
    <p:spTree>
      <p:nvGrpSpPr>
        <p:cNvPr id="1" name=""/>
        <p:cNvGrpSpPr/>
        <p:nvPr/>
      </p:nvGrpSpPr>
      <p:grpSpPr/>
      <p:sp>
        <p:nvSpPr>
          <p:cNvPr id="2" name="TextBox 1"/>
          <p:cNvSpPr txBox="1"/>
          <p:nvPr/>
        </p:nvSpPr>
        <p:spPr>
          <a:xfrm>
            <a:off x="548640" y="256032"/>
            <a:ext cx="8229600" cy="274320"/>
          </a:xfrm>
          <a:prstGeom prst="rect">
            <a:avLst/>
          </a:prstGeom>
          <a:noFill/>
        </p:spPr>
        <p:txBody>
          <a:bodyPr wrap="square" anchor="t" lIns="36576" rIns="36576" tIns="36576" bIns="36576">
            <a:spAutoFit/>
          </a:bodyPr>
          <a:lstStyle/>
          <a:p>
            <a:pPr algn="l">
              <a:lnSpc>
                <a:spcPct val="110000"/>
              </a:lnSpc>
              <a:spcAft>
                <a:spcPts val="400"/>
              </a:spcAft>
            </a:pPr>
            <a:r>
              <a:rPr sz="1050" b="1" i="0">
                <a:solidFill>
                  <a:srgbClr val="22D3EE"/>
                </a:solidFill>
                <a:latin typeface="Segoe UI"/>
              </a:rPr>
              <a:t>BENCHMARKS I</a:t>
            </a:r>
          </a:p>
        </p:txBody>
      </p:sp>
      <p:sp>
        <p:nvSpPr>
          <p:cNvPr id="3" name="TextBox 2"/>
          <p:cNvSpPr txBox="1"/>
          <p:nvPr/>
        </p:nvSpPr>
        <p:spPr>
          <a:xfrm>
            <a:off x="548640" y="502920"/>
            <a:ext cx="10607040" cy="731520"/>
          </a:xfrm>
          <a:prstGeom prst="rect">
            <a:avLst/>
          </a:prstGeom>
          <a:noFill/>
        </p:spPr>
        <p:txBody>
          <a:bodyPr wrap="square" anchor="ctr" lIns="36576" rIns="36576" tIns="36576" bIns="36576">
            <a:spAutoFit/>
          </a:bodyPr>
          <a:lstStyle/>
          <a:p>
            <a:pPr algn="l">
              <a:lnSpc>
                <a:spcPct val="110000"/>
              </a:lnSpc>
              <a:spcAft>
                <a:spcPts val="400"/>
              </a:spcAft>
            </a:pPr>
            <a:r>
              <a:rPr sz="2400" b="1" i="0">
                <a:solidFill>
                  <a:srgbClr val="E6EDF3"/>
                </a:solidFill>
                <a:latin typeface="Segoe UI"/>
              </a:rPr>
              <a:t>Four strategies, identical worlds, identical incidents</a:t>
            </a:r>
          </a:p>
        </p:txBody>
      </p:sp>
      <p:sp>
        <p:nvSpPr>
          <p:cNvPr id="4" name="Rectangle 3"/>
          <p:cNvSpPr/>
          <p:nvPr/>
        </p:nvSpPr>
        <p:spPr>
          <a:xfrm>
            <a:off x="566928" y="1216152"/>
            <a:ext cx="100584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6400800" cy="274320"/>
          </a:xfrm>
          <a:prstGeom prst="rect">
            <a:avLst/>
          </a:prstGeom>
          <a:noFill/>
        </p:spPr>
        <p:txBody>
          <a:bodyPr wrap="square" anchor="t" lIns="36576" rIns="36576" tIns="36576" bIns="36576">
            <a:spAutoFit/>
          </a:bodyPr>
          <a:lstStyle/>
          <a:p>
            <a:pPr algn="l">
              <a:lnSpc>
                <a:spcPct val="110000"/>
              </a:lnSpc>
              <a:spcAft>
                <a:spcPts val="400"/>
              </a:spcAft>
            </a:pPr>
            <a:r>
              <a:rPr sz="950" b="0" i="0">
                <a:solidFill>
                  <a:srgbClr val="8B98A5"/>
                </a:solidFill>
                <a:latin typeface="Segoe UI"/>
              </a:rPr>
              <a:t>NEXUS · Autonomous Operations Intelligence</a:t>
            </a:r>
          </a:p>
        </p:txBody>
      </p:sp>
      <p:sp>
        <p:nvSpPr>
          <p:cNvPr id="6" name="TextBox 5"/>
          <p:cNvSpPr txBox="1"/>
          <p:nvPr/>
        </p:nvSpPr>
        <p:spPr>
          <a:xfrm>
            <a:off x="10607040" y="6446520"/>
            <a:ext cx="1051560" cy="274320"/>
          </a:xfrm>
          <a:prstGeom prst="rect">
            <a:avLst/>
          </a:prstGeom>
          <a:noFill/>
        </p:spPr>
        <p:txBody>
          <a:bodyPr wrap="square" anchor="t" lIns="36576" rIns="36576" tIns="36576" bIns="36576">
            <a:spAutoFit/>
          </a:bodyPr>
          <a:lstStyle/>
          <a:p>
            <a:pPr algn="r">
              <a:lnSpc>
                <a:spcPct val="110000"/>
              </a:lnSpc>
              <a:spcAft>
                <a:spcPts val="400"/>
              </a:spcAft>
            </a:pPr>
            <a:r>
              <a:rPr sz="950" b="0" i="0">
                <a:solidFill>
                  <a:srgbClr val="8B98A5"/>
                </a:solidFill>
                <a:latin typeface="Consolas"/>
              </a:rPr>
              <a:t>20</a:t>
            </a:r>
          </a:p>
        </p:txBody>
      </p:sp>
      <p:pic>
        <p:nvPicPr>
          <p:cNvPr id="7" name="Picture 6" descr="deck_bench_breach.png"/>
          <p:cNvPicPr>
            <a:picLocks noChangeAspect="1"/>
          </p:cNvPicPr>
          <p:nvPr/>
        </p:nvPicPr>
        <p:blipFill>
          <a:blip r:embed="rId3"/>
          <a:stretch>
            <a:fillRect/>
          </a:stretch>
        </p:blipFill>
        <p:spPr>
          <a:xfrm>
            <a:off x="548640" y="1371600"/>
            <a:ext cx="6949440" cy="4211782"/>
          </a:xfrm>
          <a:prstGeom prst="rect">
            <a:avLst/>
          </a:prstGeom>
        </p:spPr>
      </p:pic>
      <p:sp>
        <p:nvSpPr>
          <p:cNvPr id="8" name="Rounded Rectangle 7"/>
          <p:cNvSpPr/>
          <p:nvPr/>
        </p:nvSpPr>
        <p:spPr>
          <a:xfrm>
            <a:off x="7726679" y="1371600"/>
            <a:ext cx="3931920" cy="420624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54696" y="1463040"/>
            <a:ext cx="3675887" cy="274320"/>
          </a:xfrm>
          <a:prstGeom prst="rect">
            <a:avLst/>
          </a:prstGeom>
          <a:noFill/>
        </p:spPr>
        <p:txBody>
          <a:bodyPr wrap="square" anchor="t" lIns="36576" rIns="36576" tIns="36576" bIns="36576">
            <a:spAutoFit/>
          </a:bodyPr>
          <a:lstStyle/>
          <a:p>
            <a:pPr algn="l">
              <a:lnSpc>
                <a:spcPct val="110000"/>
              </a:lnSpc>
              <a:spcAft>
                <a:spcPts val="400"/>
              </a:spcAft>
            </a:pPr>
            <a:r>
              <a:rPr sz="950" b="1" i="0">
                <a:solidFill>
                  <a:srgbClr val="22D3EE"/>
                </a:solidFill>
                <a:latin typeface="Segoe UI"/>
              </a:rPr>
              <a:t>SETUP</a:t>
            </a:r>
          </a:p>
        </p:txBody>
      </p:sp>
      <p:sp>
        <p:nvSpPr>
          <p:cNvPr id="10" name="TextBox 9"/>
          <p:cNvSpPr txBox="1"/>
          <p:nvPr/>
        </p:nvSpPr>
        <p:spPr>
          <a:xfrm>
            <a:off x="7818120" y="1737360"/>
            <a:ext cx="3749039" cy="3840480"/>
          </a:xfrm>
          <a:prstGeom prst="rect">
            <a:avLst/>
          </a:prstGeom>
          <a:noFill/>
        </p:spPr>
        <p:txBody>
          <a:bodyPr wrap="square" lIns="45720" rIns="45720">
            <a:spAutoFit/>
          </a:bodyPr>
          <a:lstStyle/>
          <a:p>
            <a:pPr>
              <a:lnSpc>
                <a:spcPct val="112000"/>
              </a:lnSpc>
              <a:spcAft>
                <a:spcPts val="600"/>
              </a:spcAft>
            </a:pPr>
            <a:r>
              <a:rPr sz="1050" b="1">
                <a:solidFill>
                  <a:srgbClr val="22D3EE"/>
                </a:solidFill>
                <a:latin typeface="Segoe UI"/>
              </a:rPr>
              <a:t>•  </a:t>
            </a:r>
            <a:r>
              <a:rPr b="1" sz="1050">
                <a:solidFill>
                  <a:srgbClr val="E6EDF3"/>
                </a:solidFill>
                <a:latin typeface="Segoe UI"/>
              </a:rPr>
              <a:t>Runs: </a:t>
            </a:r>
            <a:r>
              <a:rPr sz="1050">
                <a:solidFill>
                  <a:srgbClr val="E6EDF3"/>
                </a:solidFill>
                <a:latin typeface="Segoe UI"/>
              </a:rPr>
              <a:t>120 simulated minutes × 3 seed(s) per cell · scales small, medium, large</a:t>
            </a:r>
          </a:p>
          <a:p>
            <a:pPr>
              <a:lnSpc>
                <a:spcPct val="112000"/>
              </a:lnSpc>
              <a:spcAft>
                <a:spcPts val="600"/>
              </a:spcAft>
            </a:pPr>
            <a:r>
              <a:rPr sz="1050" b="1">
                <a:solidFill>
                  <a:srgbClr val="22D3EE"/>
                </a:solidFill>
                <a:latin typeface="Segoe UI"/>
              </a:rPr>
              <a:t>•  </a:t>
            </a:r>
            <a:r>
              <a:rPr b="1" sz="1050">
                <a:solidFill>
                  <a:srgbClr val="E6EDF3"/>
                </a:solidFill>
                <a:latin typeface="Segoe UI"/>
              </a:rPr>
              <a:t>Incidents: </a:t>
            </a:r>
            <a:r>
              <a:rPr sz="1050">
                <a:solidFill>
                  <a:srgbClr val="E6EDF3"/>
                </a:solidFill>
                <a:latin typeface="Segoe UI"/>
              </a:rPr>
              <a:t>robot failure at +30 min (45 min recovery) · demand ×1.5 for 30 min at +60 · aisle blocked at +90 (15 min)</a:t>
            </a:r>
          </a:p>
          <a:p>
            <a:pPr>
              <a:lnSpc>
                <a:spcPct val="112000"/>
              </a:lnSpc>
              <a:spcAft>
                <a:spcPts val="600"/>
              </a:spcAft>
            </a:pPr>
            <a:r>
              <a:rPr sz="1050" b="1">
                <a:solidFill>
                  <a:srgbClr val="22D3EE"/>
                </a:solidFill>
                <a:latin typeface="Segoe UI"/>
              </a:rPr>
              <a:t>•  </a:t>
            </a:r>
            <a:r>
              <a:rPr b="1" sz="1050">
                <a:solidFill>
                  <a:srgbClr val="E6EDF3"/>
                </a:solidFill>
                <a:latin typeface="Segoe UI"/>
              </a:rPr>
              <a:t>Strategies: </a:t>
            </a:r>
            <a:r>
              <a:rPr sz="1050">
                <a:solidFill>
                  <a:srgbClr val="E6EDF3"/>
                </a:solidFill>
                <a:latin typeface="Segoe UI"/>
              </a:rPr>
              <a:t>baseline (FIFO + nearest) · optimized (CP-SAT + batching + routing) · ai_planner (playbooks, no simulation) · nexus_full (simulate-before-execute, risk-gated)</a:t>
            </a:r>
          </a:p>
          <a:p>
            <a:pPr>
              <a:lnSpc>
                <a:spcPct val="112000"/>
              </a:lnSpc>
              <a:spcAft>
                <a:spcPts val="600"/>
              </a:spcAft>
            </a:pPr>
            <a:r>
              <a:rPr sz="1050" b="1">
                <a:solidFill>
                  <a:srgbClr val="22D3EE"/>
                </a:solidFill>
                <a:latin typeface="Segoe UI"/>
              </a:rPr>
              <a:t>•  </a:t>
            </a:r>
            <a:r>
              <a:rPr b="1" sz="1050">
                <a:solidFill>
                  <a:srgbClr val="E6EDF3"/>
                </a:solidFill>
                <a:latin typeface="Segoe UI"/>
              </a:rPr>
              <a:t>Same KPI definitions </a:t>
            </a:r>
            <a:r>
              <a:rPr sz="1050">
                <a:solidFill>
                  <a:srgbClr val="E6EDF3"/>
                </a:solidFill>
                <a:latin typeface="Segoe UI"/>
              </a:rPr>
              <a:t>everywhere: metrics.py → benchmarks → UI → this deck</a:t>
            </a:r>
          </a:p>
          <a:p>
            <a:pPr>
              <a:lnSpc>
                <a:spcPct val="112000"/>
              </a:lnSpc>
              <a:spcAft>
                <a:spcPts val="600"/>
              </a:spcAft>
            </a:pPr>
            <a:r>
              <a:rPr sz="1050" b="1">
                <a:solidFill>
                  <a:srgbClr val="22D3EE"/>
                </a:solidFill>
                <a:latin typeface="Segoe UI"/>
              </a:rPr>
              <a:t>•  </a:t>
            </a:r>
            <a:r>
              <a:rPr b="1" sz="1050">
                <a:solidFill>
                  <a:srgbClr val="E6EDF3"/>
                </a:solidFill>
                <a:latin typeface="Segoe UI"/>
              </a:rPr>
              <a:t>Reproduce: </a:t>
            </a:r>
            <a:r>
              <a:rPr sz="1050">
                <a:solidFill>
                  <a:srgbClr val="E6EDF3"/>
                </a:solidFill>
                <a:latin typeface="Segoe UI"/>
              </a:rPr>
              <a:t>make bench · results JSON + docs/BENCHMARKS.md + charts</a:t>
            </a:r>
          </a:p>
        </p:txBody>
      </p:sp>
      <p:sp>
        <p:nvSpPr>
          <p:cNvPr id="11" name="TextBox 10"/>
          <p:cNvSpPr txBox="1"/>
          <p:nvPr/>
        </p:nvSpPr>
        <p:spPr>
          <a:xfrm>
            <a:off x="548640" y="5715000"/>
            <a:ext cx="11064240" cy="457200"/>
          </a:xfrm>
          <a:prstGeom prst="rect">
            <a:avLst/>
          </a:prstGeom>
          <a:noFill/>
        </p:spPr>
        <p:txBody>
          <a:bodyPr wrap="square" anchor="t" lIns="36576" rIns="36576" tIns="36576" bIns="36576">
            <a:spAutoFit/>
          </a:bodyPr>
          <a:lstStyle/>
          <a:p>
            <a:pPr algn="l">
              <a:lnSpc>
                <a:spcPct val="110000"/>
              </a:lnSpc>
              <a:spcAft>
                <a:spcPts val="400"/>
              </a:spcAft>
            </a:pPr>
            <a:r>
              <a:rPr sz="950" b="0" i="1">
                <a:solidFill>
                  <a:srgbClr val="8B98A5"/>
                </a:solidFill>
                <a:latin typeface="Segoe UI"/>
              </a:rPr>
              <a:t>Data: backend/benchmarks/results (full benchmark run) · generated 2026-08-30 19:12:10 · wall time 325.1 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D12"/>
        </a:solidFill>
        <a:effectLst/>
      </p:bgPr>
    </p:bg>
    <p:spTree>
      <p:nvGrpSpPr>
        <p:cNvPr id="1" name=""/>
        <p:cNvGrpSpPr/>
        <p:nvPr/>
      </p:nvGrpSpPr>
      <p:grpSpPr/>
      <p:sp>
        <p:nvSpPr>
          <p:cNvPr id="2" name="TextBox 1"/>
          <p:cNvSpPr txBox="1"/>
          <p:nvPr/>
        </p:nvSpPr>
        <p:spPr>
          <a:xfrm>
            <a:off x="548640" y="256032"/>
            <a:ext cx="8229600" cy="274320"/>
          </a:xfrm>
          <a:prstGeom prst="rect">
            <a:avLst/>
          </a:prstGeom>
          <a:noFill/>
        </p:spPr>
        <p:txBody>
          <a:bodyPr wrap="square" anchor="t" lIns="36576" rIns="36576" tIns="36576" bIns="36576">
            <a:spAutoFit/>
          </a:bodyPr>
          <a:lstStyle/>
          <a:p>
            <a:pPr algn="l">
              <a:lnSpc>
                <a:spcPct val="110000"/>
              </a:lnSpc>
              <a:spcAft>
                <a:spcPts val="400"/>
              </a:spcAft>
            </a:pPr>
            <a:r>
              <a:rPr sz="1050" b="1" i="0">
                <a:solidFill>
                  <a:srgbClr val="22D3EE"/>
                </a:solidFill>
                <a:latin typeface="Segoe UI"/>
              </a:rPr>
              <a:t>BENCHMARKS II</a:t>
            </a:r>
          </a:p>
        </p:txBody>
      </p:sp>
      <p:sp>
        <p:nvSpPr>
          <p:cNvPr id="3" name="TextBox 2"/>
          <p:cNvSpPr txBox="1"/>
          <p:nvPr/>
        </p:nvSpPr>
        <p:spPr>
          <a:xfrm>
            <a:off x="548640" y="502920"/>
            <a:ext cx="10607040" cy="731520"/>
          </a:xfrm>
          <a:prstGeom prst="rect">
            <a:avLst/>
          </a:prstGeom>
          <a:noFill/>
        </p:spPr>
        <p:txBody>
          <a:bodyPr wrap="square" anchor="ctr" lIns="36576" rIns="36576" tIns="36576" bIns="36576">
            <a:spAutoFit/>
          </a:bodyPr>
          <a:lstStyle/>
          <a:p>
            <a:pPr algn="l">
              <a:lnSpc>
                <a:spcPct val="110000"/>
              </a:lnSpc>
              <a:spcAft>
                <a:spcPts val="400"/>
              </a:spcAft>
            </a:pPr>
            <a:r>
              <a:rPr sz="2800" b="1" i="0">
                <a:solidFill>
                  <a:srgbClr val="E6EDF3"/>
                </a:solidFill>
                <a:latin typeface="Segoe UI"/>
              </a:rPr>
              <a:t>Speed and throughput: what the optimization buys</a:t>
            </a:r>
          </a:p>
        </p:txBody>
      </p:sp>
      <p:sp>
        <p:nvSpPr>
          <p:cNvPr id="4" name="Rectangle 3"/>
          <p:cNvSpPr/>
          <p:nvPr/>
        </p:nvSpPr>
        <p:spPr>
          <a:xfrm>
            <a:off x="566928" y="1216152"/>
            <a:ext cx="100584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6400800" cy="274320"/>
          </a:xfrm>
          <a:prstGeom prst="rect">
            <a:avLst/>
          </a:prstGeom>
          <a:noFill/>
        </p:spPr>
        <p:txBody>
          <a:bodyPr wrap="square" anchor="t" lIns="36576" rIns="36576" tIns="36576" bIns="36576">
            <a:spAutoFit/>
          </a:bodyPr>
          <a:lstStyle/>
          <a:p>
            <a:pPr algn="l">
              <a:lnSpc>
                <a:spcPct val="110000"/>
              </a:lnSpc>
              <a:spcAft>
                <a:spcPts val="400"/>
              </a:spcAft>
            </a:pPr>
            <a:r>
              <a:rPr sz="950" b="0" i="0">
                <a:solidFill>
                  <a:srgbClr val="8B98A5"/>
                </a:solidFill>
                <a:latin typeface="Segoe UI"/>
              </a:rPr>
              <a:t>NEXUS · Autonomous Operations Intelligence</a:t>
            </a:r>
          </a:p>
        </p:txBody>
      </p:sp>
      <p:sp>
        <p:nvSpPr>
          <p:cNvPr id="6" name="TextBox 5"/>
          <p:cNvSpPr txBox="1"/>
          <p:nvPr/>
        </p:nvSpPr>
        <p:spPr>
          <a:xfrm>
            <a:off x="10607040" y="6446520"/>
            <a:ext cx="1051560" cy="274320"/>
          </a:xfrm>
          <a:prstGeom prst="rect">
            <a:avLst/>
          </a:prstGeom>
          <a:noFill/>
        </p:spPr>
        <p:txBody>
          <a:bodyPr wrap="square" anchor="t" lIns="36576" rIns="36576" tIns="36576" bIns="36576">
            <a:spAutoFit/>
          </a:bodyPr>
          <a:lstStyle/>
          <a:p>
            <a:pPr algn="r">
              <a:lnSpc>
                <a:spcPct val="110000"/>
              </a:lnSpc>
              <a:spcAft>
                <a:spcPts val="400"/>
              </a:spcAft>
            </a:pPr>
            <a:r>
              <a:rPr sz="950" b="0" i="0">
                <a:solidFill>
                  <a:srgbClr val="8B98A5"/>
                </a:solidFill>
                <a:latin typeface="Consolas"/>
              </a:rPr>
              <a:t>21</a:t>
            </a:r>
          </a:p>
        </p:txBody>
      </p:sp>
      <p:pic>
        <p:nvPicPr>
          <p:cNvPr id="7" name="Picture 6" descr="deck_bench_ft.png"/>
          <p:cNvPicPr>
            <a:picLocks noChangeAspect="1"/>
          </p:cNvPicPr>
          <p:nvPr/>
        </p:nvPicPr>
        <p:blipFill>
          <a:blip r:embed="rId3"/>
          <a:stretch>
            <a:fillRect/>
          </a:stretch>
        </p:blipFill>
        <p:spPr>
          <a:xfrm>
            <a:off x="548640" y="1371600"/>
            <a:ext cx="5486400" cy="4119481"/>
          </a:xfrm>
          <a:prstGeom prst="rect">
            <a:avLst/>
          </a:prstGeom>
        </p:spPr>
      </p:pic>
      <p:pic>
        <p:nvPicPr>
          <p:cNvPr id="8" name="Picture 7" descr="deck_bench_thr.png"/>
          <p:cNvPicPr>
            <a:picLocks noChangeAspect="1"/>
          </p:cNvPicPr>
          <p:nvPr/>
        </p:nvPicPr>
        <p:blipFill>
          <a:blip r:embed="rId4"/>
          <a:stretch>
            <a:fillRect/>
          </a:stretch>
        </p:blipFill>
        <p:spPr>
          <a:xfrm>
            <a:off x="6172200" y="1371600"/>
            <a:ext cx="5486400" cy="4126523"/>
          </a:xfrm>
          <a:prstGeom prst="rect">
            <a:avLst/>
          </a:prstGeom>
        </p:spPr>
      </p:pic>
      <p:sp>
        <p:nvSpPr>
          <p:cNvPr id="9" name="TextBox 8"/>
          <p:cNvSpPr txBox="1"/>
          <p:nvPr/>
        </p:nvSpPr>
        <p:spPr>
          <a:xfrm>
            <a:off x="548640" y="5532120"/>
            <a:ext cx="11064240" cy="731520"/>
          </a:xfrm>
          <a:prstGeom prst="rect">
            <a:avLst/>
          </a:prstGeom>
          <a:noFill/>
        </p:spPr>
        <p:txBody>
          <a:bodyPr wrap="square" anchor="t" lIns="36576" rIns="36576" tIns="36576" bIns="36576">
            <a:spAutoFit/>
          </a:bodyPr>
          <a:lstStyle/>
          <a:p>
            <a:pPr algn="l">
              <a:lnSpc>
                <a:spcPct val="120000"/>
              </a:lnSpc>
              <a:spcAft>
                <a:spcPts val="400"/>
              </a:spcAft>
            </a:pPr>
            <a:r>
              <a:rPr sz="1000" b="0" i="0">
                <a:solidFill>
                  <a:srgbClr val="8B98A5"/>
                </a:solidFill>
                <a:latin typeface="Segoe UI"/>
              </a:rPr>
              <a:t>Baseline → optimized, same worlds:  small: breach 41.7% → 2.8%, fulfilment 9.4 → 3.6 min, p95 26.7 → 10.6 min  ·  medium: breach 40.0% → 1.5%, fulfilment 9.0 → 2.9 min, p95 24.5 → 5.7 min  ·  large: breach 37.6% → 1.7%, fulfilment 8.6 → 2.9 min, p95 22.2 → 5.1 min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0D12"/>
        </a:solidFill>
        <a:effectLst/>
      </p:bgPr>
    </p:bg>
    <p:spTree>
      <p:nvGrpSpPr>
        <p:cNvPr id="1" name=""/>
        <p:cNvGrpSpPr/>
        <p:nvPr/>
      </p:nvGrpSpPr>
      <p:grpSpPr/>
      <p:sp>
        <p:nvSpPr>
          <p:cNvPr id="2" name="TextBox 1"/>
          <p:cNvSpPr txBox="1"/>
          <p:nvPr/>
        </p:nvSpPr>
        <p:spPr>
          <a:xfrm>
            <a:off x="548640" y="256032"/>
            <a:ext cx="8229600" cy="274320"/>
          </a:xfrm>
          <a:prstGeom prst="rect">
            <a:avLst/>
          </a:prstGeom>
          <a:noFill/>
        </p:spPr>
        <p:txBody>
          <a:bodyPr wrap="square" anchor="t" lIns="36576" rIns="36576" tIns="36576" bIns="36576">
            <a:spAutoFit/>
          </a:bodyPr>
          <a:lstStyle/>
          <a:p>
            <a:pPr algn="l">
              <a:lnSpc>
                <a:spcPct val="110000"/>
              </a:lnSpc>
              <a:spcAft>
                <a:spcPts val="400"/>
              </a:spcAft>
            </a:pPr>
            <a:r>
              <a:rPr sz="1050" b="1" i="0">
                <a:solidFill>
                  <a:srgbClr val="22D3EE"/>
                </a:solidFill>
                <a:latin typeface="Segoe UI"/>
              </a:rPr>
              <a:t>BENCHMARKS III</a:t>
            </a:r>
          </a:p>
        </p:txBody>
      </p:sp>
      <p:sp>
        <p:nvSpPr>
          <p:cNvPr id="3" name="TextBox 2"/>
          <p:cNvSpPr txBox="1"/>
          <p:nvPr/>
        </p:nvSpPr>
        <p:spPr>
          <a:xfrm>
            <a:off x="548640" y="502920"/>
            <a:ext cx="10607040" cy="731520"/>
          </a:xfrm>
          <a:prstGeom prst="rect">
            <a:avLst/>
          </a:prstGeom>
          <a:noFill/>
        </p:spPr>
        <p:txBody>
          <a:bodyPr wrap="square" anchor="ctr" lIns="36576" rIns="36576" tIns="36576" bIns="36576">
            <a:spAutoFit/>
          </a:bodyPr>
          <a:lstStyle/>
          <a:p>
            <a:pPr algn="l">
              <a:lnSpc>
                <a:spcPct val="110000"/>
              </a:lnSpc>
              <a:spcAft>
                <a:spcPts val="400"/>
              </a:spcAft>
            </a:pPr>
            <a:r>
              <a:rPr sz="2800" b="1" i="0">
                <a:solidFill>
                  <a:srgbClr val="E6EDF3"/>
                </a:solidFill>
                <a:latin typeface="Segoe UI"/>
              </a:rPr>
              <a:t>The full picture: every KPI, every strategy</a:t>
            </a:r>
          </a:p>
        </p:txBody>
      </p:sp>
      <p:sp>
        <p:nvSpPr>
          <p:cNvPr id="4" name="Rectangle 3"/>
          <p:cNvSpPr/>
          <p:nvPr/>
        </p:nvSpPr>
        <p:spPr>
          <a:xfrm>
            <a:off x="566928" y="1216152"/>
            <a:ext cx="100584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6400800" cy="274320"/>
          </a:xfrm>
          <a:prstGeom prst="rect">
            <a:avLst/>
          </a:prstGeom>
          <a:noFill/>
        </p:spPr>
        <p:txBody>
          <a:bodyPr wrap="square" anchor="t" lIns="36576" rIns="36576" tIns="36576" bIns="36576">
            <a:spAutoFit/>
          </a:bodyPr>
          <a:lstStyle/>
          <a:p>
            <a:pPr algn="l">
              <a:lnSpc>
                <a:spcPct val="110000"/>
              </a:lnSpc>
              <a:spcAft>
                <a:spcPts val="400"/>
              </a:spcAft>
            </a:pPr>
            <a:r>
              <a:rPr sz="950" b="0" i="0">
                <a:solidFill>
                  <a:srgbClr val="8B98A5"/>
                </a:solidFill>
                <a:latin typeface="Segoe UI"/>
              </a:rPr>
              <a:t>NEXUS · Autonomous Operations Intelligence</a:t>
            </a:r>
          </a:p>
        </p:txBody>
      </p:sp>
      <p:sp>
        <p:nvSpPr>
          <p:cNvPr id="6" name="TextBox 5"/>
          <p:cNvSpPr txBox="1"/>
          <p:nvPr/>
        </p:nvSpPr>
        <p:spPr>
          <a:xfrm>
            <a:off x="10607040" y="6446520"/>
            <a:ext cx="1051560" cy="274320"/>
          </a:xfrm>
          <a:prstGeom prst="rect">
            <a:avLst/>
          </a:prstGeom>
          <a:noFill/>
        </p:spPr>
        <p:txBody>
          <a:bodyPr wrap="square" anchor="t" lIns="36576" rIns="36576" tIns="36576" bIns="36576">
            <a:spAutoFit/>
          </a:bodyPr>
          <a:lstStyle/>
          <a:p>
            <a:pPr algn="r">
              <a:lnSpc>
                <a:spcPct val="110000"/>
              </a:lnSpc>
              <a:spcAft>
                <a:spcPts val="400"/>
              </a:spcAft>
            </a:pPr>
            <a:r>
              <a:rPr sz="950" b="0" i="0">
                <a:solidFill>
                  <a:srgbClr val="8B98A5"/>
                </a:solidFill>
                <a:latin typeface="Consolas"/>
              </a:rPr>
              <a:t>22</a:t>
            </a:r>
          </a:p>
        </p:txBody>
      </p:sp>
      <p:graphicFrame>
        <p:nvGraphicFramePr>
          <p:cNvPr id="7" name="Table 6"/>
          <p:cNvGraphicFramePr>
            <a:graphicFrameLocks noGrp="1"/>
          </p:cNvGraphicFramePr>
          <p:nvPr/>
        </p:nvGraphicFramePr>
        <p:xfrm>
          <a:off x="548640" y="1371600"/>
          <a:ext cx="6400800" cy="4279392"/>
        </p:xfrm>
        <a:graphic>
          <a:graphicData uri="http://schemas.openxmlformats.org/drawingml/2006/table">
            <a:tbl>
              <a:tblPr firstRow="1" bandRow="0">
                <a:tableStyleId>{2D5ABB26-0587-4C30-8999-92F81FD0307C}</a:tableStyleId>
              </a:tblPr>
              <a:tblGrid>
                <a:gridCol w="640080"/>
                <a:gridCol w="960120"/>
                <a:gridCol w="731520"/>
                <a:gridCol w="777240"/>
                <a:gridCol w="594360"/>
                <a:gridCol w="548640"/>
                <a:gridCol w="566928"/>
                <a:gridCol w="502920"/>
                <a:gridCol w="530352"/>
                <a:gridCol w="548640"/>
              </a:tblGrid>
              <a:tr h="329184">
                <a:tc>
                  <a:txBody>
                    <a:bodyPr wrap="square"/>
                    <a:lstStyle/>
                    <a:p>
                      <a:pPr algn="l"/>
                      <a:r>
                        <a:rPr sz="850" b="1">
                          <a:solidFill>
                            <a:srgbClr val="22D3EE"/>
                          </a:solidFill>
                          <a:latin typeface="Segoe UI"/>
                        </a:rPr>
                        <a:t>scale</a:t>
                      </a:r>
                    </a:p>
                  </a:txBody>
                  <a:tcPr marL="64008" marR="64008" marT="27432" marB="27432" anchor="ctr">
                    <a:solidFill>
                      <a:srgbClr val="182130"/>
                    </a:solidFill>
                  </a:tcPr>
                </a:tc>
                <a:tc>
                  <a:txBody>
                    <a:bodyPr wrap="square"/>
                    <a:lstStyle/>
                    <a:p>
                      <a:pPr algn="l"/>
                      <a:r>
                        <a:rPr sz="850" b="1">
                          <a:solidFill>
                            <a:srgbClr val="22D3EE"/>
                          </a:solidFill>
                          <a:latin typeface="Segoe UI"/>
                        </a:rPr>
                        <a:t>strategy</a:t>
                      </a:r>
                    </a:p>
                  </a:txBody>
                  <a:tcPr marL="64008" marR="64008" marT="27432" marB="27432" anchor="ctr">
                    <a:solidFill>
                      <a:srgbClr val="182130"/>
                    </a:solidFill>
                  </a:tcPr>
                </a:tc>
                <a:tc>
                  <a:txBody>
                    <a:bodyPr wrap="square"/>
                    <a:lstStyle/>
                    <a:p>
                      <a:pPr algn="r"/>
                      <a:r>
                        <a:rPr sz="850" b="1">
                          <a:solidFill>
                            <a:srgbClr val="22D3EE"/>
                          </a:solidFill>
                          <a:latin typeface="Segoe UI"/>
                        </a:rPr>
                        <a:t>breach</a:t>
                      </a:r>
                    </a:p>
                  </a:txBody>
                  <a:tcPr marL="64008" marR="64008" marT="27432" marB="27432" anchor="ctr">
                    <a:solidFill>
                      <a:srgbClr val="182130"/>
                    </a:solidFill>
                  </a:tcPr>
                </a:tc>
                <a:tc>
                  <a:txBody>
                    <a:bodyPr wrap="square"/>
                    <a:lstStyle/>
                    <a:p>
                      <a:pPr algn="r"/>
                      <a:r>
                        <a:rPr sz="850" b="1">
                          <a:solidFill>
                            <a:srgbClr val="22D3EE"/>
                          </a:solidFill>
                          <a:latin typeface="Segoe UI"/>
                        </a:rPr>
                        <a:t>Δ vs base</a:t>
                      </a:r>
                    </a:p>
                  </a:txBody>
                  <a:tcPr marL="64008" marR="64008" marT="27432" marB="27432" anchor="ctr">
                    <a:solidFill>
                      <a:srgbClr val="182130"/>
                    </a:solidFill>
                  </a:tcPr>
                </a:tc>
                <a:tc>
                  <a:txBody>
                    <a:bodyPr wrap="square"/>
                    <a:lstStyle/>
                    <a:p>
                      <a:pPr algn="r"/>
                      <a:r>
                        <a:rPr sz="850" b="1">
                          <a:solidFill>
                            <a:srgbClr val="22D3EE"/>
                          </a:solidFill>
                          <a:latin typeface="Segoe UI"/>
                        </a:rPr>
                        <a:t>avg ft</a:t>
                      </a:r>
                    </a:p>
                  </a:txBody>
                  <a:tcPr marL="64008" marR="64008" marT="27432" marB="27432" anchor="ctr">
                    <a:solidFill>
                      <a:srgbClr val="182130"/>
                    </a:solidFill>
                  </a:tcPr>
                </a:tc>
                <a:tc>
                  <a:txBody>
                    <a:bodyPr wrap="square"/>
                    <a:lstStyle/>
                    <a:p>
                      <a:pPr algn="r"/>
                      <a:r>
                        <a:rPr sz="850" b="1">
                          <a:solidFill>
                            <a:srgbClr val="22D3EE"/>
                          </a:solidFill>
                          <a:latin typeface="Segoe UI"/>
                        </a:rPr>
                        <a:t>p95</a:t>
                      </a:r>
                    </a:p>
                  </a:txBody>
                  <a:tcPr marL="64008" marR="64008" marT="27432" marB="27432" anchor="ctr">
                    <a:solidFill>
                      <a:srgbClr val="182130"/>
                    </a:solidFill>
                  </a:tcPr>
                </a:tc>
                <a:tc>
                  <a:txBody>
                    <a:bodyPr wrap="square"/>
                    <a:lstStyle/>
                    <a:p>
                      <a:pPr algn="r"/>
                      <a:r>
                        <a:rPr sz="850" b="1">
                          <a:solidFill>
                            <a:srgbClr val="22D3EE"/>
                          </a:solidFill>
                          <a:latin typeface="Segoe UI"/>
                        </a:rPr>
                        <a:t>thr/h</a:t>
                      </a:r>
                    </a:p>
                  </a:txBody>
                  <a:tcPr marL="64008" marR="64008" marT="27432" marB="27432" anchor="ctr">
                    <a:solidFill>
                      <a:srgbClr val="182130"/>
                    </a:solidFill>
                  </a:tcPr>
                </a:tc>
                <a:tc>
                  <a:txBody>
                    <a:bodyPr wrap="square"/>
                    <a:lstStyle/>
                    <a:p>
                      <a:pPr algn="r"/>
                      <a:r>
                        <a:rPr sz="850" b="1">
                          <a:solidFill>
                            <a:srgbClr val="22D3EE"/>
                          </a:solidFill>
                          <a:latin typeface="Segoe UI"/>
                        </a:rPr>
                        <a:t>util</a:t>
                      </a:r>
                    </a:p>
                  </a:txBody>
                  <a:tcPr marL="64008" marR="64008" marT="27432" marB="27432" anchor="ctr">
                    <a:solidFill>
                      <a:srgbClr val="182130"/>
                    </a:solidFill>
                  </a:tcPr>
                </a:tc>
                <a:tc>
                  <a:txBody>
                    <a:bodyPr wrap="square"/>
                    <a:lstStyle/>
                    <a:p>
                      <a:pPr algn="r"/>
                      <a:r>
                        <a:rPr sz="850" b="1">
                          <a:solidFill>
                            <a:srgbClr val="22D3EE"/>
                          </a:solidFill>
                          <a:latin typeface="Segoe UI"/>
                        </a:rPr>
                        <a:t>cong.</a:t>
                      </a:r>
                    </a:p>
                  </a:txBody>
                  <a:tcPr marL="64008" marR="64008" marT="27432" marB="27432" anchor="ctr">
                    <a:solidFill>
                      <a:srgbClr val="182130"/>
                    </a:solidFill>
                  </a:tcPr>
                </a:tc>
                <a:tc>
                  <a:txBody>
                    <a:bodyPr wrap="square"/>
                    <a:lstStyle/>
                    <a:p>
                      <a:pPr algn="r"/>
                      <a:r>
                        <a:rPr sz="850" b="1">
                          <a:solidFill>
                            <a:srgbClr val="22D3EE"/>
                          </a:solidFill>
                          <a:latin typeface="Segoe UI"/>
                        </a:rPr>
                        <a:t>t/s</a:t>
                      </a:r>
                    </a:p>
                  </a:txBody>
                  <a:tcPr marL="64008" marR="64008" marT="27432" marB="27432" anchor="ctr">
                    <a:solidFill>
                      <a:srgbClr val="182130"/>
                    </a:solidFill>
                  </a:tcPr>
                </a:tc>
              </a:tr>
              <a:tr h="329184">
                <a:tc>
                  <a:txBody>
                    <a:bodyPr wrap="square"/>
                    <a:lstStyle/>
                    <a:p>
                      <a:pPr algn="l"/>
                      <a:r>
                        <a:rPr sz="800" b="0">
                          <a:solidFill>
                            <a:srgbClr val="E6EDF3"/>
                          </a:solidFill>
                          <a:latin typeface="Segoe UI"/>
                        </a:rPr>
                        <a:t>small</a:t>
                      </a:r>
                    </a:p>
                  </a:txBody>
                  <a:tcPr marL="64008" marR="64008" marT="27432" marB="27432" anchor="ctr">
                    <a:solidFill>
                      <a:srgbClr val="11161D"/>
                    </a:solidFill>
                  </a:tcPr>
                </a:tc>
                <a:tc>
                  <a:txBody>
                    <a:bodyPr wrap="square"/>
                    <a:lstStyle/>
                    <a:p>
                      <a:pPr algn="l"/>
                      <a:r>
                        <a:rPr sz="800" b="0">
                          <a:solidFill>
                            <a:srgbClr val="E6EDF3"/>
                          </a:solidFill>
                          <a:latin typeface="Consolas"/>
                        </a:rPr>
                        <a:t>baseline</a:t>
                      </a:r>
                    </a:p>
                  </a:txBody>
                  <a:tcPr marL="64008" marR="64008" marT="27432" marB="27432" anchor="ctr">
                    <a:solidFill>
                      <a:srgbClr val="11161D"/>
                    </a:solidFill>
                  </a:tcPr>
                </a:tc>
                <a:tc>
                  <a:txBody>
                    <a:bodyPr wrap="square"/>
                    <a:lstStyle/>
                    <a:p>
                      <a:pPr algn="r"/>
                      <a:r>
                        <a:rPr sz="800" b="0">
                          <a:solidFill>
                            <a:srgbClr val="E6EDF3"/>
                          </a:solidFill>
                          <a:latin typeface="Segoe UI"/>
                        </a:rPr>
                        <a:t>41.69%</a:t>
                      </a:r>
                    </a:p>
                  </a:txBody>
                  <a:tcPr marL="64008" marR="64008" marT="27432" marB="27432" anchor="ctr">
                    <a:solidFill>
                      <a:srgbClr val="11161D"/>
                    </a:solidFill>
                  </a:tcPr>
                </a:tc>
                <a:tc>
                  <a:txBody>
                    <a:bodyPr wrap="square"/>
                    <a:lstStyle/>
                    <a:p>
                      <a:pPr algn="r"/>
                      <a:r>
                        <a:rPr sz="800" b="0">
                          <a:solidFill>
                            <a:srgbClr val="E6EDF3"/>
                          </a:solidFill>
                          <a:latin typeface="Segoe UI"/>
                        </a:rPr>
                        <a:t>+0.00 pp</a:t>
                      </a:r>
                    </a:p>
                  </a:txBody>
                  <a:tcPr marL="64008" marR="64008" marT="27432" marB="27432" anchor="ctr">
                    <a:solidFill>
                      <a:srgbClr val="11161D"/>
                    </a:solidFill>
                  </a:tcPr>
                </a:tc>
                <a:tc>
                  <a:txBody>
                    <a:bodyPr wrap="square"/>
                    <a:lstStyle/>
                    <a:p>
                      <a:pPr algn="r"/>
                      <a:r>
                        <a:rPr sz="800" b="0">
                          <a:solidFill>
                            <a:srgbClr val="E6EDF3"/>
                          </a:solidFill>
                          <a:latin typeface="Segoe UI"/>
                        </a:rPr>
                        <a:t>9.43</a:t>
                      </a:r>
                    </a:p>
                  </a:txBody>
                  <a:tcPr marL="64008" marR="64008" marT="27432" marB="27432" anchor="ctr">
                    <a:solidFill>
                      <a:srgbClr val="11161D"/>
                    </a:solidFill>
                  </a:tcPr>
                </a:tc>
                <a:tc>
                  <a:txBody>
                    <a:bodyPr wrap="square"/>
                    <a:lstStyle/>
                    <a:p>
                      <a:pPr algn="r"/>
                      <a:r>
                        <a:rPr sz="800" b="0">
                          <a:solidFill>
                            <a:srgbClr val="E6EDF3"/>
                          </a:solidFill>
                          <a:latin typeface="Segoe UI"/>
                        </a:rPr>
                        <a:t>26.70</a:t>
                      </a:r>
                    </a:p>
                  </a:txBody>
                  <a:tcPr marL="64008" marR="64008" marT="27432" marB="27432" anchor="ctr">
                    <a:solidFill>
                      <a:srgbClr val="11161D"/>
                    </a:solidFill>
                  </a:tcPr>
                </a:tc>
                <a:tc>
                  <a:txBody>
                    <a:bodyPr wrap="square"/>
                    <a:lstStyle/>
                    <a:p>
                      <a:pPr algn="r"/>
                      <a:r>
                        <a:rPr sz="800" b="0">
                          <a:solidFill>
                            <a:srgbClr val="E6EDF3"/>
                          </a:solidFill>
                          <a:latin typeface="Segoe UI"/>
                        </a:rPr>
                        <a:t>316</a:t>
                      </a:r>
                    </a:p>
                  </a:txBody>
                  <a:tcPr marL="64008" marR="64008" marT="27432" marB="27432" anchor="ctr">
                    <a:solidFill>
                      <a:srgbClr val="11161D"/>
                    </a:solidFill>
                  </a:tcPr>
                </a:tc>
                <a:tc>
                  <a:txBody>
                    <a:bodyPr wrap="square"/>
                    <a:lstStyle/>
                    <a:p>
                      <a:pPr algn="r"/>
                      <a:r>
                        <a:rPr sz="800" b="0">
                          <a:solidFill>
                            <a:srgbClr val="E6EDF3"/>
                          </a:solidFill>
                          <a:latin typeface="Segoe UI"/>
                        </a:rPr>
                        <a:t>81%</a:t>
                      </a:r>
                    </a:p>
                  </a:txBody>
                  <a:tcPr marL="64008" marR="64008" marT="27432" marB="27432" anchor="ctr">
                    <a:solidFill>
                      <a:srgbClr val="11161D"/>
                    </a:solidFill>
                  </a:tcPr>
                </a:tc>
                <a:tc>
                  <a:txBody>
                    <a:bodyPr wrap="square"/>
                    <a:lstStyle/>
                    <a:p>
                      <a:pPr algn="r"/>
                      <a:r>
                        <a:rPr sz="800" b="0">
                          <a:solidFill>
                            <a:srgbClr val="E6EDF3"/>
                          </a:solidFill>
                          <a:latin typeface="Segoe UI"/>
                        </a:rPr>
                        <a:t>0.05</a:t>
                      </a:r>
                    </a:p>
                  </a:txBody>
                  <a:tcPr marL="64008" marR="64008" marT="27432" marB="27432" anchor="ctr">
                    <a:solidFill>
                      <a:srgbClr val="11161D"/>
                    </a:solidFill>
                  </a:tcPr>
                </a:tc>
                <a:tc>
                  <a:txBody>
                    <a:bodyPr wrap="square"/>
                    <a:lstStyle/>
                    <a:p>
                      <a:pPr algn="r"/>
                      <a:r>
                        <a:rPr sz="800" b="0">
                          <a:solidFill>
                            <a:srgbClr val="E6EDF3"/>
                          </a:solidFill>
                          <a:latin typeface="Segoe UI"/>
                        </a:rPr>
                        <a:t>2,996</a:t>
                      </a:r>
                    </a:p>
                  </a:txBody>
                  <a:tcPr marL="64008" marR="64008" marT="27432" marB="27432" anchor="ctr">
                    <a:solidFill>
                      <a:srgbClr val="11161D"/>
                    </a:solidFill>
                  </a:tcPr>
                </a:tc>
              </a:tr>
              <a:tr h="329184">
                <a:tc>
                  <a:txBody>
                    <a:bodyPr wrap="square"/>
                    <a:lstStyle/>
                    <a:p>
                      <a:pPr algn="l"/>
                      <a:r>
                        <a:rPr sz="800" b="0">
                          <a:solidFill>
                            <a:srgbClr val="E6EDF3"/>
                          </a:solidFill>
                          <a:latin typeface="Segoe UI"/>
                        </a:rPr>
                        <a:t>small</a:t>
                      </a:r>
                    </a:p>
                  </a:txBody>
                  <a:tcPr marL="64008" marR="64008" marT="27432" marB="27432" anchor="ctr">
                    <a:solidFill>
                      <a:srgbClr val="0E1319"/>
                    </a:solidFill>
                  </a:tcPr>
                </a:tc>
                <a:tc>
                  <a:txBody>
                    <a:bodyPr wrap="square"/>
                    <a:lstStyle/>
                    <a:p>
                      <a:pPr algn="l"/>
                      <a:r>
                        <a:rPr sz="800" b="0">
                          <a:solidFill>
                            <a:srgbClr val="E6EDF3"/>
                          </a:solidFill>
                          <a:latin typeface="Consolas"/>
                        </a:rPr>
                        <a:t>optimized</a:t>
                      </a:r>
                    </a:p>
                  </a:txBody>
                  <a:tcPr marL="64008" marR="64008" marT="27432" marB="27432" anchor="ctr">
                    <a:solidFill>
                      <a:srgbClr val="0E1319"/>
                    </a:solidFill>
                  </a:tcPr>
                </a:tc>
                <a:tc>
                  <a:txBody>
                    <a:bodyPr wrap="square"/>
                    <a:lstStyle/>
                    <a:p>
                      <a:pPr algn="r"/>
                      <a:r>
                        <a:rPr sz="800" b="0">
                          <a:solidFill>
                            <a:srgbClr val="E6EDF3"/>
                          </a:solidFill>
                          <a:latin typeface="Segoe UI"/>
                        </a:rPr>
                        <a:t>2.84%</a:t>
                      </a:r>
                    </a:p>
                  </a:txBody>
                  <a:tcPr marL="64008" marR="64008" marT="27432" marB="27432" anchor="ctr">
                    <a:solidFill>
                      <a:srgbClr val="0E1319"/>
                    </a:solidFill>
                  </a:tcPr>
                </a:tc>
                <a:tc>
                  <a:txBody>
                    <a:bodyPr wrap="square"/>
                    <a:lstStyle/>
                    <a:p>
                      <a:pPr algn="r"/>
                      <a:r>
                        <a:rPr sz="800" b="0">
                          <a:solidFill>
                            <a:srgbClr val="E6EDF3"/>
                          </a:solidFill>
                          <a:latin typeface="Segoe UI"/>
                        </a:rPr>
                        <a:t>-38.85 pp</a:t>
                      </a:r>
                    </a:p>
                  </a:txBody>
                  <a:tcPr marL="64008" marR="64008" marT="27432" marB="27432" anchor="ctr">
                    <a:solidFill>
                      <a:srgbClr val="0E1319"/>
                    </a:solidFill>
                  </a:tcPr>
                </a:tc>
                <a:tc>
                  <a:txBody>
                    <a:bodyPr wrap="square"/>
                    <a:lstStyle/>
                    <a:p>
                      <a:pPr algn="r"/>
                      <a:r>
                        <a:rPr sz="800" b="0">
                          <a:solidFill>
                            <a:srgbClr val="E6EDF3"/>
                          </a:solidFill>
                          <a:latin typeface="Segoe UI"/>
                        </a:rPr>
                        <a:t>3.60</a:t>
                      </a:r>
                    </a:p>
                  </a:txBody>
                  <a:tcPr marL="64008" marR="64008" marT="27432" marB="27432" anchor="ctr">
                    <a:solidFill>
                      <a:srgbClr val="0E1319"/>
                    </a:solidFill>
                  </a:tcPr>
                </a:tc>
                <a:tc>
                  <a:txBody>
                    <a:bodyPr wrap="square"/>
                    <a:lstStyle/>
                    <a:p>
                      <a:pPr algn="r"/>
                      <a:r>
                        <a:rPr sz="800" b="0">
                          <a:solidFill>
                            <a:srgbClr val="E6EDF3"/>
                          </a:solidFill>
                          <a:latin typeface="Segoe UI"/>
                        </a:rPr>
                        <a:t>10.55</a:t>
                      </a:r>
                    </a:p>
                  </a:txBody>
                  <a:tcPr marL="64008" marR="64008" marT="27432" marB="27432" anchor="ctr">
                    <a:solidFill>
                      <a:srgbClr val="0E1319"/>
                    </a:solidFill>
                  </a:tcPr>
                </a:tc>
                <a:tc>
                  <a:txBody>
                    <a:bodyPr wrap="square"/>
                    <a:lstStyle/>
                    <a:p>
                      <a:pPr algn="r"/>
                      <a:r>
                        <a:rPr sz="800" b="0">
                          <a:solidFill>
                            <a:srgbClr val="E6EDF3"/>
                          </a:solidFill>
                          <a:latin typeface="Segoe UI"/>
                        </a:rPr>
                        <a:t>390</a:t>
                      </a:r>
                    </a:p>
                  </a:txBody>
                  <a:tcPr marL="64008" marR="64008" marT="27432" marB="27432" anchor="ctr">
                    <a:solidFill>
                      <a:srgbClr val="0E1319"/>
                    </a:solidFill>
                  </a:tcPr>
                </a:tc>
                <a:tc>
                  <a:txBody>
                    <a:bodyPr wrap="square"/>
                    <a:lstStyle/>
                    <a:p>
                      <a:pPr algn="r"/>
                      <a:r>
                        <a:rPr sz="800" b="0">
                          <a:solidFill>
                            <a:srgbClr val="E6EDF3"/>
                          </a:solidFill>
                          <a:latin typeface="Segoe UI"/>
                        </a:rPr>
                        <a:t>80%</a:t>
                      </a:r>
                    </a:p>
                  </a:txBody>
                  <a:tcPr marL="64008" marR="64008" marT="27432" marB="27432" anchor="ctr">
                    <a:solidFill>
                      <a:srgbClr val="0E1319"/>
                    </a:solidFill>
                  </a:tcPr>
                </a:tc>
                <a:tc>
                  <a:txBody>
                    <a:bodyPr wrap="square"/>
                    <a:lstStyle/>
                    <a:p>
                      <a:pPr algn="r"/>
                      <a:r>
                        <a:rPr sz="800" b="0">
                          <a:solidFill>
                            <a:srgbClr val="E6EDF3"/>
                          </a:solidFill>
                          <a:latin typeface="Segoe UI"/>
                        </a:rPr>
                        <a:t>0.06</a:t>
                      </a:r>
                    </a:p>
                  </a:txBody>
                  <a:tcPr marL="64008" marR="64008" marT="27432" marB="27432" anchor="ctr">
                    <a:solidFill>
                      <a:srgbClr val="0E1319"/>
                    </a:solidFill>
                  </a:tcPr>
                </a:tc>
                <a:tc>
                  <a:txBody>
                    <a:bodyPr wrap="square"/>
                    <a:lstStyle/>
                    <a:p>
                      <a:pPr algn="r"/>
                      <a:r>
                        <a:rPr sz="800" b="0">
                          <a:solidFill>
                            <a:srgbClr val="E6EDF3"/>
                          </a:solidFill>
                          <a:latin typeface="Segoe UI"/>
                        </a:rPr>
                        <a:t>2,402</a:t>
                      </a:r>
                    </a:p>
                  </a:txBody>
                  <a:tcPr marL="64008" marR="64008" marT="27432" marB="27432" anchor="ctr">
                    <a:solidFill>
                      <a:srgbClr val="0E1319"/>
                    </a:solidFill>
                  </a:tcPr>
                </a:tc>
              </a:tr>
              <a:tr h="329184">
                <a:tc>
                  <a:txBody>
                    <a:bodyPr wrap="square"/>
                    <a:lstStyle/>
                    <a:p>
                      <a:pPr algn="l"/>
                      <a:r>
                        <a:rPr sz="800" b="0">
                          <a:solidFill>
                            <a:srgbClr val="E6EDF3"/>
                          </a:solidFill>
                          <a:latin typeface="Segoe UI"/>
                        </a:rPr>
                        <a:t>small</a:t>
                      </a:r>
                    </a:p>
                  </a:txBody>
                  <a:tcPr marL="64008" marR="64008" marT="27432" marB="27432" anchor="ctr">
                    <a:solidFill>
                      <a:srgbClr val="11161D"/>
                    </a:solidFill>
                  </a:tcPr>
                </a:tc>
                <a:tc>
                  <a:txBody>
                    <a:bodyPr wrap="square"/>
                    <a:lstStyle/>
                    <a:p>
                      <a:pPr algn="l"/>
                      <a:r>
                        <a:rPr sz="800" b="0">
                          <a:solidFill>
                            <a:srgbClr val="E6EDF3"/>
                          </a:solidFill>
                          <a:latin typeface="Consolas"/>
                        </a:rPr>
                        <a:t>ai_planner</a:t>
                      </a:r>
                    </a:p>
                  </a:txBody>
                  <a:tcPr marL="64008" marR="64008" marT="27432" marB="27432" anchor="ctr">
                    <a:solidFill>
                      <a:srgbClr val="11161D"/>
                    </a:solidFill>
                  </a:tcPr>
                </a:tc>
                <a:tc>
                  <a:txBody>
                    <a:bodyPr wrap="square"/>
                    <a:lstStyle/>
                    <a:p>
                      <a:pPr algn="r"/>
                      <a:r>
                        <a:rPr sz="800" b="0">
                          <a:solidFill>
                            <a:srgbClr val="E6EDF3"/>
                          </a:solidFill>
                          <a:latin typeface="Segoe UI"/>
                        </a:rPr>
                        <a:t>3.07%</a:t>
                      </a:r>
                    </a:p>
                  </a:txBody>
                  <a:tcPr marL="64008" marR="64008" marT="27432" marB="27432" anchor="ctr">
                    <a:solidFill>
                      <a:srgbClr val="11161D"/>
                    </a:solidFill>
                  </a:tcPr>
                </a:tc>
                <a:tc>
                  <a:txBody>
                    <a:bodyPr wrap="square"/>
                    <a:lstStyle/>
                    <a:p>
                      <a:pPr algn="r"/>
                      <a:r>
                        <a:rPr sz="800" b="0">
                          <a:solidFill>
                            <a:srgbClr val="E6EDF3"/>
                          </a:solidFill>
                          <a:latin typeface="Segoe UI"/>
                        </a:rPr>
                        <a:t>-38.61 pp</a:t>
                      </a:r>
                    </a:p>
                  </a:txBody>
                  <a:tcPr marL="64008" marR="64008" marT="27432" marB="27432" anchor="ctr">
                    <a:solidFill>
                      <a:srgbClr val="11161D"/>
                    </a:solidFill>
                  </a:tcPr>
                </a:tc>
                <a:tc>
                  <a:txBody>
                    <a:bodyPr wrap="square"/>
                    <a:lstStyle/>
                    <a:p>
                      <a:pPr algn="r"/>
                      <a:r>
                        <a:rPr sz="800" b="0">
                          <a:solidFill>
                            <a:srgbClr val="E6EDF3"/>
                          </a:solidFill>
                          <a:latin typeface="Segoe UI"/>
                        </a:rPr>
                        <a:t>3.19</a:t>
                      </a:r>
                    </a:p>
                  </a:txBody>
                  <a:tcPr marL="64008" marR="64008" marT="27432" marB="27432" anchor="ctr">
                    <a:solidFill>
                      <a:srgbClr val="11161D"/>
                    </a:solidFill>
                  </a:tcPr>
                </a:tc>
                <a:tc>
                  <a:txBody>
                    <a:bodyPr wrap="square"/>
                    <a:lstStyle/>
                    <a:p>
                      <a:pPr algn="r"/>
                      <a:r>
                        <a:rPr sz="800" b="0">
                          <a:solidFill>
                            <a:srgbClr val="E6EDF3"/>
                          </a:solidFill>
                          <a:latin typeface="Segoe UI"/>
                        </a:rPr>
                        <a:t>8.05</a:t>
                      </a:r>
                    </a:p>
                  </a:txBody>
                  <a:tcPr marL="64008" marR="64008" marT="27432" marB="27432" anchor="ctr">
                    <a:solidFill>
                      <a:srgbClr val="11161D"/>
                    </a:solidFill>
                  </a:tcPr>
                </a:tc>
                <a:tc>
                  <a:txBody>
                    <a:bodyPr wrap="square"/>
                    <a:lstStyle/>
                    <a:p>
                      <a:pPr algn="r"/>
                      <a:r>
                        <a:rPr sz="800" b="0">
                          <a:solidFill>
                            <a:srgbClr val="E6EDF3"/>
                          </a:solidFill>
                          <a:latin typeface="Segoe UI"/>
                        </a:rPr>
                        <a:t>395</a:t>
                      </a:r>
                    </a:p>
                  </a:txBody>
                  <a:tcPr marL="64008" marR="64008" marT="27432" marB="27432" anchor="ctr">
                    <a:solidFill>
                      <a:srgbClr val="11161D"/>
                    </a:solidFill>
                  </a:tcPr>
                </a:tc>
                <a:tc>
                  <a:txBody>
                    <a:bodyPr wrap="square"/>
                    <a:lstStyle/>
                    <a:p>
                      <a:pPr algn="r"/>
                      <a:r>
                        <a:rPr sz="800" b="0">
                          <a:solidFill>
                            <a:srgbClr val="E6EDF3"/>
                          </a:solidFill>
                          <a:latin typeface="Segoe UI"/>
                        </a:rPr>
                        <a:t>80%</a:t>
                      </a:r>
                    </a:p>
                  </a:txBody>
                  <a:tcPr marL="64008" marR="64008" marT="27432" marB="27432" anchor="ctr">
                    <a:solidFill>
                      <a:srgbClr val="11161D"/>
                    </a:solidFill>
                  </a:tcPr>
                </a:tc>
                <a:tc>
                  <a:txBody>
                    <a:bodyPr wrap="square"/>
                    <a:lstStyle/>
                    <a:p>
                      <a:pPr algn="r"/>
                      <a:r>
                        <a:rPr sz="800" b="0">
                          <a:solidFill>
                            <a:srgbClr val="E6EDF3"/>
                          </a:solidFill>
                          <a:latin typeface="Segoe UI"/>
                        </a:rPr>
                        <a:t>0.04</a:t>
                      </a:r>
                    </a:p>
                  </a:txBody>
                  <a:tcPr marL="64008" marR="64008" marT="27432" marB="27432" anchor="ctr">
                    <a:solidFill>
                      <a:srgbClr val="11161D"/>
                    </a:solidFill>
                  </a:tcPr>
                </a:tc>
                <a:tc>
                  <a:txBody>
                    <a:bodyPr wrap="square"/>
                    <a:lstStyle/>
                    <a:p>
                      <a:pPr algn="r"/>
                      <a:r>
                        <a:rPr sz="800" b="0">
                          <a:solidFill>
                            <a:srgbClr val="E6EDF3"/>
                          </a:solidFill>
                          <a:latin typeface="Segoe UI"/>
                        </a:rPr>
                        <a:t>2,313</a:t>
                      </a:r>
                    </a:p>
                  </a:txBody>
                  <a:tcPr marL="64008" marR="64008" marT="27432" marB="27432" anchor="ctr">
                    <a:solidFill>
                      <a:srgbClr val="11161D"/>
                    </a:solidFill>
                  </a:tcPr>
                </a:tc>
              </a:tr>
              <a:tr h="329184">
                <a:tc>
                  <a:txBody>
                    <a:bodyPr wrap="square"/>
                    <a:lstStyle/>
                    <a:p>
                      <a:pPr algn="l"/>
                      <a:r>
                        <a:rPr sz="800" b="0">
                          <a:solidFill>
                            <a:srgbClr val="E6EDF3"/>
                          </a:solidFill>
                          <a:latin typeface="Segoe UI"/>
                        </a:rPr>
                        <a:t>small</a:t>
                      </a:r>
                    </a:p>
                  </a:txBody>
                  <a:tcPr marL="64008" marR="64008" marT="27432" marB="27432" anchor="ctr">
                    <a:solidFill>
                      <a:srgbClr val="182130"/>
                    </a:solidFill>
                  </a:tcPr>
                </a:tc>
                <a:tc>
                  <a:txBody>
                    <a:bodyPr wrap="square"/>
                    <a:lstStyle/>
                    <a:p>
                      <a:pPr algn="l"/>
                      <a:r>
                        <a:rPr sz="800" b="0">
                          <a:solidFill>
                            <a:srgbClr val="E6EDF3"/>
                          </a:solidFill>
                          <a:latin typeface="Consolas"/>
                        </a:rPr>
                        <a:t>nexus_full</a:t>
                      </a:r>
                    </a:p>
                  </a:txBody>
                  <a:tcPr marL="64008" marR="64008" marT="27432" marB="27432" anchor="ctr">
                    <a:solidFill>
                      <a:srgbClr val="182130"/>
                    </a:solidFill>
                  </a:tcPr>
                </a:tc>
                <a:tc>
                  <a:txBody>
                    <a:bodyPr wrap="square"/>
                    <a:lstStyle/>
                    <a:p>
                      <a:pPr algn="r"/>
                      <a:r>
                        <a:rPr sz="800" b="0">
                          <a:solidFill>
                            <a:srgbClr val="E6EDF3"/>
                          </a:solidFill>
                          <a:latin typeface="Segoe UI"/>
                        </a:rPr>
                        <a:t>1.80%</a:t>
                      </a:r>
                    </a:p>
                  </a:txBody>
                  <a:tcPr marL="64008" marR="64008" marT="27432" marB="27432" anchor="ctr">
                    <a:solidFill>
                      <a:srgbClr val="182130"/>
                    </a:solidFill>
                  </a:tcPr>
                </a:tc>
                <a:tc>
                  <a:txBody>
                    <a:bodyPr wrap="square"/>
                    <a:lstStyle/>
                    <a:p>
                      <a:pPr algn="r"/>
                      <a:r>
                        <a:rPr sz="800" b="0">
                          <a:solidFill>
                            <a:srgbClr val="E6EDF3"/>
                          </a:solidFill>
                          <a:latin typeface="Segoe UI"/>
                        </a:rPr>
                        <a:t>-39.88 pp</a:t>
                      </a:r>
                    </a:p>
                  </a:txBody>
                  <a:tcPr marL="64008" marR="64008" marT="27432" marB="27432" anchor="ctr">
                    <a:solidFill>
                      <a:srgbClr val="182130"/>
                    </a:solidFill>
                  </a:tcPr>
                </a:tc>
                <a:tc>
                  <a:txBody>
                    <a:bodyPr wrap="square"/>
                    <a:lstStyle/>
                    <a:p>
                      <a:pPr algn="r"/>
                      <a:r>
                        <a:rPr sz="800" b="0">
                          <a:solidFill>
                            <a:srgbClr val="E6EDF3"/>
                          </a:solidFill>
                          <a:latin typeface="Segoe UI"/>
                        </a:rPr>
                        <a:t>2.81</a:t>
                      </a:r>
                    </a:p>
                  </a:txBody>
                  <a:tcPr marL="64008" marR="64008" marT="27432" marB="27432" anchor="ctr">
                    <a:solidFill>
                      <a:srgbClr val="182130"/>
                    </a:solidFill>
                  </a:tcPr>
                </a:tc>
                <a:tc>
                  <a:txBody>
                    <a:bodyPr wrap="square"/>
                    <a:lstStyle/>
                    <a:p>
                      <a:pPr algn="r"/>
                      <a:r>
                        <a:rPr sz="800" b="0">
                          <a:solidFill>
                            <a:srgbClr val="E6EDF3"/>
                          </a:solidFill>
                          <a:latin typeface="Segoe UI"/>
                        </a:rPr>
                        <a:t>5.67</a:t>
                      </a:r>
                    </a:p>
                  </a:txBody>
                  <a:tcPr marL="64008" marR="64008" marT="27432" marB="27432" anchor="ctr">
                    <a:solidFill>
                      <a:srgbClr val="182130"/>
                    </a:solidFill>
                  </a:tcPr>
                </a:tc>
                <a:tc>
                  <a:txBody>
                    <a:bodyPr wrap="square"/>
                    <a:lstStyle/>
                    <a:p>
                      <a:pPr algn="r"/>
                      <a:r>
                        <a:rPr sz="800" b="0">
                          <a:solidFill>
                            <a:srgbClr val="E6EDF3"/>
                          </a:solidFill>
                          <a:latin typeface="Segoe UI"/>
                        </a:rPr>
                        <a:t>408</a:t>
                      </a:r>
                    </a:p>
                  </a:txBody>
                  <a:tcPr marL="64008" marR="64008" marT="27432" marB="27432" anchor="ctr">
                    <a:solidFill>
                      <a:srgbClr val="182130"/>
                    </a:solidFill>
                  </a:tcPr>
                </a:tc>
                <a:tc>
                  <a:txBody>
                    <a:bodyPr wrap="square"/>
                    <a:lstStyle/>
                    <a:p>
                      <a:pPr algn="r"/>
                      <a:r>
                        <a:rPr sz="800" b="0">
                          <a:solidFill>
                            <a:srgbClr val="E6EDF3"/>
                          </a:solidFill>
                          <a:latin typeface="Segoe UI"/>
                        </a:rPr>
                        <a:t>78%</a:t>
                      </a:r>
                    </a:p>
                  </a:txBody>
                  <a:tcPr marL="64008" marR="64008" marT="27432" marB="27432" anchor="ctr">
                    <a:solidFill>
                      <a:srgbClr val="182130"/>
                    </a:solidFill>
                  </a:tcPr>
                </a:tc>
                <a:tc>
                  <a:txBody>
                    <a:bodyPr wrap="square"/>
                    <a:lstStyle/>
                    <a:p>
                      <a:pPr algn="r"/>
                      <a:r>
                        <a:rPr sz="800" b="0">
                          <a:solidFill>
                            <a:srgbClr val="E6EDF3"/>
                          </a:solidFill>
                          <a:latin typeface="Segoe UI"/>
                        </a:rPr>
                        <a:t>0.05</a:t>
                      </a:r>
                    </a:p>
                  </a:txBody>
                  <a:tcPr marL="64008" marR="64008" marT="27432" marB="27432" anchor="ctr">
                    <a:solidFill>
                      <a:srgbClr val="182130"/>
                    </a:solidFill>
                  </a:tcPr>
                </a:tc>
                <a:tc>
                  <a:txBody>
                    <a:bodyPr wrap="square"/>
                    <a:lstStyle/>
                    <a:p>
                      <a:pPr algn="r"/>
                      <a:r>
                        <a:rPr sz="800" b="0">
                          <a:solidFill>
                            <a:srgbClr val="E6EDF3"/>
                          </a:solidFill>
                          <a:latin typeface="Segoe UI"/>
                        </a:rPr>
                        <a:t>490</a:t>
                      </a:r>
                    </a:p>
                  </a:txBody>
                  <a:tcPr marL="64008" marR="64008" marT="27432" marB="27432" anchor="ctr">
                    <a:solidFill>
                      <a:srgbClr val="182130"/>
                    </a:solidFill>
                  </a:tcPr>
                </a:tc>
              </a:tr>
              <a:tr h="329184">
                <a:tc>
                  <a:txBody>
                    <a:bodyPr wrap="square"/>
                    <a:lstStyle/>
                    <a:p>
                      <a:pPr algn="l"/>
                      <a:r>
                        <a:rPr sz="800" b="0">
                          <a:solidFill>
                            <a:srgbClr val="E6EDF3"/>
                          </a:solidFill>
                          <a:latin typeface="Segoe UI"/>
                        </a:rPr>
                        <a:t>medium</a:t>
                      </a:r>
                    </a:p>
                  </a:txBody>
                  <a:tcPr marL="64008" marR="64008" marT="27432" marB="27432" anchor="ctr">
                    <a:solidFill>
                      <a:srgbClr val="11161D"/>
                    </a:solidFill>
                  </a:tcPr>
                </a:tc>
                <a:tc>
                  <a:txBody>
                    <a:bodyPr wrap="square"/>
                    <a:lstStyle/>
                    <a:p>
                      <a:pPr algn="l"/>
                      <a:r>
                        <a:rPr sz="800" b="0">
                          <a:solidFill>
                            <a:srgbClr val="E6EDF3"/>
                          </a:solidFill>
                          <a:latin typeface="Consolas"/>
                        </a:rPr>
                        <a:t>baseline</a:t>
                      </a:r>
                    </a:p>
                  </a:txBody>
                  <a:tcPr marL="64008" marR="64008" marT="27432" marB="27432" anchor="ctr">
                    <a:solidFill>
                      <a:srgbClr val="11161D"/>
                    </a:solidFill>
                  </a:tcPr>
                </a:tc>
                <a:tc>
                  <a:txBody>
                    <a:bodyPr wrap="square"/>
                    <a:lstStyle/>
                    <a:p>
                      <a:pPr algn="r"/>
                      <a:r>
                        <a:rPr sz="800" b="0">
                          <a:solidFill>
                            <a:srgbClr val="E6EDF3"/>
                          </a:solidFill>
                          <a:latin typeface="Segoe UI"/>
                        </a:rPr>
                        <a:t>39.98%</a:t>
                      </a:r>
                    </a:p>
                  </a:txBody>
                  <a:tcPr marL="64008" marR="64008" marT="27432" marB="27432" anchor="ctr">
                    <a:solidFill>
                      <a:srgbClr val="11161D"/>
                    </a:solidFill>
                  </a:tcPr>
                </a:tc>
                <a:tc>
                  <a:txBody>
                    <a:bodyPr wrap="square"/>
                    <a:lstStyle/>
                    <a:p>
                      <a:pPr algn="r"/>
                      <a:r>
                        <a:rPr sz="800" b="0">
                          <a:solidFill>
                            <a:srgbClr val="E6EDF3"/>
                          </a:solidFill>
                          <a:latin typeface="Segoe UI"/>
                        </a:rPr>
                        <a:t>+0.00 pp</a:t>
                      </a:r>
                    </a:p>
                  </a:txBody>
                  <a:tcPr marL="64008" marR="64008" marT="27432" marB="27432" anchor="ctr">
                    <a:solidFill>
                      <a:srgbClr val="11161D"/>
                    </a:solidFill>
                  </a:tcPr>
                </a:tc>
                <a:tc>
                  <a:txBody>
                    <a:bodyPr wrap="square"/>
                    <a:lstStyle/>
                    <a:p>
                      <a:pPr algn="r"/>
                      <a:r>
                        <a:rPr sz="800" b="0">
                          <a:solidFill>
                            <a:srgbClr val="E6EDF3"/>
                          </a:solidFill>
                          <a:latin typeface="Segoe UI"/>
                        </a:rPr>
                        <a:t>9.04</a:t>
                      </a:r>
                    </a:p>
                  </a:txBody>
                  <a:tcPr marL="64008" marR="64008" marT="27432" marB="27432" anchor="ctr">
                    <a:solidFill>
                      <a:srgbClr val="11161D"/>
                    </a:solidFill>
                  </a:tcPr>
                </a:tc>
                <a:tc>
                  <a:txBody>
                    <a:bodyPr wrap="square"/>
                    <a:lstStyle/>
                    <a:p>
                      <a:pPr algn="r"/>
                      <a:r>
                        <a:rPr sz="800" b="0">
                          <a:solidFill>
                            <a:srgbClr val="E6EDF3"/>
                          </a:solidFill>
                          <a:latin typeface="Segoe UI"/>
                        </a:rPr>
                        <a:t>24.46</a:t>
                      </a:r>
                    </a:p>
                  </a:txBody>
                  <a:tcPr marL="64008" marR="64008" marT="27432" marB="27432" anchor="ctr">
                    <a:solidFill>
                      <a:srgbClr val="11161D"/>
                    </a:solidFill>
                  </a:tcPr>
                </a:tc>
                <a:tc>
                  <a:txBody>
                    <a:bodyPr wrap="square"/>
                    <a:lstStyle/>
                    <a:p>
                      <a:pPr algn="r"/>
                      <a:r>
                        <a:rPr sz="800" b="0">
                          <a:solidFill>
                            <a:srgbClr val="E6EDF3"/>
                          </a:solidFill>
                          <a:latin typeface="Segoe UI"/>
                        </a:rPr>
                        <a:t>826</a:t>
                      </a:r>
                    </a:p>
                  </a:txBody>
                  <a:tcPr marL="64008" marR="64008" marT="27432" marB="27432" anchor="ctr">
                    <a:solidFill>
                      <a:srgbClr val="11161D"/>
                    </a:solidFill>
                  </a:tcPr>
                </a:tc>
                <a:tc>
                  <a:txBody>
                    <a:bodyPr wrap="square"/>
                    <a:lstStyle/>
                    <a:p>
                      <a:pPr algn="r"/>
                      <a:r>
                        <a:rPr sz="800" b="0">
                          <a:solidFill>
                            <a:srgbClr val="E6EDF3"/>
                          </a:solidFill>
                          <a:latin typeface="Segoe UI"/>
                        </a:rPr>
                        <a:t>80%</a:t>
                      </a:r>
                    </a:p>
                  </a:txBody>
                  <a:tcPr marL="64008" marR="64008" marT="27432" marB="27432" anchor="ctr">
                    <a:solidFill>
                      <a:srgbClr val="11161D"/>
                    </a:solidFill>
                  </a:tcPr>
                </a:tc>
                <a:tc>
                  <a:txBody>
                    <a:bodyPr wrap="square"/>
                    <a:lstStyle/>
                    <a:p>
                      <a:pPr algn="r"/>
                      <a:r>
                        <a:rPr sz="800" b="0">
                          <a:solidFill>
                            <a:srgbClr val="E6EDF3"/>
                          </a:solidFill>
                          <a:latin typeface="Segoe UI"/>
                        </a:rPr>
                        <a:t>0.87</a:t>
                      </a:r>
                    </a:p>
                  </a:txBody>
                  <a:tcPr marL="64008" marR="64008" marT="27432" marB="27432" anchor="ctr">
                    <a:solidFill>
                      <a:srgbClr val="11161D"/>
                    </a:solidFill>
                  </a:tcPr>
                </a:tc>
                <a:tc>
                  <a:txBody>
                    <a:bodyPr wrap="square"/>
                    <a:lstStyle/>
                    <a:p>
                      <a:pPr algn="r"/>
                      <a:r>
                        <a:rPr sz="800" b="0">
                          <a:solidFill>
                            <a:srgbClr val="E6EDF3"/>
                          </a:solidFill>
                          <a:latin typeface="Segoe UI"/>
                        </a:rPr>
                        <a:t>833</a:t>
                      </a:r>
                    </a:p>
                  </a:txBody>
                  <a:tcPr marL="64008" marR="64008" marT="27432" marB="27432" anchor="ctr">
                    <a:solidFill>
                      <a:srgbClr val="11161D"/>
                    </a:solidFill>
                  </a:tcPr>
                </a:tc>
              </a:tr>
              <a:tr h="329184">
                <a:tc>
                  <a:txBody>
                    <a:bodyPr wrap="square"/>
                    <a:lstStyle/>
                    <a:p>
                      <a:pPr algn="l"/>
                      <a:r>
                        <a:rPr sz="800" b="0">
                          <a:solidFill>
                            <a:srgbClr val="E6EDF3"/>
                          </a:solidFill>
                          <a:latin typeface="Segoe UI"/>
                        </a:rPr>
                        <a:t>medium</a:t>
                      </a:r>
                    </a:p>
                  </a:txBody>
                  <a:tcPr marL="64008" marR="64008" marT="27432" marB="27432" anchor="ctr">
                    <a:solidFill>
                      <a:srgbClr val="0E1319"/>
                    </a:solidFill>
                  </a:tcPr>
                </a:tc>
                <a:tc>
                  <a:txBody>
                    <a:bodyPr wrap="square"/>
                    <a:lstStyle/>
                    <a:p>
                      <a:pPr algn="l"/>
                      <a:r>
                        <a:rPr sz="800" b="0">
                          <a:solidFill>
                            <a:srgbClr val="E6EDF3"/>
                          </a:solidFill>
                          <a:latin typeface="Consolas"/>
                        </a:rPr>
                        <a:t>optimized</a:t>
                      </a:r>
                    </a:p>
                  </a:txBody>
                  <a:tcPr marL="64008" marR="64008" marT="27432" marB="27432" anchor="ctr">
                    <a:solidFill>
                      <a:srgbClr val="0E1319"/>
                    </a:solidFill>
                  </a:tcPr>
                </a:tc>
                <a:tc>
                  <a:txBody>
                    <a:bodyPr wrap="square"/>
                    <a:lstStyle/>
                    <a:p>
                      <a:pPr algn="r"/>
                      <a:r>
                        <a:rPr sz="800" b="0">
                          <a:solidFill>
                            <a:srgbClr val="E6EDF3"/>
                          </a:solidFill>
                          <a:latin typeface="Segoe UI"/>
                        </a:rPr>
                        <a:t>1.47%</a:t>
                      </a:r>
                    </a:p>
                  </a:txBody>
                  <a:tcPr marL="64008" marR="64008" marT="27432" marB="27432" anchor="ctr">
                    <a:solidFill>
                      <a:srgbClr val="0E1319"/>
                    </a:solidFill>
                  </a:tcPr>
                </a:tc>
                <a:tc>
                  <a:txBody>
                    <a:bodyPr wrap="square"/>
                    <a:lstStyle/>
                    <a:p>
                      <a:pPr algn="r"/>
                      <a:r>
                        <a:rPr sz="800" b="0">
                          <a:solidFill>
                            <a:srgbClr val="E6EDF3"/>
                          </a:solidFill>
                          <a:latin typeface="Segoe UI"/>
                        </a:rPr>
                        <a:t>-38.51 pp</a:t>
                      </a:r>
                    </a:p>
                  </a:txBody>
                  <a:tcPr marL="64008" marR="64008" marT="27432" marB="27432" anchor="ctr">
                    <a:solidFill>
                      <a:srgbClr val="0E1319"/>
                    </a:solidFill>
                  </a:tcPr>
                </a:tc>
                <a:tc>
                  <a:txBody>
                    <a:bodyPr wrap="square"/>
                    <a:lstStyle/>
                    <a:p>
                      <a:pPr algn="r"/>
                      <a:r>
                        <a:rPr sz="800" b="0">
                          <a:solidFill>
                            <a:srgbClr val="E6EDF3"/>
                          </a:solidFill>
                          <a:latin typeface="Segoe UI"/>
                        </a:rPr>
                        <a:t>2.94</a:t>
                      </a:r>
                    </a:p>
                  </a:txBody>
                  <a:tcPr marL="64008" marR="64008" marT="27432" marB="27432" anchor="ctr">
                    <a:solidFill>
                      <a:srgbClr val="0E1319"/>
                    </a:solidFill>
                  </a:tcPr>
                </a:tc>
                <a:tc>
                  <a:txBody>
                    <a:bodyPr wrap="square"/>
                    <a:lstStyle/>
                    <a:p>
                      <a:pPr algn="r"/>
                      <a:r>
                        <a:rPr sz="800" b="0">
                          <a:solidFill>
                            <a:srgbClr val="E6EDF3"/>
                          </a:solidFill>
                          <a:latin typeface="Segoe UI"/>
                        </a:rPr>
                        <a:t>5.69</a:t>
                      </a:r>
                    </a:p>
                  </a:txBody>
                  <a:tcPr marL="64008" marR="64008" marT="27432" marB="27432" anchor="ctr">
                    <a:solidFill>
                      <a:srgbClr val="0E1319"/>
                    </a:solidFill>
                  </a:tcPr>
                </a:tc>
                <a:tc>
                  <a:txBody>
                    <a:bodyPr wrap="square"/>
                    <a:lstStyle/>
                    <a:p>
                      <a:pPr algn="r"/>
                      <a:r>
                        <a:rPr sz="800" b="0">
                          <a:solidFill>
                            <a:srgbClr val="E6EDF3"/>
                          </a:solidFill>
                          <a:latin typeface="Segoe UI"/>
                        </a:rPr>
                        <a:t>1010</a:t>
                      </a:r>
                    </a:p>
                  </a:txBody>
                  <a:tcPr marL="64008" marR="64008" marT="27432" marB="27432" anchor="ctr">
                    <a:solidFill>
                      <a:srgbClr val="0E1319"/>
                    </a:solidFill>
                  </a:tcPr>
                </a:tc>
                <a:tc>
                  <a:txBody>
                    <a:bodyPr wrap="square"/>
                    <a:lstStyle/>
                    <a:p>
                      <a:pPr algn="r"/>
                      <a:r>
                        <a:rPr sz="800" b="0">
                          <a:solidFill>
                            <a:srgbClr val="E6EDF3"/>
                          </a:solidFill>
                          <a:latin typeface="Segoe UI"/>
                        </a:rPr>
                        <a:t>76%</a:t>
                      </a:r>
                    </a:p>
                  </a:txBody>
                  <a:tcPr marL="64008" marR="64008" marT="27432" marB="27432" anchor="ctr">
                    <a:solidFill>
                      <a:srgbClr val="0E1319"/>
                    </a:solidFill>
                  </a:tcPr>
                </a:tc>
                <a:tc>
                  <a:txBody>
                    <a:bodyPr wrap="square"/>
                    <a:lstStyle/>
                    <a:p>
                      <a:pPr algn="r"/>
                      <a:r>
                        <a:rPr sz="800" b="0">
                          <a:solidFill>
                            <a:srgbClr val="E6EDF3"/>
                          </a:solidFill>
                          <a:latin typeface="Segoe UI"/>
                        </a:rPr>
                        <a:t>0.65</a:t>
                      </a:r>
                    </a:p>
                  </a:txBody>
                  <a:tcPr marL="64008" marR="64008" marT="27432" marB="27432" anchor="ctr">
                    <a:solidFill>
                      <a:srgbClr val="0E1319"/>
                    </a:solidFill>
                  </a:tcPr>
                </a:tc>
                <a:tc>
                  <a:txBody>
                    <a:bodyPr wrap="square"/>
                    <a:lstStyle/>
                    <a:p>
                      <a:pPr algn="r"/>
                      <a:r>
                        <a:rPr sz="800" b="0">
                          <a:solidFill>
                            <a:srgbClr val="E6EDF3"/>
                          </a:solidFill>
                          <a:latin typeface="Segoe UI"/>
                        </a:rPr>
                        <a:t>636</a:t>
                      </a:r>
                    </a:p>
                  </a:txBody>
                  <a:tcPr marL="64008" marR="64008" marT="27432" marB="27432" anchor="ctr">
                    <a:solidFill>
                      <a:srgbClr val="0E1319"/>
                    </a:solidFill>
                  </a:tcPr>
                </a:tc>
              </a:tr>
              <a:tr h="329184">
                <a:tc>
                  <a:txBody>
                    <a:bodyPr wrap="square"/>
                    <a:lstStyle/>
                    <a:p>
                      <a:pPr algn="l"/>
                      <a:r>
                        <a:rPr sz="800" b="0">
                          <a:solidFill>
                            <a:srgbClr val="E6EDF3"/>
                          </a:solidFill>
                          <a:latin typeface="Segoe UI"/>
                        </a:rPr>
                        <a:t>medium</a:t>
                      </a:r>
                    </a:p>
                  </a:txBody>
                  <a:tcPr marL="64008" marR="64008" marT="27432" marB="27432" anchor="ctr">
                    <a:solidFill>
                      <a:srgbClr val="11161D"/>
                    </a:solidFill>
                  </a:tcPr>
                </a:tc>
                <a:tc>
                  <a:txBody>
                    <a:bodyPr wrap="square"/>
                    <a:lstStyle/>
                    <a:p>
                      <a:pPr algn="l"/>
                      <a:r>
                        <a:rPr sz="800" b="0">
                          <a:solidFill>
                            <a:srgbClr val="E6EDF3"/>
                          </a:solidFill>
                          <a:latin typeface="Consolas"/>
                        </a:rPr>
                        <a:t>ai_planner</a:t>
                      </a:r>
                    </a:p>
                  </a:txBody>
                  <a:tcPr marL="64008" marR="64008" marT="27432" marB="27432" anchor="ctr">
                    <a:solidFill>
                      <a:srgbClr val="11161D"/>
                    </a:solidFill>
                  </a:tcPr>
                </a:tc>
                <a:tc>
                  <a:txBody>
                    <a:bodyPr wrap="square"/>
                    <a:lstStyle/>
                    <a:p>
                      <a:pPr algn="r"/>
                      <a:r>
                        <a:rPr sz="800" b="0">
                          <a:solidFill>
                            <a:srgbClr val="E6EDF3"/>
                          </a:solidFill>
                          <a:latin typeface="Segoe UI"/>
                        </a:rPr>
                        <a:t>1.80%</a:t>
                      </a:r>
                    </a:p>
                  </a:txBody>
                  <a:tcPr marL="64008" marR="64008" marT="27432" marB="27432" anchor="ctr">
                    <a:solidFill>
                      <a:srgbClr val="11161D"/>
                    </a:solidFill>
                  </a:tcPr>
                </a:tc>
                <a:tc>
                  <a:txBody>
                    <a:bodyPr wrap="square"/>
                    <a:lstStyle/>
                    <a:p>
                      <a:pPr algn="r"/>
                      <a:r>
                        <a:rPr sz="800" b="0">
                          <a:solidFill>
                            <a:srgbClr val="E6EDF3"/>
                          </a:solidFill>
                          <a:latin typeface="Segoe UI"/>
                        </a:rPr>
                        <a:t>-38.19 pp</a:t>
                      </a:r>
                    </a:p>
                  </a:txBody>
                  <a:tcPr marL="64008" marR="64008" marT="27432" marB="27432" anchor="ctr">
                    <a:solidFill>
                      <a:srgbClr val="11161D"/>
                    </a:solidFill>
                  </a:tcPr>
                </a:tc>
                <a:tc>
                  <a:txBody>
                    <a:bodyPr wrap="square"/>
                    <a:lstStyle/>
                    <a:p>
                      <a:pPr algn="r"/>
                      <a:r>
                        <a:rPr sz="800" b="0">
                          <a:solidFill>
                            <a:srgbClr val="E6EDF3"/>
                          </a:solidFill>
                          <a:latin typeface="Segoe UI"/>
                        </a:rPr>
                        <a:t>2.94</a:t>
                      </a:r>
                    </a:p>
                  </a:txBody>
                  <a:tcPr marL="64008" marR="64008" marT="27432" marB="27432" anchor="ctr">
                    <a:solidFill>
                      <a:srgbClr val="11161D"/>
                    </a:solidFill>
                  </a:tcPr>
                </a:tc>
                <a:tc>
                  <a:txBody>
                    <a:bodyPr wrap="square"/>
                    <a:lstStyle/>
                    <a:p>
                      <a:pPr algn="r"/>
                      <a:r>
                        <a:rPr sz="800" b="0">
                          <a:solidFill>
                            <a:srgbClr val="E6EDF3"/>
                          </a:solidFill>
                          <a:latin typeface="Segoe UI"/>
                        </a:rPr>
                        <a:t>5.69</a:t>
                      </a:r>
                    </a:p>
                  </a:txBody>
                  <a:tcPr marL="64008" marR="64008" marT="27432" marB="27432" anchor="ctr">
                    <a:solidFill>
                      <a:srgbClr val="11161D"/>
                    </a:solidFill>
                  </a:tcPr>
                </a:tc>
                <a:tc>
                  <a:txBody>
                    <a:bodyPr wrap="square"/>
                    <a:lstStyle/>
                    <a:p>
                      <a:pPr algn="r"/>
                      <a:r>
                        <a:rPr sz="800" b="0">
                          <a:solidFill>
                            <a:srgbClr val="E6EDF3"/>
                          </a:solidFill>
                          <a:latin typeface="Segoe UI"/>
                        </a:rPr>
                        <a:t>1009</a:t>
                      </a:r>
                    </a:p>
                  </a:txBody>
                  <a:tcPr marL="64008" marR="64008" marT="27432" marB="27432" anchor="ctr">
                    <a:solidFill>
                      <a:srgbClr val="11161D"/>
                    </a:solidFill>
                  </a:tcPr>
                </a:tc>
                <a:tc>
                  <a:txBody>
                    <a:bodyPr wrap="square"/>
                    <a:lstStyle/>
                    <a:p>
                      <a:pPr algn="r"/>
                      <a:r>
                        <a:rPr sz="800" b="0">
                          <a:solidFill>
                            <a:srgbClr val="E6EDF3"/>
                          </a:solidFill>
                          <a:latin typeface="Segoe UI"/>
                        </a:rPr>
                        <a:t>76%</a:t>
                      </a:r>
                    </a:p>
                  </a:txBody>
                  <a:tcPr marL="64008" marR="64008" marT="27432" marB="27432" anchor="ctr">
                    <a:solidFill>
                      <a:srgbClr val="11161D"/>
                    </a:solidFill>
                  </a:tcPr>
                </a:tc>
                <a:tc>
                  <a:txBody>
                    <a:bodyPr wrap="square"/>
                    <a:lstStyle/>
                    <a:p>
                      <a:pPr algn="r"/>
                      <a:r>
                        <a:rPr sz="800" b="0">
                          <a:solidFill>
                            <a:srgbClr val="E6EDF3"/>
                          </a:solidFill>
                          <a:latin typeface="Segoe UI"/>
                        </a:rPr>
                        <a:t>0.54</a:t>
                      </a:r>
                    </a:p>
                  </a:txBody>
                  <a:tcPr marL="64008" marR="64008" marT="27432" marB="27432" anchor="ctr">
                    <a:solidFill>
                      <a:srgbClr val="11161D"/>
                    </a:solidFill>
                  </a:tcPr>
                </a:tc>
                <a:tc>
                  <a:txBody>
                    <a:bodyPr wrap="square"/>
                    <a:lstStyle/>
                    <a:p>
                      <a:pPr algn="r"/>
                      <a:r>
                        <a:rPr sz="800" b="0">
                          <a:solidFill>
                            <a:srgbClr val="E6EDF3"/>
                          </a:solidFill>
                          <a:latin typeface="Segoe UI"/>
                        </a:rPr>
                        <a:t>621</a:t>
                      </a:r>
                    </a:p>
                  </a:txBody>
                  <a:tcPr marL="64008" marR="64008" marT="27432" marB="27432" anchor="ctr">
                    <a:solidFill>
                      <a:srgbClr val="11161D"/>
                    </a:solidFill>
                  </a:tcPr>
                </a:tc>
              </a:tr>
              <a:tr h="329184">
                <a:tc>
                  <a:txBody>
                    <a:bodyPr wrap="square"/>
                    <a:lstStyle/>
                    <a:p>
                      <a:pPr algn="l"/>
                      <a:r>
                        <a:rPr sz="800" b="0">
                          <a:solidFill>
                            <a:srgbClr val="E6EDF3"/>
                          </a:solidFill>
                          <a:latin typeface="Segoe UI"/>
                        </a:rPr>
                        <a:t>medium</a:t>
                      </a:r>
                    </a:p>
                  </a:txBody>
                  <a:tcPr marL="64008" marR="64008" marT="27432" marB="27432" anchor="ctr">
                    <a:solidFill>
                      <a:srgbClr val="182130"/>
                    </a:solidFill>
                  </a:tcPr>
                </a:tc>
                <a:tc>
                  <a:txBody>
                    <a:bodyPr wrap="square"/>
                    <a:lstStyle/>
                    <a:p>
                      <a:pPr algn="l"/>
                      <a:r>
                        <a:rPr sz="800" b="0">
                          <a:solidFill>
                            <a:srgbClr val="E6EDF3"/>
                          </a:solidFill>
                          <a:latin typeface="Consolas"/>
                        </a:rPr>
                        <a:t>nexus_full</a:t>
                      </a:r>
                    </a:p>
                  </a:txBody>
                  <a:tcPr marL="64008" marR="64008" marT="27432" marB="27432" anchor="ctr">
                    <a:solidFill>
                      <a:srgbClr val="182130"/>
                    </a:solidFill>
                  </a:tcPr>
                </a:tc>
                <a:tc>
                  <a:txBody>
                    <a:bodyPr wrap="square"/>
                    <a:lstStyle/>
                    <a:p>
                      <a:pPr algn="r"/>
                      <a:r>
                        <a:rPr sz="800" b="0">
                          <a:solidFill>
                            <a:srgbClr val="E6EDF3"/>
                          </a:solidFill>
                          <a:latin typeface="Segoe UI"/>
                        </a:rPr>
                        <a:t>1.47%</a:t>
                      </a:r>
                    </a:p>
                  </a:txBody>
                  <a:tcPr marL="64008" marR="64008" marT="27432" marB="27432" anchor="ctr">
                    <a:solidFill>
                      <a:srgbClr val="182130"/>
                    </a:solidFill>
                  </a:tcPr>
                </a:tc>
                <a:tc>
                  <a:txBody>
                    <a:bodyPr wrap="square"/>
                    <a:lstStyle/>
                    <a:p>
                      <a:pPr algn="r"/>
                      <a:r>
                        <a:rPr sz="800" b="0">
                          <a:solidFill>
                            <a:srgbClr val="E6EDF3"/>
                          </a:solidFill>
                          <a:latin typeface="Segoe UI"/>
                        </a:rPr>
                        <a:t>-38.51 pp</a:t>
                      </a:r>
                    </a:p>
                  </a:txBody>
                  <a:tcPr marL="64008" marR="64008" marT="27432" marB="27432" anchor="ctr">
                    <a:solidFill>
                      <a:srgbClr val="182130"/>
                    </a:solidFill>
                  </a:tcPr>
                </a:tc>
                <a:tc>
                  <a:txBody>
                    <a:bodyPr wrap="square"/>
                    <a:lstStyle/>
                    <a:p>
                      <a:pPr algn="r"/>
                      <a:r>
                        <a:rPr sz="800" b="0">
                          <a:solidFill>
                            <a:srgbClr val="E6EDF3"/>
                          </a:solidFill>
                          <a:latin typeface="Segoe UI"/>
                        </a:rPr>
                        <a:t>3.03</a:t>
                      </a:r>
                    </a:p>
                  </a:txBody>
                  <a:tcPr marL="64008" marR="64008" marT="27432" marB="27432" anchor="ctr">
                    <a:solidFill>
                      <a:srgbClr val="182130"/>
                    </a:solidFill>
                  </a:tcPr>
                </a:tc>
                <a:tc>
                  <a:txBody>
                    <a:bodyPr wrap="square"/>
                    <a:lstStyle/>
                    <a:p>
                      <a:pPr algn="r"/>
                      <a:r>
                        <a:rPr sz="800" b="0">
                          <a:solidFill>
                            <a:srgbClr val="E6EDF3"/>
                          </a:solidFill>
                          <a:latin typeface="Segoe UI"/>
                        </a:rPr>
                        <a:t>6.72</a:t>
                      </a:r>
                    </a:p>
                  </a:txBody>
                  <a:tcPr marL="64008" marR="64008" marT="27432" marB="27432" anchor="ctr">
                    <a:solidFill>
                      <a:srgbClr val="182130"/>
                    </a:solidFill>
                  </a:tcPr>
                </a:tc>
                <a:tc>
                  <a:txBody>
                    <a:bodyPr wrap="square"/>
                    <a:lstStyle/>
                    <a:p>
                      <a:pPr algn="r"/>
                      <a:r>
                        <a:rPr sz="800" b="0">
                          <a:solidFill>
                            <a:srgbClr val="E6EDF3"/>
                          </a:solidFill>
                          <a:latin typeface="Segoe UI"/>
                        </a:rPr>
                        <a:t>1006</a:t>
                      </a:r>
                    </a:p>
                  </a:txBody>
                  <a:tcPr marL="64008" marR="64008" marT="27432" marB="27432" anchor="ctr">
                    <a:solidFill>
                      <a:srgbClr val="182130"/>
                    </a:solidFill>
                  </a:tcPr>
                </a:tc>
                <a:tc>
                  <a:txBody>
                    <a:bodyPr wrap="square"/>
                    <a:lstStyle/>
                    <a:p>
                      <a:pPr algn="r"/>
                      <a:r>
                        <a:rPr sz="800" b="0">
                          <a:solidFill>
                            <a:srgbClr val="E6EDF3"/>
                          </a:solidFill>
                          <a:latin typeface="Segoe UI"/>
                        </a:rPr>
                        <a:t>76%</a:t>
                      </a:r>
                    </a:p>
                  </a:txBody>
                  <a:tcPr marL="64008" marR="64008" marT="27432" marB="27432" anchor="ctr">
                    <a:solidFill>
                      <a:srgbClr val="182130"/>
                    </a:solidFill>
                  </a:tcPr>
                </a:tc>
                <a:tc>
                  <a:txBody>
                    <a:bodyPr wrap="square"/>
                    <a:lstStyle/>
                    <a:p>
                      <a:pPr algn="r"/>
                      <a:r>
                        <a:rPr sz="800" b="0">
                          <a:solidFill>
                            <a:srgbClr val="E6EDF3"/>
                          </a:solidFill>
                          <a:latin typeface="Segoe UI"/>
                        </a:rPr>
                        <a:t>0.63</a:t>
                      </a:r>
                    </a:p>
                  </a:txBody>
                  <a:tcPr marL="64008" marR="64008" marT="27432" marB="27432" anchor="ctr">
                    <a:solidFill>
                      <a:srgbClr val="182130"/>
                    </a:solidFill>
                  </a:tcPr>
                </a:tc>
                <a:tc>
                  <a:txBody>
                    <a:bodyPr wrap="square"/>
                    <a:lstStyle/>
                    <a:p>
                      <a:pPr algn="r"/>
                      <a:r>
                        <a:rPr sz="800" b="0">
                          <a:solidFill>
                            <a:srgbClr val="E6EDF3"/>
                          </a:solidFill>
                          <a:latin typeface="Segoe UI"/>
                        </a:rPr>
                        <a:t>112</a:t>
                      </a:r>
                    </a:p>
                  </a:txBody>
                  <a:tcPr marL="64008" marR="64008" marT="27432" marB="27432" anchor="ctr">
                    <a:solidFill>
                      <a:srgbClr val="182130"/>
                    </a:solidFill>
                  </a:tcPr>
                </a:tc>
              </a:tr>
              <a:tr h="329184">
                <a:tc>
                  <a:txBody>
                    <a:bodyPr wrap="square"/>
                    <a:lstStyle/>
                    <a:p>
                      <a:pPr algn="l"/>
                      <a:r>
                        <a:rPr sz="800" b="0">
                          <a:solidFill>
                            <a:srgbClr val="E6EDF3"/>
                          </a:solidFill>
                          <a:latin typeface="Segoe UI"/>
                        </a:rPr>
                        <a:t>large</a:t>
                      </a:r>
                    </a:p>
                  </a:txBody>
                  <a:tcPr marL="64008" marR="64008" marT="27432" marB="27432" anchor="ctr">
                    <a:solidFill>
                      <a:srgbClr val="11161D"/>
                    </a:solidFill>
                  </a:tcPr>
                </a:tc>
                <a:tc>
                  <a:txBody>
                    <a:bodyPr wrap="square"/>
                    <a:lstStyle/>
                    <a:p>
                      <a:pPr algn="l"/>
                      <a:r>
                        <a:rPr sz="800" b="0">
                          <a:solidFill>
                            <a:srgbClr val="E6EDF3"/>
                          </a:solidFill>
                          <a:latin typeface="Consolas"/>
                        </a:rPr>
                        <a:t>baseline</a:t>
                      </a:r>
                    </a:p>
                  </a:txBody>
                  <a:tcPr marL="64008" marR="64008" marT="27432" marB="27432" anchor="ctr">
                    <a:solidFill>
                      <a:srgbClr val="11161D"/>
                    </a:solidFill>
                  </a:tcPr>
                </a:tc>
                <a:tc>
                  <a:txBody>
                    <a:bodyPr wrap="square"/>
                    <a:lstStyle/>
                    <a:p>
                      <a:pPr algn="r"/>
                      <a:r>
                        <a:rPr sz="800" b="0">
                          <a:solidFill>
                            <a:srgbClr val="E6EDF3"/>
                          </a:solidFill>
                          <a:latin typeface="Segoe UI"/>
                        </a:rPr>
                        <a:t>37.57%</a:t>
                      </a:r>
                    </a:p>
                  </a:txBody>
                  <a:tcPr marL="64008" marR="64008" marT="27432" marB="27432" anchor="ctr">
                    <a:solidFill>
                      <a:srgbClr val="11161D"/>
                    </a:solidFill>
                  </a:tcPr>
                </a:tc>
                <a:tc>
                  <a:txBody>
                    <a:bodyPr wrap="square"/>
                    <a:lstStyle/>
                    <a:p>
                      <a:pPr algn="r"/>
                      <a:r>
                        <a:rPr sz="800" b="0">
                          <a:solidFill>
                            <a:srgbClr val="E6EDF3"/>
                          </a:solidFill>
                          <a:latin typeface="Segoe UI"/>
                        </a:rPr>
                        <a:t>+0.00 pp</a:t>
                      </a:r>
                    </a:p>
                  </a:txBody>
                  <a:tcPr marL="64008" marR="64008" marT="27432" marB="27432" anchor="ctr">
                    <a:solidFill>
                      <a:srgbClr val="11161D"/>
                    </a:solidFill>
                  </a:tcPr>
                </a:tc>
                <a:tc>
                  <a:txBody>
                    <a:bodyPr wrap="square"/>
                    <a:lstStyle/>
                    <a:p>
                      <a:pPr algn="r"/>
                      <a:r>
                        <a:rPr sz="800" b="0">
                          <a:solidFill>
                            <a:srgbClr val="E6EDF3"/>
                          </a:solidFill>
                          <a:latin typeface="Segoe UI"/>
                        </a:rPr>
                        <a:t>8.64</a:t>
                      </a:r>
                    </a:p>
                  </a:txBody>
                  <a:tcPr marL="64008" marR="64008" marT="27432" marB="27432" anchor="ctr">
                    <a:solidFill>
                      <a:srgbClr val="11161D"/>
                    </a:solidFill>
                  </a:tcPr>
                </a:tc>
                <a:tc>
                  <a:txBody>
                    <a:bodyPr wrap="square"/>
                    <a:lstStyle/>
                    <a:p>
                      <a:pPr algn="r"/>
                      <a:r>
                        <a:rPr sz="800" b="0">
                          <a:solidFill>
                            <a:srgbClr val="E6EDF3"/>
                          </a:solidFill>
                          <a:latin typeface="Segoe UI"/>
                        </a:rPr>
                        <a:t>22.16</a:t>
                      </a:r>
                    </a:p>
                  </a:txBody>
                  <a:tcPr marL="64008" marR="64008" marT="27432" marB="27432" anchor="ctr">
                    <a:solidFill>
                      <a:srgbClr val="11161D"/>
                    </a:solidFill>
                  </a:tcPr>
                </a:tc>
                <a:tc>
                  <a:txBody>
                    <a:bodyPr wrap="square"/>
                    <a:lstStyle/>
                    <a:p>
                      <a:pPr algn="r"/>
                      <a:r>
                        <a:rPr sz="800" b="0">
                          <a:solidFill>
                            <a:srgbClr val="E6EDF3"/>
                          </a:solidFill>
                          <a:latin typeface="Segoe UI"/>
                        </a:rPr>
                        <a:t>1512</a:t>
                      </a:r>
                    </a:p>
                  </a:txBody>
                  <a:tcPr marL="64008" marR="64008" marT="27432" marB="27432" anchor="ctr">
                    <a:solidFill>
                      <a:srgbClr val="11161D"/>
                    </a:solidFill>
                  </a:tcPr>
                </a:tc>
                <a:tc>
                  <a:txBody>
                    <a:bodyPr wrap="square"/>
                    <a:lstStyle/>
                    <a:p>
                      <a:pPr algn="r"/>
                      <a:r>
                        <a:rPr sz="800" b="0">
                          <a:solidFill>
                            <a:srgbClr val="E6EDF3"/>
                          </a:solidFill>
                          <a:latin typeface="Segoe UI"/>
                        </a:rPr>
                        <a:t>73%</a:t>
                      </a:r>
                    </a:p>
                  </a:txBody>
                  <a:tcPr marL="64008" marR="64008" marT="27432" marB="27432" anchor="ctr">
                    <a:solidFill>
                      <a:srgbClr val="11161D"/>
                    </a:solidFill>
                  </a:tcPr>
                </a:tc>
                <a:tc>
                  <a:txBody>
                    <a:bodyPr wrap="square"/>
                    <a:lstStyle/>
                    <a:p>
                      <a:pPr algn="r"/>
                      <a:r>
                        <a:rPr sz="800" b="0">
                          <a:solidFill>
                            <a:srgbClr val="E6EDF3"/>
                          </a:solidFill>
                          <a:latin typeface="Segoe UI"/>
                        </a:rPr>
                        <a:t>1.57</a:t>
                      </a:r>
                    </a:p>
                  </a:txBody>
                  <a:tcPr marL="64008" marR="64008" marT="27432" marB="27432" anchor="ctr">
                    <a:solidFill>
                      <a:srgbClr val="11161D"/>
                    </a:solidFill>
                  </a:tcPr>
                </a:tc>
                <a:tc>
                  <a:txBody>
                    <a:bodyPr wrap="square"/>
                    <a:lstStyle/>
                    <a:p>
                      <a:pPr algn="r"/>
                      <a:r>
                        <a:rPr sz="800" b="0">
                          <a:solidFill>
                            <a:srgbClr val="E6EDF3"/>
                          </a:solidFill>
                          <a:latin typeface="Segoe UI"/>
                        </a:rPr>
                        <a:t>261</a:t>
                      </a:r>
                    </a:p>
                  </a:txBody>
                  <a:tcPr marL="64008" marR="64008" marT="27432" marB="27432" anchor="ctr">
                    <a:solidFill>
                      <a:srgbClr val="11161D"/>
                    </a:solidFill>
                  </a:tcPr>
                </a:tc>
              </a:tr>
              <a:tr h="329184">
                <a:tc>
                  <a:txBody>
                    <a:bodyPr wrap="square"/>
                    <a:lstStyle/>
                    <a:p>
                      <a:pPr algn="l"/>
                      <a:r>
                        <a:rPr sz="800" b="0">
                          <a:solidFill>
                            <a:srgbClr val="E6EDF3"/>
                          </a:solidFill>
                          <a:latin typeface="Segoe UI"/>
                        </a:rPr>
                        <a:t>large</a:t>
                      </a:r>
                    </a:p>
                  </a:txBody>
                  <a:tcPr marL="64008" marR="64008" marT="27432" marB="27432" anchor="ctr">
                    <a:solidFill>
                      <a:srgbClr val="0E1319"/>
                    </a:solidFill>
                  </a:tcPr>
                </a:tc>
                <a:tc>
                  <a:txBody>
                    <a:bodyPr wrap="square"/>
                    <a:lstStyle/>
                    <a:p>
                      <a:pPr algn="l"/>
                      <a:r>
                        <a:rPr sz="800" b="0">
                          <a:solidFill>
                            <a:srgbClr val="E6EDF3"/>
                          </a:solidFill>
                          <a:latin typeface="Consolas"/>
                        </a:rPr>
                        <a:t>optimized</a:t>
                      </a:r>
                    </a:p>
                  </a:txBody>
                  <a:tcPr marL="64008" marR="64008" marT="27432" marB="27432" anchor="ctr">
                    <a:solidFill>
                      <a:srgbClr val="0E1319"/>
                    </a:solidFill>
                  </a:tcPr>
                </a:tc>
                <a:tc>
                  <a:txBody>
                    <a:bodyPr wrap="square"/>
                    <a:lstStyle/>
                    <a:p>
                      <a:pPr algn="r"/>
                      <a:r>
                        <a:rPr sz="800" b="0">
                          <a:solidFill>
                            <a:srgbClr val="E6EDF3"/>
                          </a:solidFill>
                          <a:latin typeface="Segoe UI"/>
                        </a:rPr>
                        <a:t>1.72%</a:t>
                      </a:r>
                    </a:p>
                  </a:txBody>
                  <a:tcPr marL="64008" marR="64008" marT="27432" marB="27432" anchor="ctr">
                    <a:solidFill>
                      <a:srgbClr val="0E1319"/>
                    </a:solidFill>
                  </a:tcPr>
                </a:tc>
                <a:tc>
                  <a:txBody>
                    <a:bodyPr wrap="square"/>
                    <a:lstStyle/>
                    <a:p>
                      <a:pPr algn="r"/>
                      <a:r>
                        <a:rPr sz="800" b="0">
                          <a:solidFill>
                            <a:srgbClr val="E6EDF3"/>
                          </a:solidFill>
                          <a:latin typeface="Segoe UI"/>
                        </a:rPr>
                        <a:t>-35.85 pp</a:t>
                      </a:r>
                    </a:p>
                  </a:txBody>
                  <a:tcPr marL="64008" marR="64008" marT="27432" marB="27432" anchor="ctr">
                    <a:solidFill>
                      <a:srgbClr val="0E1319"/>
                    </a:solidFill>
                  </a:tcPr>
                </a:tc>
                <a:tc>
                  <a:txBody>
                    <a:bodyPr wrap="square"/>
                    <a:lstStyle/>
                    <a:p>
                      <a:pPr algn="r"/>
                      <a:r>
                        <a:rPr sz="800" b="0">
                          <a:solidFill>
                            <a:srgbClr val="E6EDF3"/>
                          </a:solidFill>
                          <a:latin typeface="Segoe UI"/>
                        </a:rPr>
                        <a:t>2.90</a:t>
                      </a:r>
                    </a:p>
                  </a:txBody>
                  <a:tcPr marL="64008" marR="64008" marT="27432" marB="27432" anchor="ctr">
                    <a:solidFill>
                      <a:srgbClr val="0E1319"/>
                    </a:solidFill>
                  </a:tcPr>
                </a:tc>
                <a:tc>
                  <a:txBody>
                    <a:bodyPr wrap="square"/>
                    <a:lstStyle/>
                    <a:p>
                      <a:pPr algn="r"/>
                      <a:r>
                        <a:rPr sz="800" b="0">
                          <a:solidFill>
                            <a:srgbClr val="E6EDF3"/>
                          </a:solidFill>
                          <a:latin typeface="Segoe UI"/>
                        </a:rPr>
                        <a:t>5.14</a:t>
                      </a:r>
                    </a:p>
                  </a:txBody>
                  <a:tcPr marL="64008" marR="64008" marT="27432" marB="27432" anchor="ctr">
                    <a:solidFill>
                      <a:srgbClr val="0E1319"/>
                    </a:solidFill>
                  </a:tcPr>
                </a:tc>
                <a:tc>
                  <a:txBody>
                    <a:bodyPr wrap="square"/>
                    <a:lstStyle/>
                    <a:p>
                      <a:pPr algn="r"/>
                      <a:r>
                        <a:rPr sz="800" b="0">
                          <a:solidFill>
                            <a:srgbClr val="E6EDF3"/>
                          </a:solidFill>
                          <a:latin typeface="Segoe UI"/>
                        </a:rPr>
                        <a:t>1804</a:t>
                      </a:r>
                    </a:p>
                  </a:txBody>
                  <a:tcPr marL="64008" marR="64008" marT="27432" marB="27432" anchor="ctr">
                    <a:solidFill>
                      <a:srgbClr val="0E1319"/>
                    </a:solidFill>
                  </a:tcPr>
                </a:tc>
                <a:tc>
                  <a:txBody>
                    <a:bodyPr wrap="square"/>
                    <a:lstStyle/>
                    <a:p>
                      <a:pPr algn="r"/>
                      <a:r>
                        <a:rPr sz="800" b="0">
                          <a:solidFill>
                            <a:srgbClr val="E6EDF3"/>
                          </a:solidFill>
                          <a:latin typeface="Segoe UI"/>
                        </a:rPr>
                        <a:t>64%</a:t>
                      </a:r>
                    </a:p>
                  </a:txBody>
                  <a:tcPr marL="64008" marR="64008" marT="27432" marB="27432" anchor="ctr">
                    <a:solidFill>
                      <a:srgbClr val="0E1319"/>
                    </a:solidFill>
                  </a:tcPr>
                </a:tc>
                <a:tc>
                  <a:txBody>
                    <a:bodyPr wrap="square"/>
                    <a:lstStyle/>
                    <a:p>
                      <a:pPr algn="r"/>
                      <a:r>
                        <a:rPr sz="800" b="0">
                          <a:solidFill>
                            <a:srgbClr val="E6EDF3"/>
                          </a:solidFill>
                          <a:latin typeface="Segoe UI"/>
                        </a:rPr>
                        <a:t>1.25</a:t>
                      </a:r>
                    </a:p>
                  </a:txBody>
                  <a:tcPr marL="64008" marR="64008" marT="27432" marB="27432" anchor="ctr">
                    <a:solidFill>
                      <a:srgbClr val="0E1319"/>
                    </a:solidFill>
                  </a:tcPr>
                </a:tc>
                <a:tc>
                  <a:txBody>
                    <a:bodyPr wrap="square"/>
                    <a:lstStyle/>
                    <a:p>
                      <a:pPr algn="r"/>
                      <a:r>
                        <a:rPr sz="800" b="0">
                          <a:solidFill>
                            <a:srgbClr val="E6EDF3"/>
                          </a:solidFill>
                          <a:latin typeface="Segoe UI"/>
                        </a:rPr>
                        <a:t>209</a:t>
                      </a:r>
                    </a:p>
                  </a:txBody>
                  <a:tcPr marL="64008" marR="64008" marT="27432" marB="27432" anchor="ctr">
                    <a:solidFill>
                      <a:srgbClr val="0E1319"/>
                    </a:solidFill>
                  </a:tcPr>
                </a:tc>
              </a:tr>
              <a:tr h="329184">
                <a:tc>
                  <a:txBody>
                    <a:bodyPr wrap="square"/>
                    <a:lstStyle/>
                    <a:p>
                      <a:pPr algn="l"/>
                      <a:r>
                        <a:rPr sz="800" b="0">
                          <a:solidFill>
                            <a:srgbClr val="E6EDF3"/>
                          </a:solidFill>
                          <a:latin typeface="Segoe UI"/>
                        </a:rPr>
                        <a:t>large</a:t>
                      </a:r>
                    </a:p>
                  </a:txBody>
                  <a:tcPr marL="64008" marR="64008" marT="27432" marB="27432" anchor="ctr">
                    <a:solidFill>
                      <a:srgbClr val="11161D"/>
                    </a:solidFill>
                  </a:tcPr>
                </a:tc>
                <a:tc>
                  <a:txBody>
                    <a:bodyPr wrap="square"/>
                    <a:lstStyle/>
                    <a:p>
                      <a:pPr algn="l"/>
                      <a:r>
                        <a:rPr sz="800" b="0">
                          <a:solidFill>
                            <a:srgbClr val="E6EDF3"/>
                          </a:solidFill>
                          <a:latin typeface="Consolas"/>
                        </a:rPr>
                        <a:t>ai_planner</a:t>
                      </a:r>
                    </a:p>
                  </a:txBody>
                  <a:tcPr marL="64008" marR="64008" marT="27432" marB="27432" anchor="ctr">
                    <a:solidFill>
                      <a:srgbClr val="11161D"/>
                    </a:solidFill>
                  </a:tcPr>
                </a:tc>
                <a:tc>
                  <a:txBody>
                    <a:bodyPr wrap="square"/>
                    <a:lstStyle/>
                    <a:p>
                      <a:pPr algn="r"/>
                      <a:r>
                        <a:rPr sz="800" b="0">
                          <a:solidFill>
                            <a:srgbClr val="E6EDF3"/>
                          </a:solidFill>
                          <a:latin typeface="Segoe UI"/>
                        </a:rPr>
                        <a:t>1.63%</a:t>
                      </a:r>
                    </a:p>
                  </a:txBody>
                  <a:tcPr marL="64008" marR="64008" marT="27432" marB="27432" anchor="ctr">
                    <a:solidFill>
                      <a:srgbClr val="11161D"/>
                    </a:solidFill>
                  </a:tcPr>
                </a:tc>
                <a:tc>
                  <a:txBody>
                    <a:bodyPr wrap="square"/>
                    <a:lstStyle/>
                    <a:p>
                      <a:pPr algn="r"/>
                      <a:r>
                        <a:rPr sz="800" b="0">
                          <a:solidFill>
                            <a:srgbClr val="E6EDF3"/>
                          </a:solidFill>
                          <a:latin typeface="Segoe UI"/>
                        </a:rPr>
                        <a:t>-35.94 pp</a:t>
                      </a:r>
                    </a:p>
                  </a:txBody>
                  <a:tcPr marL="64008" marR="64008" marT="27432" marB="27432" anchor="ctr">
                    <a:solidFill>
                      <a:srgbClr val="11161D"/>
                    </a:solidFill>
                  </a:tcPr>
                </a:tc>
                <a:tc>
                  <a:txBody>
                    <a:bodyPr wrap="square"/>
                    <a:lstStyle/>
                    <a:p>
                      <a:pPr algn="r"/>
                      <a:r>
                        <a:rPr sz="800" b="0">
                          <a:solidFill>
                            <a:srgbClr val="E6EDF3"/>
                          </a:solidFill>
                          <a:latin typeface="Segoe UI"/>
                        </a:rPr>
                        <a:t>2.90</a:t>
                      </a:r>
                    </a:p>
                  </a:txBody>
                  <a:tcPr marL="64008" marR="64008" marT="27432" marB="27432" anchor="ctr">
                    <a:solidFill>
                      <a:srgbClr val="11161D"/>
                    </a:solidFill>
                  </a:tcPr>
                </a:tc>
                <a:tc>
                  <a:txBody>
                    <a:bodyPr wrap="square"/>
                    <a:lstStyle/>
                    <a:p>
                      <a:pPr algn="r"/>
                      <a:r>
                        <a:rPr sz="800" b="0">
                          <a:solidFill>
                            <a:srgbClr val="E6EDF3"/>
                          </a:solidFill>
                          <a:latin typeface="Segoe UI"/>
                        </a:rPr>
                        <a:t>5.09</a:t>
                      </a:r>
                    </a:p>
                  </a:txBody>
                  <a:tcPr marL="64008" marR="64008" marT="27432" marB="27432" anchor="ctr">
                    <a:solidFill>
                      <a:srgbClr val="11161D"/>
                    </a:solidFill>
                  </a:tcPr>
                </a:tc>
                <a:tc>
                  <a:txBody>
                    <a:bodyPr wrap="square"/>
                    <a:lstStyle/>
                    <a:p>
                      <a:pPr algn="r"/>
                      <a:r>
                        <a:rPr sz="800" b="0">
                          <a:solidFill>
                            <a:srgbClr val="E6EDF3"/>
                          </a:solidFill>
                          <a:latin typeface="Segoe UI"/>
                        </a:rPr>
                        <a:t>1804</a:t>
                      </a:r>
                    </a:p>
                  </a:txBody>
                  <a:tcPr marL="64008" marR="64008" marT="27432" marB="27432" anchor="ctr">
                    <a:solidFill>
                      <a:srgbClr val="11161D"/>
                    </a:solidFill>
                  </a:tcPr>
                </a:tc>
                <a:tc>
                  <a:txBody>
                    <a:bodyPr wrap="square"/>
                    <a:lstStyle/>
                    <a:p>
                      <a:pPr algn="r"/>
                      <a:r>
                        <a:rPr sz="800" b="0">
                          <a:solidFill>
                            <a:srgbClr val="E6EDF3"/>
                          </a:solidFill>
                          <a:latin typeface="Segoe UI"/>
                        </a:rPr>
                        <a:t>65%</a:t>
                      </a:r>
                    </a:p>
                  </a:txBody>
                  <a:tcPr marL="64008" marR="64008" marT="27432" marB="27432" anchor="ctr">
                    <a:solidFill>
                      <a:srgbClr val="11161D"/>
                    </a:solidFill>
                  </a:tcPr>
                </a:tc>
                <a:tc>
                  <a:txBody>
                    <a:bodyPr wrap="square"/>
                    <a:lstStyle/>
                    <a:p>
                      <a:pPr algn="r"/>
                      <a:r>
                        <a:rPr sz="800" b="0">
                          <a:solidFill>
                            <a:srgbClr val="E6EDF3"/>
                          </a:solidFill>
                          <a:latin typeface="Segoe UI"/>
                        </a:rPr>
                        <a:t>1.24</a:t>
                      </a:r>
                    </a:p>
                  </a:txBody>
                  <a:tcPr marL="64008" marR="64008" marT="27432" marB="27432" anchor="ctr">
                    <a:solidFill>
                      <a:srgbClr val="11161D"/>
                    </a:solidFill>
                  </a:tcPr>
                </a:tc>
                <a:tc>
                  <a:txBody>
                    <a:bodyPr wrap="square"/>
                    <a:lstStyle/>
                    <a:p>
                      <a:pPr algn="r"/>
                      <a:r>
                        <a:rPr sz="800" b="0">
                          <a:solidFill>
                            <a:srgbClr val="E6EDF3"/>
                          </a:solidFill>
                          <a:latin typeface="Segoe UI"/>
                        </a:rPr>
                        <a:t>210</a:t>
                      </a:r>
                    </a:p>
                  </a:txBody>
                  <a:tcPr marL="64008" marR="64008" marT="27432" marB="27432" anchor="ctr">
                    <a:solidFill>
                      <a:srgbClr val="11161D"/>
                    </a:solidFill>
                  </a:tcPr>
                </a:tc>
              </a:tr>
              <a:tr h="329184">
                <a:tc>
                  <a:txBody>
                    <a:bodyPr wrap="square"/>
                    <a:lstStyle/>
                    <a:p>
                      <a:pPr algn="l"/>
                      <a:r>
                        <a:rPr sz="800" b="0">
                          <a:solidFill>
                            <a:srgbClr val="E6EDF3"/>
                          </a:solidFill>
                          <a:latin typeface="Segoe UI"/>
                        </a:rPr>
                        <a:t>large</a:t>
                      </a:r>
                    </a:p>
                  </a:txBody>
                  <a:tcPr marL="64008" marR="64008" marT="27432" marB="27432" anchor="ctr">
                    <a:solidFill>
                      <a:srgbClr val="182130"/>
                    </a:solidFill>
                  </a:tcPr>
                </a:tc>
                <a:tc>
                  <a:txBody>
                    <a:bodyPr wrap="square"/>
                    <a:lstStyle/>
                    <a:p>
                      <a:pPr algn="l"/>
                      <a:r>
                        <a:rPr sz="800" b="0">
                          <a:solidFill>
                            <a:srgbClr val="E6EDF3"/>
                          </a:solidFill>
                          <a:latin typeface="Consolas"/>
                        </a:rPr>
                        <a:t>nexus_full</a:t>
                      </a:r>
                    </a:p>
                  </a:txBody>
                  <a:tcPr marL="64008" marR="64008" marT="27432" marB="27432" anchor="ctr">
                    <a:solidFill>
                      <a:srgbClr val="182130"/>
                    </a:solidFill>
                  </a:tcPr>
                </a:tc>
                <a:tc>
                  <a:txBody>
                    <a:bodyPr wrap="square"/>
                    <a:lstStyle/>
                    <a:p>
                      <a:pPr algn="r"/>
                      <a:r>
                        <a:rPr sz="800" b="0">
                          <a:solidFill>
                            <a:srgbClr val="E6EDF3"/>
                          </a:solidFill>
                          <a:latin typeface="Segoe UI"/>
                        </a:rPr>
                        <a:t>1.54%</a:t>
                      </a:r>
                    </a:p>
                  </a:txBody>
                  <a:tcPr marL="64008" marR="64008" marT="27432" marB="27432" anchor="ctr">
                    <a:solidFill>
                      <a:srgbClr val="182130"/>
                    </a:solidFill>
                  </a:tcPr>
                </a:tc>
                <a:tc>
                  <a:txBody>
                    <a:bodyPr wrap="square"/>
                    <a:lstStyle/>
                    <a:p>
                      <a:pPr algn="r"/>
                      <a:r>
                        <a:rPr sz="800" b="0">
                          <a:solidFill>
                            <a:srgbClr val="E6EDF3"/>
                          </a:solidFill>
                          <a:latin typeface="Segoe UI"/>
                        </a:rPr>
                        <a:t>-36.03 pp</a:t>
                      </a:r>
                    </a:p>
                  </a:txBody>
                  <a:tcPr marL="64008" marR="64008" marT="27432" marB="27432" anchor="ctr">
                    <a:solidFill>
                      <a:srgbClr val="182130"/>
                    </a:solidFill>
                  </a:tcPr>
                </a:tc>
                <a:tc>
                  <a:txBody>
                    <a:bodyPr wrap="square"/>
                    <a:lstStyle/>
                    <a:p>
                      <a:pPr algn="r"/>
                      <a:r>
                        <a:rPr sz="800" b="0">
                          <a:solidFill>
                            <a:srgbClr val="E6EDF3"/>
                          </a:solidFill>
                          <a:latin typeface="Segoe UI"/>
                        </a:rPr>
                        <a:t>2.89</a:t>
                      </a:r>
                    </a:p>
                  </a:txBody>
                  <a:tcPr marL="64008" marR="64008" marT="27432" marB="27432" anchor="ctr">
                    <a:solidFill>
                      <a:srgbClr val="182130"/>
                    </a:solidFill>
                  </a:tcPr>
                </a:tc>
                <a:tc>
                  <a:txBody>
                    <a:bodyPr wrap="square"/>
                    <a:lstStyle/>
                    <a:p>
                      <a:pPr algn="r"/>
                      <a:r>
                        <a:rPr sz="800" b="0">
                          <a:solidFill>
                            <a:srgbClr val="E6EDF3"/>
                          </a:solidFill>
                          <a:latin typeface="Segoe UI"/>
                        </a:rPr>
                        <a:t>5.12</a:t>
                      </a:r>
                    </a:p>
                  </a:txBody>
                  <a:tcPr marL="64008" marR="64008" marT="27432" marB="27432" anchor="ctr">
                    <a:solidFill>
                      <a:srgbClr val="182130"/>
                    </a:solidFill>
                  </a:tcPr>
                </a:tc>
                <a:tc>
                  <a:txBody>
                    <a:bodyPr wrap="square"/>
                    <a:lstStyle/>
                    <a:p>
                      <a:pPr algn="r"/>
                      <a:r>
                        <a:rPr sz="800" b="0">
                          <a:solidFill>
                            <a:srgbClr val="E6EDF3"/>
                          </a:solidFill>
                          <a:latin typeface="Segoe UI"/>
                        </a:rPr>
                        <a:t>1804</a:t>
                      </a:r>
                    </a:p>
                  </a:txBody>
                  <a:tcPr marL="64008" marR="64008" marT="27432" marB="27432" anchor="ctr">
                    <a:solidFill>
                      <a:srgbClr val="182130"/>
                    </a:solidFill>
                  </a:tcPr>
                </a:tc>
                <a:tc>
                  <a:txBody>
                    <a:bodyPr wrap="square"/>
                    <a:lstStyle/>
                    <a:p>
                      <a:pPr algn="r"/>
                      <a:r>
                        <a:rPr sz="800" b="0">
                          <a:solidFill>
                            <a:srgbClr val="E6EDF3"/>
                          </a:solidFill>
                          <a:latin typeface="Segoe UI"/>
                        </a:rPr>
                        <a:t>64%</a:t>
                      </a:r>
                    </a:p>
                  </a:txBody>
                  <a:tcPr marL="64008" marR="64008" marT="27432" marB="27432" anchor="ctr">
                    <a:solidFill>
                      <a:srgbClr val="182130"/>
                    </a:solidFill>
                  </a:tcPr>
                </a:tc>
                <a:tc>
                  <a:txBody>
                    <a:bodyPr wrap="square"/>
                    <a:lstStyle/>
                    <a:p>
                      <a:pPr algn="r"/>
                      <a:r>
                        <a:rPr sz="800" b="0">
                          <a:solidFill>
                            <a:srgbClr val="E6EDF3"/>
                          </a:solidFill>
                          <a:latin typeface="Segoe UI"/>
                        </a:rPr>
                        <a:t>1.24</a:t>
                      </a:r>
                    </a:p>
                  </a:txBody>
                  <a:tcPr marL="64008" marR="64008" marT="27432" marB="27432" anchor="ctr">
                    <a:solidFill>
                      <a:srgbClr val="182130"/>
                    </a:solidFill>
                  </a:tcPr>
                </a:tc>
                <a:tc>
                  <a:txBody>
                    <a:bodyPr wrap="square"/>
                    <a:lstStyle/>
                    <a:p>
                      <a:pPr algn="r"/>
                      <a:r>
                        <a:rPr sz="800" b="0">
                          <a:solidFill>
                            <a:srgbClr val="E6EDF3"/>
                          </a:solidFill>
                          <a:latin typeface="Segoe UI"/>
                        </a:rPr>
                        <a:t>47</a:t>
                      </a:r>
                    </a:p>
                  </a:txBody>
                  <a:tcPr marL="64008" marR="64008" marT="27432" marB="27432" anchor="ctr">
                    <a:solidFill>
                      <a:srgbClr val="182130"/>
                    </a:solidFill>
                  </a:tcPr>
                </a:tc>
              </a:tr>
            </a:tbl>
          </a:graphicData>
        </a:graphic>
      </p:graphicFrame>
      <p:pic>
        <p:nvPicPr>
          <p:cNvPr id="8" name="Picture 7" descr="deck_radar.png"/>
          <p:cNvPicPr>
            <a:picLocks noChangeAspect="1"/>
          </p:cNvPicPr>
          <p:nvPr/>
        </p:nvPicPr>
        <p:blipFill>
          <a:blip r:embed="rId3"/>
          <a:stretch>
            <a:fillRect/>
          </a:stretch>
        </p:blipFill>
        <p:spPr>
          <a:xfrm>
            <a:off x="7178040" y="1371600"/>
            <a:ext cx="4480560" cy="4586364"/>
          </a:xfrm>
          <a:prstGeom prst="rect">
            <a:avLst/>
          </a:prstGeom>
        </p:spPr>
      </p:pic>
      <p:sp>
        <p:nvSpPr>
          <p:cNvPr id="9" name="TextBox 8"/>
          <p:cNvSpPr txBox="1"/>
          <p:nvPr/>
        </p:nvSpPr>
        <p:spPr>
          <a:xfrm>
            <a:off x="548640" y="5989320"/>
            <a:ext cx="11064240" cy="365760"/>
          </a:xfrm>
          <a:prstGeom prst="rect">
            <a:avLst/>
          </a:prstGeom>
          <a:noFill/>
        </p:spPr>
        <p:txBody>
          <a:bodyPr wrap="square" anchor="t" lIns="36576" rIns="36576" tIns="36576" bIns="36576">
            <a:spAutoFit/>
          </a:bodyPr>
          <a:lstStyle/>
          <a:p>
            <a:pPr algn="l">
              <a:lnSpc>
                <a:spcPct val="110000"/>
              </a:lnSpc>
              <a:spcAft>
                <a:spcPts val="400"/>
              </a:spcAft>
            </a:pPr>
            <a:r>
              <a:rPr sz="950" b="0" i="1">
                <a:solidFill>
                  <a:srgbClr val="8B98A5"/>
                </a:solidFill>
                <a:latin typeface="Segoe UI"/>
              </a:rPr>
              <a:t>full benchmark run · normalised radar on the small scale: SLA compliance, speed, tail, throughput, flow and energy per order, each relative to the best strategy.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0D12"/>
        </a:solidFill>
        <a:effectLst/>
      </p:bgPr>
    </p:bg>
    <p:spTree>
      <p:nvGrpSpPr>
        <p:cNvPr id="1" name=""/>
        <p:cNvGrpSpPr/>
        <p:nvPr/>
      </p:nvGrpSpPr>
      <p:grpSpPr/>
      <p:sp>
        <p:nvSpPr>
          <p:cNvPr id="2" name="TextBox 1"/>
          <p:cNvSpPr txBox="1"/>
          <p:nvPr/>
        </p:nvSpPr>
        <p:spPr>
          <a:xfrm>
            <a:off x="548640" y="256032"/>
            <a:ext cx="8229600" cy="274320"/>
          </a:xfrm>
          <a:prstGeom prst="rect">
            <a:avLst/>
          </a:prstGeom>
          <a:noFill/>
        </p:spPr>
        <p:txBody>
          <a:bodyPr wrap="square" anchor="t" lIns="36576" rIns="36576" tIns="36576" bIns="36576">
            <a:spAutoFit/>
          </a:bodyPr>
          <a:lstStyle/>
          <a:p>
            <a:pPr algn="l">
              <a:lnSpc>
                <a:spcPct val="110000"/>
              </a:lnSpc>
              <a:spcAft>
                <a:spcPts val="400"/>
              </a:spcAft>
            </a:pPr>
            <a:r>
              <a:rPr sz="1050" b="1" i="0">
                <a:solidFill>
                  <a:srgbClr val="22D3EE"/>
                </a:solidFill>
                <a:latin typeface="Segoe UI"/>
              </a:rPr>
              <a:t>THE CAPACITY CLIFF</a:t>
            </a:r>
          </a:p>
        </p:txBody>
      </p:sp>
      <p:sp>
        <p:nvSpPr>
          <p:cNvPr id="3" name="TextBox 2"/>
          <p:cNvSpPr txBox="1"/>
          <p:nvPr/>
        </p:nvSpPr>
        <p:spPr>
          <a:xfrm>
            <a:off x="548640" y="502920"/>
            <a:ext cx="10607040" cy="731520"/>
          </a:xfrm>
          <a:prstGeom prst="rect">
            <a:avLst/>
          </a:prstGeom>
          <a:noFill/>
        </p:spPr>
        <p:txBody>
          <a:bodyPr wrap="square" anchor="ctr" lIns="36576" rIns="36576" tIns="36576" bIns="36576">
            <a:spAutoFit/>
          </a:bodyPr>
          <a:lstStyle/>
          <a:p>
            <a:pPr algn="l">
              <a:lnSpc>
                <a:spcPct val="110000"/>
              </a:lnSpc>
              <a:spcAft>
                <a:spcPts val="400"/>
              </a:spcAft>
            </a:pPr>
            <a:r>
              <a:rPr sz="2400" b="1" i="0">
                <a:solidFill>
                  <a:srgbClr val="E6EDF3"/>
                </a:solidFill>
                <a:latin typeface="Segoe UI"/>
              </a:rPr>
              <a:t>Why the naive baseline collapses, and why it matters</a:t>
            </a:r>
          </a:p>
        </p:txBody>
      </p:sp>
      <p:sp>
        <p:nvSpPr>
          <p:cNvPr id="4" name="Rectangle 3"/>
          <p:cNvSpPr/>
          <p:nvPr/>
        </p:nvSpPr>
        <p:spPr>
          <a:xfrm>
            <a:off x="566928" y="1216152"/>
            <a:ext cx="100584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6400800" cy="274320"/>
          </a:xfrm>
          <a:prstGeom prst="rect">
            <a:avLst/>
          </a:prstGeom>
          <a:noFill/>
        </p:spPr>
        <p:txBody>
          <a:bodyPr wrap="square" anchor="t" lIns="36576" rIns="36576" tIns="36576" bIns="36576">
            <a:spAutoFit/>
          </a:bodyPr>
          <a:lstStyle/>
          <a:p>
            <a:pPr algn="l">
              <a:lnSpc>
                <a:spcPct val="110000"/>
              </a:lnSpc>
              <a:spcAft>
                <a:spcPts val="400"/>
              </a:spcAft>
            </a:pPr>
            <a:r>
              <a:rPr sz="950" b="0" i="0">
                <a:solidFill>
                  <a:srgbClr val="8B98A5"/>
                </a:solidFill>
                <a:latin typeface="Segoe UI"/>
              </a:rPr>
              <a:t>NEXUS · Autonomous Operations Intelligence</a:t>
            </a:r>
          </a:p>
        </p:txBody>
      </p:sp>
      <p:sp>
        <p:nvSpPr>
          <p:cNvPr id="6" name="TextBox 5"/>
          <p:cNvSpPr txBox="1"/>
          <p:nvPr/>
        </p:nvSpPr>
        <p:spPr>
          <a:xfrm>
            <a:off x="10607040" y="6446520"/>
            <a:ext cx="1051560" cy="274320"/>
          </a:xfrm>
          <a:prstGeom prst="rect">
            <a:avLst/>
          </a:prstGeom>
          <a:noFill/>
        </p:spPr>
        <p:txBody>
          <a:bodyPr wrap="square" anchor="t" lIns="36576" rIns="36576" tIns="36576" bIns="36576">
            <a:spAutoFit/>
          </a:bodyPr>
          <a:lstStyle/>
          <a:p>
            <a:pPr algn="r">
              <a:lnSpc>
                <a:spcPct val="110000"/>
              </a:lnSpc>
              <a:spcAft>
                <a:spcPts val="400"/>
              </a:spcAft>
            </a:pPr>
            <a:r>
              <a:rPr sz="950" b="0" i="0">
                <a:solidFill>
                  <a:srgbClr val="8B98A5"/>
                </a:solidFill>
                <a:latin typeface="Consolas"/>
              </a:rPr>
              <a:t>23</a:t>
            </a:r>
          </a:p>
        </p:txBody>
      </p:sp>
      <p:pic>
        <p:nvPicPr>
          <p:cNvPr id="7" name="Picture 6" descr="deck_capacity.png"/>
          <p:cNvPicPr>
            <a:picLocks noChangeAspect="1"/>
          </p:cNvPicPr>
          <p:nvPr/>
        </p:nvPicPr>
        <p:blipFill>
          <a:blip r:embed="rId3"/>
          <a:stretch>
            <a:fillRect/>
          </a:stretch>
        </p:blipFill>
        <p:spPr>
          <a:xfrm>
            <a:off x="548640" y="1371600"/>
            <a:ext cx="6949440" cy="4028661"/>
          </a:xfrm>
          <a:prstGeom prst="rect">
            <a:avLst/>
          </a:prstGeom>
        </p:spPr>
      </p:pic>
      <p:sp>
        <p:nvSpPr>
          <p:cNvPr id="8" name="Rounded Rectangle 7"/>
          <p:cNvSpPr/>
          <p:nvPr/>
        </p:nvSpPr>
        <p:spPr>
          <a:xfrm>
            <a:off x="7726679" y="1371600"/>
            <a:ext cx="3931920" cy="443484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54696" y="1463040"/>
            <a:ext cx="3675887" cy="274320"/>
          </a:xfrm>
          <a:prstGeom prst="rect">
            <a:avLst/>
          </a:prstGeom>
          <a:noFill/>
        </p:spPr>
        <p:txBody>
          <a:bodyPr wrap="square" anchor="t" lIns="36576" rIns="36576" tIns="36576" bIns="36576">
            <a:spAutoFit/>
          </a:bodyPr>
          <a:lstStyle/>
          <a:p>
            <a:pPr algn="l">
              <a:lnSpc>
                <a:spcPct val="110000"/>
              </a:lnSpc>
              <a:spcAft>
                <a:spcPts val="400"/>
              </a:spcAft>
            </a:pPr>
            <a:r>
              <a:rPr sz="950" b="1" i="0">
                <a:solidFill>
                  <a:srgbClr val="22D3EE"/>
                </a:solidFill>
                <a:latin typeface="Segoe UI"/>
              </a:rPr>
              <a:t>READING THE CURVE</a:t>
            </a:r>
          </a:p>
        </p:txBody>
      </p:sp>
      <p:sp>
        <p:nvSpPr>
          <p:cNvPr id="10" name="TextBox 9"/>
          <p:cNvSpPr txBox="1"/>
          <p:nvPr/>
        </p:nvSpPr>
        <p:spPr>
          <a:xfrm>
            <a:off x="7818120" y="1737360"/>
            <a:ext cx="3749039" cy="4023360"/>
          </a:xfrm>
          <a:prstGeom prst="rect">
            <a:avLst/>
          </a:prstGeom>
          <a:noFill/>
        </p:spPr>
        <p:txBody>
          <a:bodyPr wrap="square" lIns="45720" rIns="45720">
            <a:spAutoFit/>
          </a:bodyPr>
          <a:lstStyle/>
          <a:p>
            <a:pPr>
              <a:lnSpc>
                <a:spcPct val="112000"/>
              </a:lnSpc>
              <a:spcAft>
                <a:spcPts val="600"/>
              </a:spcAft>
            </a:pPr>
            <a:r>
              <a:rPr sz="1050" b="1">
                <a:solidFill>
                  <a:srgbClr val="22D3EE"/>
                </a:solidFill>
                <a:latin typeface="Segoe UI"/>
              </a:rPr>
              <a:t>•  </a:t>
            </a:r>
            <a:r>
              <a:rPr b="1" sz="1050">
                <a:solidFill>
                  <a:srgbClr val="E6EDF3"/>
                </a:solidFill>
                <a:latin typeface="Segoe UI"/>
              </a:rPr>
              <a:t>A queueing cliff. </a:t>
            </a:r>
            <a:r>
              <a:rPr sz="1050">
                <a:solidFill>
                  <a:srgbClr val="E6EDF3"/>
                </a:solidFill>
                <a:latin typeface="Segoe UI"/>
              </a:rPr>
              <a:t>past capacity, backlog and lateness explode; below it, SLAs are trivially met.</a:t>
            </a:r>
          </a:p>
          <a:p>
            <a:pPr>
              <a:lnSpc>
                <a:spcPct val="112000"/>
              </a:lnSpc>
              <a:spcAft>
                <a:spcPts val="600"/>
              </a:spcAft>
            </a:pPr>
            <a:r>
              <a:rPr sz="1050" b="1">
                <a:solidFill>
                  <a:srgbClr val="22D3EE"/>
                </a:solidFill>
                <a:latin typeface="Segoe UI"/>
              </a:rPr>
              <a:t>•  </a:t>
            </a:r>
            <a:r>
              <a:rPr b="1" sz="1050">
                <a:solidFill>
                  <a:srgbClr val="E6EDF3"/>
                </a:solidFill>
                <a:latin typeface="Segoe UI"/>
              </a:rPr>
              <a:t>Same robots, same orders. </a:t>
            </a:r>
            <a:r>
              <a:rPr sz="1050">
                <a:solidFill>
                  <a:srgbClr val="E6EDF3"/>
                </a:solidFill>
                <a:latin typeface="Segoe UI"/>
              </a:rPr>
              <a:t>the only difference between the two solid lines is the scheduler.</a:t>
            </a:r>
          </a:p>
          <a:p>
            <a:pPr>
              <a:lnSpc>
                <a:spcPct val="112000"/>
              </a:lnSpc>
              <a:spcAft>
                <a:spcPts val="600"/>
              </a:spcAft>
            </a:pPr>
            <a:r>
              <a:rPr sz="1050" b="1">
                <a:solidFill>
                  <a:srgbClr val="22D3EE"/>
                </a:solidFill>
                <a:latin typeface="Segoe UI"/>
              </a:rPr>
              <a:t>•  </a:t>
            </a:r>
            <a:r>
              <a:rPr b="1" sz="1050">
                <a:solidFill>
                  <a:srgbClr val="E6EDF3"/>
                </a:solidFill>
                <a:latin typeface="Segoe UI"/>
              </a:rPr>
              <a:t>Batching ≈ 2× capacity. </a:t>
            </a:r>
            <a:r>
              <a:rPr sz="1050">
                <a:solidFill>
                  <a:srgbClr val="E6EDF3"/>
                </a:solidFill>
                <a:latin typeface="Segoe UI"/>
              </a:rPr>
              <a:t>2–4 orders per trip amortise travel — the single biggest lever before buying hardware.</a:t>
            </a:r>
          </a:p>
          <a:p>
            <a:pPr>
              <a:lnSpc>
                <a:spcPct val="112000"/>
              </a:lnSpc>
              <a:spcAft>
                <a:spcPts val="600"/>
              </a:spcAft>
            </a:pPr>
            <a:r>
              <a:rPr sz="1050" b="1">
                <a:solidFill>
                  <a:srgbClr val="22D3EE"/>
                </a:solidFill>
                <a:latin typeface="Segoe UI"/>
              </a:rPr>
              <a:t>•  </a:t>
            </a:r>
            <a:r>
              <a:rPr b="1" sz="1050">
                <a:solidFill>
                  <a:srgbClr val="E6EDF3"/>
                </a:solidFill>
                <a:latin typeface="Segoe UI"/>
              </a:rPr>
              <a:t>Resilience. </a:t>
            </a:r>
            <a:r>
              <a:rPr sz="1050">
                <a:solidFill>
                  <a:srgbClr val="E6EDF3"/>
                </a:solidFill>
                <a:latin typeface="Segoe UI"/>
              </a:rPr>
              <a:t>dashed lines add an R07 failure at +30 min; the optimized scheduler absorbs it until the cliff.</a:t>
            </a:r>
          </a:p>
          <a:p>
            <a:pPr>
              <a:lnSpc>
                <a:spcPct val="112000"/>
              </a:lnSpc>
              <a:spcAft>
                <a:spcPts val="600"/>
              </a:spcAft>
            </a:pPr>
            <a:r>
              <a:rPr sz="1050" b="1">
                <a:solidFill>
                  <a:srgbClr val="22D3EE"/>
                </a:solidFill>
                <a:latin typeface="Segoe UI"/>
              </a:rPr>
              <a:t>•  </a:t>
            </a:r>
            <a:r>
              <a:rPr b="1" sz="1050">
                <a:solidFill>
                  <a:srgbClr val="E6EDF3"/>
                </a:solidFill>
                <a:latin typeface="Segoe UI"/>
              </a:rPr>
              <a:t>Design consequence. </a:t>
            </a:r>
            <a:r>
              <a:rPr sz="1050">
                <a:solidFill>
                  <a:srgbClr val="E6EDF3"/>
                </a:solidFill>
                <a:latin typeface="Segoe UI"/>
              </a:rPr>
              <a:t>the benchmark's incident schedule is set where the naive scheduler is near its cliff — that is where decisions matter.</a:t>
            </a:r>
          </a:p>
        </p:txBody>
      </p:sp>
      <p:sp>
        <p:nvSpPr>
          <p:cNvPr id="11" name="TextBox 10"/>
          <p:cNvSpPr txBox="1"/>
          <p:nvPr/>
        </p:nvSpPr>
        <p:spPr>
          <a:xfrm>
            <a:off x="548640" y="5943600"/>
            <a:ext cx="6949440" cy="365760"/>
          </a:xfrm>
          <a:prstGeom prst="rect">
            <a:avLst/>
          </a:prstGeom>
          <a:noFill/>
        </p:spPr>
        <p:txBody>
          <a:bodyPr wrap="square" anchor="t" lIns="36576" rIns="36576" tIns="36576" bIns="36576">
            <a:spAutoFit/>
          </a:bodyPr>
          <a:lstStyle/>
          <a:p>
            <a:pPr algn="l">
              <a:lnSpc>
                <a:spcPct val="110000"/>
              </a:lnSpc>
              <a:spcAft>
                <a:spcPts val="400"/>
              </a:spcAft>
            </a:pPr>
            <a:r>
              <a:rPr sz="850" b="0" i="1">
                <a:solidFill>
                  <a:srgbClr val="8B98A5"/>
                </a:solidFill>
                <a:latin typeface="Segoe UI"/>
              </a:rPr>
              <a:t>Small world (12 robots), flat x1.2 demand profile, 90 simulated minutes, seed 42; 'fail' = R07 motor fault at +30 min (45 min recovery). Projected SLA breach = late delivered + open-overdue over delivered + open.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0D12"/>
        </a:solidFill>
        <a:effectLst/>
      </p:bgPr>
    </p:bg>
    <p:spTree>
      <p:nvGrpSpPr>
        <p:cNvPr id="1" name=""/>
        <p:cNvGrpSpPr/>
        <p:nvPr/>
      </p:nvGrpSpPr>
      <p:grpSpPr/>
      <p:sp>
        <p:nvSpPr>
          <p:cNvPr id="2" name="TextBox 1"/>
          <p:cNvSpPr txBox="1"/>
          <p:nvPr/>
        </p:nvSpPr>
        <p:spPr>
          <a:xfrm>
            <a:off x="548640" y="256032"/>
            <a:ext cx="8229600" cy="274320"/>
          </a:xfrm>
          <a:prstGeom prst="rect">
            <a:avLst/>
          </a:prstGeom>
          <a:noFill/>
        </p:spPr>
        <p:txBody>
          <a:bodyPr wrap="square" anchor="t" lIns="36576" rIns="36576" tIns="36576" bIns="36576">
            <a:spAutoFit/>
          </a:bodyPr>
          <a:lstStyle/>
          <a:p>
            <a:pPr algn="l">
              <a:lnSpc>
                <a:spcPct val="110000"/>
              </a:lnSpc>
              <a:spcAft>
                <a:spcPts val="400"/>
              </a:spcAft>
            </a:pPr>
            <a:r>
              <a:rPr sz="1050" b="1" i="0">
                <a:solidFill>
                  <a:srgbClr val="22D3EE"/>
                </a:solidFill>
                <a:latin typeface="Segoe UI"/>
              </a:rPr>
              <a:t>ENGINEERING QUALITY</a:t>
            </a:r>
          </a:p>
        </p:txBody>
      </p:sp>
      <p:sp>
        <p:nvSpPr>
          <p:cNvPr id="3" name="TextBox 2"/>
          <p:cNvSpPr txBox="1"/>
          <p:nvPr/>
        </p:nvSpPr>
        <p:spPr>
          <a:xfrm>
            <a:off x="548640" y="502920"/>
            <a:ext cx="10607040" cy="731520"/>
          </a:xfrm>
          <a:prstGeom prst="rect">
            <a:avLst/>
          </a:prstGeom>
          <a:noFill/>
        </p:spPr>
        <p:txBody>
          <a:bodyPr wrap="square" anchor="ctr" lIns="36576" rIns="36576" tIns="36576" bIns="36576">
            <a:spAutoFit/>
          </a:bodyPr>
          <a:lstStyle/>
          <a:p>
            <a:pPr algn="l">
              <a:lnSpc>
                <a:spcPct val="110000"/>
              </a:lnSpc>
              <a:spcAft>
                <a:spcPts val="400"/>
              </a:spcAft>
            </a:pPr>
            <a:r>
              <a:rPr sz="2800" b="1" i="0">
                <a:solidFill>
                  <a:srgbClr val="E6EDF3"/>
                </a:solidFill>
                <a:latin typeface="Segoe UI"/>
              </a:rPr>
              <a:t>Tested, typed, deterministic, containerised</a:t>
            </a:r>
          </a:p>
        </p:txBody>
      </p:sp>
      <p:sp>
        <p:nvSpPr>
          <p:cNvPr id="4" name="Rectangle 3"/>
          <p:cNvSpPr/>
          <p:nvPr/>
        </p:nvSpPr>
        <p:spPr>
          <a:xfrm>
            <a:off x="566928" y="1216152"/>
            <a:ext cx="100584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6400800" cy="274320"/>
          </a:xfrm>
          <a:prstGeom prst="rect">
            <a:avLst/>
          </a:prstGeom>
          <a:noFill/>
        </p:spPr>
        <p:txBody>
          <a:bodyPr wrap="square" anchor="t" lIns="36576" rIns="36576" tIns="36576" bIns="36576">
            <a:spAutoFit/>
          </a:bodyPr>
          <a:lstStyle/>
          <a:p>
            <a:pPr algn="l">
              <a:lnSpc>
                <a:spcPct val="110000"/>
              </a:lnSpc>
              <a:spcAft>
                <a:spcPts val="400"/>
              </a:spcAft>
            </a:pPr>
            <a:r>
              <a:rPr sz="950" b="0" i="0">
                <a:solidFill>
                  <a:srgbClr val="8B98A5"/>
                </a:solidFill>
                <a:latin typeface="Segoe UI"/>
              </a:rPr>
              <a:t>NEXUS · Autonomous Operations Intelligence</a:t>
            </a:r>
          </a:p>
        </p:txBody>
      </p:sp>
      <p:sp>
        <p:nvSpPr>
          <p:cNvPr id="6" name="TextBox 5"/>
          <p:cNvSpPr txBox="1"/>
          <p:nvPr/>
        </p:nvSpPr>
        <p:spPr>
          <a:xfrm>
            <a:off x="10607040" y="6446520"/>
            <a:ext cx="1051560" cy="274320"/>
          </a:xfrm>
          <a:prstGeom prst="rect">
            <a:avLst/>
          </a:prstGeom>
          <a:noFill/>
        </p:spPr>
        <p:txBody>
          <a:bodyPr wrap="square" anchor="t" lIns="36576" rIns="36576" tIns="36576" bIns="36576">
            <a:spAutoFit/>
          </a:bodyPr>
          <a:lstStyle/>
          <a:p>
            <a:pPr algn="r">
              <a:lnSpc>
                <a:spcPct val="110000"/>
              </a:lnSpc>
              <a:spcAft>
                <a:spcPts val="400"/>
              </a:spcAft>
            </a:pPr>
            <a:r>
              <a:rPr sz="950" b="0" i="0">
                <a:solidFill>
                  <a:srgbClr val="8B98A5"/>
                </a:solidFill>
                <a:latin typeface="Consolas"/>
              </a:rPr>
              <a:t>24</a:t>
            </a:r>
          </a:p>
        </p:txBody>
      </p:sp>
      <p:graphicFrame>
        <p:nvGraphicFramePr>
          <p:cNvPr id="7" name="Chart 6"/>
          <p:cNvGraphicFramePr>
            <a:graphicFrameLocks noGrp="1"/>
          </p:cNvGraphicFramePr>
          <p:nvPr/>
        </p:nvGraphicFramePr>
        <p:xfrm>
          <a:off x="365760" y="1325880"/>
          <a:ext cx="5486400" cy="3931920"/>
        </p:xfrm>
        <a:graphic>
          <a:graphicData uri="http://schemas.openxmlformats.org/drawingml/2006/chart">
            <c:chart xmlns:c="http://schemas.openxmlformats.org/drawingml/2006/chart" r:id="rId3"/>
          </a:graphicData>
        </a:graphic>
      </p:graphicFrame>
      <p:sp>
        <p:nvSpPr>
          <p:cNvPr id="8" name="TextBox 7"/>
          <p:cNvSpPr txBox="1"/>
          <p:nvPr/>
        </p:nvSpPr>
        <p:spPr>
          <a:xfrm>
            <a:off x="548640" y="5212080"/>
            <a:ext cx="5303520" cy="365760"/>
          </a:xfrm>
          <a:prstGeom prst="rect">
            <a:avLst/>
          </a:prstGeom>
          <a:noFill/>
        </p:spPr>
        <p:txBody>
          <a:bodyPr wrap="square" anchor="t" lIns="36576" rIns="36576" tIns="36576" bIns="36576">
            <a:spAutoFit/>
          </a:bodyPr>
          <a:lstStyle/>
          <a:p>
            <a:pPr algn="ctr">
              <a:lnSpc>
                <a:spcPct val="110000"/>
              </a:lnSpc>
              <a:spcAft>
                <a:spcPts val="400"/>
              </a:spcAft>
            </a:pPr>
            <a:r>
              <a:rPr sz="1000" b="0" i="0">
                <a:solidFill>
                  <a:srgbClr val="8B98A5"/>
                </a:solidFill>
                <a:latin typeface="Segoe UI"/>
              </a:rPr>
              <a:t>92 tests in 9 files — share by area</a:t>
            </a:r>
          </a:p>
        </p:txBody>
      </p:sp>
      <p:sp>
        <p:nvSpPr>
          <p:cNvPr id="9" name="TextBox 8"/>
          <p:cNvSpPr txBox="1"/>
          <p:nvPr/>
        </p:nvSpPr>
        <p:spPr>
          <a:xfrm>
            <a:off x="6126480" y="1417320"/>
            <a:ext cx="5532120" cy="3931920"/>
          </a:xfrm>
          <a:prstGeom prst="rect">
            <a:avLst/>
          </a:prstGeom>
          <a:noFill/>
        </p:spPr>
        <p:txBody>
          <a:bodyPr wrap="square" lIns="45720" rIns="45720">
            <a:spAutoFit/>
          </a:bodyPr>
          <a:lstStyle/>
          <a:p>
            <a:pPr>
              <a:lnSpc>
                <a:spcPct val="112000"/>
              </a:lnSpc>
              <a:spcAft>
                <a:spcPts val="600"/>
              </a:spcAft>
            </a:pPr>
            <a:r>
              <a:rPr sz="1100" b="1">
                <a:solidFill>
                  <a:srgbClr val="22D3EE"/>
                </a:solidFill>
                <a:latin typeface="Segoe UI"/>
              </a:rPr>
              <a:t>•  </a:t>
            </a:r>
            <a:r>
              <a:rPr b="1" sz="1100">
                <a:solidFill>
                  <a:srgbClr val="E6EDF3"/>
                </a:solidFill>
                <a:latin typeface="Segoe UI"/>
              </a:rPr>
              <a:t>Determinism gates. </a:t>
            </a:r>
            <a:r>
              <a:rPr sz="1100">
                <a:solidFill>
                  <a:srgbClr val="E6EDF3"/>
                </a:solidFill>
                <a:latin typeface="Segoe UI"/>
              </a:rPr>
              <a:t>same seed ⇒ identical digest · fork continues identically · replay from snapshot + external events reproduces the digest.</a:t>
            </a:r>
          </a:p>
          <a:p>
            <a:pPr>
              <a:lnSpc>
                <a:spcPct val="112000"/>
              </a:lnSpc>
              <a:spcAft>
                <a:spcPts val="600"/>
              </a:spcAft>
            </a:pPr>
            <a:r>
              <a:rPr sz="1100" b="1">
                <a:solidFill>
                  <a:srgbClr val="22D3EE"/>
                </a:solidFill>
                <a:latin typeface="Segoe UI"/>
              </a:rPr>
              <a:t>•  </a:t>
            </a:r>
            <a:r>
              <a:rPr b="1" sz="1100">
                <a:solidFill>
                  <a:srgbClr val="E6EDF3"/>
                </a:solidFill>
                <a:latin typeface="Segoe UI"/>
              </a:rPr>
              <a:t>Static quality. </a:t>
            </a:r>
            <a:r>
              <a:rPr sz="1100">
                <a:solidFill>
                  <a:srgbClr val="E6EDF3"/>
                </a:solidFill>
                <a:latin typeface="Segoe UI"/>
              </a:rPr>
              <a:t>ruff (lint + format) and mypy clean across 87 source files; TypeScript strict, ESLint clean.</a:t>
            </a:r>
          </a:p>
          <a:p>
            <a:pPr>
              <a:lnSpc>
                <a:spcPct val="112000"/>
              </a:lnSpc>
              <a:spcAft>
                <a:spcPts val="600"/>
              </a:spcAft>
            </a:pPr>
            <a:r>
              <a:rPr sz="1100" b="1">
                <a:solidFill>
                  <a:srgbClr val="22D3EE"/>
                </a:solidFill>
                <a:latin typeface="Segoe UI"/>
              </a:rPr>
              <a:t>•  </a:t>
            </a:r>
            <a:r>
              <a:rPr b="1" sz="1100">
                <a:solidFill>
                  <a:srgbClr val="E6EDF3"/>
                </a:solidFill>
                <a:latin typeface="Segoe UI"/>
              </a:rPr>
              <a:t>CI (GitHub Actions). </a:t>
            </a:r>
            <a:r>
              <a:rPr sz="1100">
                <a:solidFill>
                  <a:srgbClr val="E6EDF3"/>
                </a:solidFill>
                <a:latin typeface="Segoe UI"/>
              </a:rPr>
              <a:t>backend: ruff · mypy · pytest with coverage · determinism smoke · micro-benchmark; frontend: lint · typecheck · build; docker: both images.</a:t>
            </a:r>
          </a:p>
          <a:p>
            <a:pPr>
              <a:lnSpc>
                <a:spcPct val="112000"/>
              </a:lnSpc>
              <a:spcAft>
                <a:spcPts val="600"/>
              </a:spcAft>
            </a:pPr>
            <a:r>
              <a:rPr sz="1100" b="1">
                <a:solidFill>
                  <a:srgbClr val="22D3EE"/>
                </a:solidFill>
                <a:latin typeface="Segoe UI"/>
              </a:rPr>
              <a:t>•  </a:t>
            </a:r>
            <a:r>
              <a:rPr b="1" sz="1100">
                <a:solidFill>
                  <a:srgbClr val="E6EDF3"/>
                </a:solidFill>
                <a:latin typeface="Segoe UI"/>
              </a:rPr>
              <a:t>Contract-first API. </a:t>
            </a:r>
            <a:r>
              <a:rPr sz="1100">
                <a:solidFill>
                  <a:srgbClr val="E6EDF3"/>
                </a:solidFill>
                <a:latin typeface="Segoe UI"/>
              </a:rPr>
              <a:t>pydantic schemas → OpenAPI → TypeScript mirrors; WebSocket frames documented.</a:t>
            </a:r>
          </a:p>
          <a:p>
            <a:pPr>
              <a:lnSpc>
                <a:spcPct val="112000"/>
              </a:lnSpc>
              <a:spcAft>
                <a:spcPts val="600"/>
              </a:spcAft>
            </a:pPr>
            <a:r>
              <a:rPr sz="1100" b="1">
                <a:solidFill>
                  <a:srgbClr val="22D3EE"/>
                </a:solidFill>
                <a:latin typeface="Segoe UI"/>
              </a:rPr>
              <a:t>•  </a:t>
            </a:r>
            <a:r>
              <a:rPr b="1" sz="1100">
                <a:solidFill>
                  <a:srgbClr val="E6EDF3"/>
                </a:solidFill>
                <a:latin typeface="Segoe UI"/>
              </a:rPr>
              <a:t>Operations. </a:t>
            </a:r>
            <a:r>
              <a:rPr sz="1100">
                <a:solidFill>
                  <a:srgbClr val="E6EDF3"/>
                </a:solidFill>
                <a:latin typeface="Segoe UI"/>
              </a:rPr>
              <a:t>Docker Compose stack (7 services), Prometheus metrics + Grafana dashboard, OpenTelemetry tracing, PostgreSQL persistence; backend image 1.43 GB.</a:t>
            </a:r>
          </a:p>
          <a:p>
            <a:pPr>
              <a:lnSpc>
                <a:spcPct val="112000"/>
              </a:lnSpc>
              <a:spcAft>
                <a:spcPts val="600"/>
              </a:spcAft>
            </a:pPr>
            <a:r>
              <a:rPr sz="1100" b="1">
                <a:solidFill>
                  <a:srgbClr val="22D3EE"/>
                </a:solidFill>
                <a:latin typeface="Segoe UI"/>
              </a:rPr>
              <a:t>•  </a:t>
            </a:r>
            <a:r>
              <a:rPr b="1" sz="1100">
                <a:solidFill>
                  <a:srgbClr val="E6EDF3"/>
                </a:solidFill>
                <a:latin typeface="Segoe UI"/>
              </a:rPr>
              <a:t>Local-first. </a:t>
            </a:r>
            <a:r>
              <a:rPr sz="1100">
                <a:solidFill>
                  <a:srgbClr val="E6EDF3"/>
                </a:solidFill>
                <a:latin typeface="Segoe UI"/>
              </a:rPr>
              <a:t>everything — including the LLM — runs on one laptop with zero paid APIs.</a:t>
            </a:r>
          </a:p>
        </p:txBody>
      </p:sp>
      <p:sp>
        <p:nvSpPr>
          <p:cNvPr id="10" name="Rounded Rectangle 9"/>
          <p:cNvSpPr/>
          <p:nvPr/>
        </p:nvSpPr>
        <p:spPr>
          <a:xfrm>
            <a:off x="548640" y="5577840"/>
            <a:ext cx="2651760" cy="73152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5669279"/>
            <a:ext cx="2432304" cy="402336"/>
          </a:xfrm>
          <a:prstGeom prst="rect">
            <a:avLst/>
          </a:prstGeom>
          <a:noFill/>
        </p:spPr>
        <p:txBody>
          <a:bodyPr wrap="square" anchor="ctr" lIns="36576" rIns="36576" tIns="36576" bIns="36576">
            <a:spAutoFit/>
          </a:bodyPr>
          <a:lstStyle/>
          <a:p>
            <a:pPr algn="l">
              <a:lnSpc>
                <a:spcPct val="110000"/>
              </a:lnSpc>
              <a:spcAft>
                <a:spcPts val="400"/>
              </a:spcAft>
            </a:pPr>
            <a:r>
              <a:rPr sz="1800" b="1" i="0">
                <a:solidFill>
                  <a:srgbClr val="22D3EE"/>
                </a:solidFill>
                <a:latin typeface="Consolas"/>
              </a:rPr>
              <a:t>92</a:t>
            </a:r>
          </a:p>
        </p:txBody>
      </p:sp>
      <p:sp>
        <p:nvSpPr>
          <p:cNvPr id="12" name="TextBox 11"/>
          <p:cNvSpPr txBox="1"/>
          <p:nvPr/>
        </p:nvSpPr>
        <p:spPr>
          <a:xfrm>
            <a:off x="658368" y="6002121"/>
            <a:ext cx="2432304" cy="292608"/>
          </a:xfrm>
          <a:prstGeom prst="rect">
            <a:avLst/>
          </a:prstGeom>
          <a:noFill/>
        </p:spPr>
        <p:txBody>
          <a:bodyPr wrap="square" anchor="t" lIns="36576" rIns="36576" tIns="36576" bIns="36576">
            <a:spAutoFit/>
          </a:bodyPr>
          <a:lstStyle/>
          <a:p>
            <a:pPr algn="l">
              <a:lnSpc>
                <a:spcPct val="105000"/>
              </a:lnSpc>
              <a:spcAft>
                <a:spcPts val="400"/>
              </a:spcAft>
            </a:pPr>
            <a:r>
              <a:rPr sz="1000" b="0" i="0">
                <a:solidFill>
                  <a:srgbClr val="8B98A5"/>
                </a:solidFill>
                <a:latin typeface="Segoe UI"/>
              </a:rPr>
              <a:t>tests passing</a:t>
            </a:r>
          </a:p>
        </p:txBody>
      </p:sp>
      <p:sp>
        <p:nvSpPr>
          <p:cNvPr id="13" name="Rounded Rectangle 12"/>
          <p:cNvSpPr/>
          <p:nvPr/>
        </p:nvSpPr>
        <p:spPr>
          <a:xfrm>
            <a:off x="3346704" y="5577840"/>
            <a:ext cx="2651760" cy="73152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56432" y="5669279"/>
            <a:ext cx="2432304" cy="402336"/>
          </a:xfrm>
          <a:prstGeom prst="rect">
            <a:avLst/>
          </a:prstGeom>
          <a:noFill/>
        </p:spPr>
        <p:txBody>
          <a:bodyPr wrap="square" anchor="ctr" lIns="36576" rIns="36576" tIns="36576" bIns="36576">
            <a:spAutoFit/>
          </a:bodyPr>
          <a:lstStyle/>
          <a:p>
            <a:pPr algn="l">
              <a:lnSpc>
                <a:spcPct val="110000"/>
              </a:lnSpc>
              <a:spcAft>
                <a:spcPts val="400"/>
              </a:spcAft>
            </a:pPr>
            <a:r>
              <a:rPr sz="1800" b="1" i="0">
                <a:solidFill>
                  <a:srgbClr val="22D3EE"/>
                </a:solidFill>
                <a:latin typeface="Consolas"/>
              </a:rPr>
              <a:t>87</a:t>
            </a:r>
          </a:p>
        </p:txBody>
      </p:sp>
      <p:sp>
        <p:nvSpPr>
          <p:cNvPr id="15" name="TextBox 14"/>
          <p:cNvSpPr txBox="1"/>
          <p:nvPr/>
        </p:nvSpPr>
        <p:spPr>
          <a:xfrm>
            <a:off x="3456432" y="6002121"/>
            <a:ext cx="2432304" cy="292608"/>
          </a:xfrm>
          <a:prstGeom prst="rect">
            <a:avLst/>
          </a:prstGeom>
          <a:noFill/>
        </p:spPr>
        <p:txBody>
          <a:bodyPr wrap="square" anchor="t" lIns="36576" rIns="36576" tIns="36576" bIns="36576">
            <a:spAutoFit/>
          </a:bodyPr>
          <a:lstStyle/>
          <a:p>
            <a:pPr algn="l">
              <a:lnSpc>
                <a:spcPct val="105000"/>
              </a:lnSpc>
              <a:spcAft>
                <a:spcPts val="400"/>
              </a:spcAft>
            </a:pPr>
            <a:r>
              <a:rPr sz="1000" b="0" i="0">
                <a:solidFill>
                  <a:srgbClr val="8B98A5"/>
                </a:solidFill>
                <a:latin typeface="Segoe UI"/>
              </a:rPr>
              <a:t>typed source files</a:t>
            </a:r>
          </a:p>
        </p:txBody>
      </p:sp>
      <p:sp>
        <p:nvSpPr>
          <p:cNvPr id="16" name="Rounded Rectangle 15"/>
          <p:cNvSpPr/>
          <p:nvPr/>
        </p:nvSpPr>
        <p:spPr>
          <a:xfrm>
            <a:off x="6144768" y="5577840"/>
            <a:ext cx="2651760" cy="73152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54496" y="5669279"/>
            <a:ext cx="2432304" cy="402336"/>
          </a:xfrm>
          <a:prstGeom prst="rect">
            <a:avLst/>
          </a:prstGeom>
          <a:noFill/>
        </p:spPr>
        <p:txBody>
          <a:bodyPr wrap="square" anchor="ctr" lIns="36576" rIns="36576" tIns="36576" bIns="36576">
            <a:spAutoFit/>
          </a:bodyPr>
          <a:lstStyle/>
          <a:p>
            <a:pPr algn="l">
              <a:lnSpc>
                <a:spcPct val="110000"/>
              </a:lnSpc>
              <a:spcAft>
                <a:spcPts val="400"/>
              </a:spcAft>
            </a:pPr>
            <a:r>
              <a:rPr sz="1800" b="1" i="0">
                <a:solidFill>
                  <a:srgbClr val="22D3EE"/>
                </a:solidFill>
                <a:latin typeface="Consolas"/>
              </a:rPr>
              <a:t>3</a:t>
            </a:r>
          </a:p>
        </p:txBody>
      </p:sp>
      <p:sp>
        <p:nvSpPr>
          <p:cNvPr id="18" name="TextBox 17"/>
          <p:cNvSpPr txBox="1"/>
          <p:nvPr/>
        </p:nvSpPr>
        <p:spPr>
          <a:xfrm>
            <a:off x="6254496" y="6002121"/>
            <a:ext cx="2432304" cy="292608"/>
          </a:xfrm>
          <a:prstGeom prst="rect">
            <a:avLst/>
          </a:prstGeom>
          <a:noFill/>
        </p:spPr>
        <p:txBody>
          <a:bodyPr wrap="square" anchor="t" lIns="36576" rIns="36576" tIns="36576" bIns="36576">
            <a:spAutoFit/>
          </a:bodyPr>
          <a:lstStyle/>
          <a:p>
            <a:pPr algn="l">
              <a:lnSpc>
                <a:spcPct val="105000"/>
              </a:lnSpc>
              <a:spcAft>
                <a:spcPts val="400"/>
              </a:spcAft>
            </a:pPr>
            <a:r>
              <a:rPr sz="1000" b="0" i="0">
                <a:solidFill>
                  <a:srgbClr val="8B98A5"/>
                </a:solidFill>
                <a:latin typeface="Segoe UI"/>
              </a:rPr>
              <a:t>CI jobs</a:t>
            </a:r>
          </a:p>
        </p:txBody>
      </p:sp>
      <p:sp>
        <p:nvSpPr>
          <p:cNvPr id="19" name="Rounded Rectangle 18"/>
          <p:cNvSpPr/>
          <p:nvPr/>
        </p:nvSpPr>
        <p:spPr>
          <a:xfrm>
            <a:off x="8942832" y="5577840"/>
            <a:ext cx="2651760" cy="73152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59" y="5669279"/>
            <a:ext cx="2432304" cy="402336"/>
          </a:xfrm>
          <a:prstGeom prst="rect">
            <a:avLst/>
          </a:prstGeom>
          <a:noFill/>
        </p:spPr>
        <p:txBody>
          <a:bodyPr wrap="square" anchor="ctr" lIns="36576" rIns="36576" tIns="36576" bIns="36576">
            <a:spAutoFit/>
          </a:bodyPr>
          <a:lstStyle/>
          <a:p>
            <a:pPr algn="l">
              <a:lnSpc>
                <a:spcPct val="110000"/>
              </a:lnSpc>
              <a:spcAft>
                <a:spcPts val="400"/>
              </a:spcAft>
            </a:pPr>
            <a:r>
              <a:rPr sz="1800" b="1" i="0">
                <a:solidFill>
                  <a:srgbClr val="22D3EE"/>
                </a:solidFill>
                <a:latin typeface="Consolas"/>
              </a:rPr>
              <a:t>7</a:t>
            </a:r>
          </a:p>
        </p:txBody>
      </p:sp>
      <p:sp>
        <p:nvSpPr>
          <p:cNvPr id="21" name="TextBox 20"/>
          <p:cNvSpPr txBox="1"/>
          <p:nvPr/>
        </p:nvSpPr>
        <p:spPr>
          <a:xfrm>
            <a:off x="9052559" y="6002121"/>
            <a:ext cx="2432304" cy="292608"/>
          </a:xfrm>
          <a:prstGeom prst="rect">
            <a:avLst/>
          </a:prstGeom>
          <a:noFill/>
        </p:spPr>
        <p:txBody>
          <a:bodyPr wrap="square" anchor="t" lIns="36576" rIns="36576" tIns="36576" bIns="36576">
            <a:spAutoFit/>
          </a:bodyPr>
          <a:lstStyle/>
          <a:p>
            <a:pPr algn="l">
              <a:lnSpc>
                <a:spcPct val="105000"/>
              </a:lnSpc>
              <a:spcAft>
                <a:spcPts val="400"/>
              </a:spcAft>
            </a:pPr>
            <a:r>
              <a:rPr sz="1000" b="0" i="0">
                <a:solidFill>
                  <a:srgbClr val="8B98A5"/>
                </a:solidFill>
                <a:latin typeface="Segoe UI"/>
              </a:rPr>
              <a:t>compose services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0D12"/>
        </a:solidFill>
        <a:effectLst/>
      </p:bgPr>
    </p:bg>
    <p:spTree>
      <p:nvGrpSpPr>
        <p:cNvPr id="1" name=""/>
        <p:cNvGrpSpPr/>
        <p:nvPr/>
      </p:nvGrpSpPr>
      <p:grpSpPr/>
      <p:sp>
        <p:nvSpPr>
          <p:cNvPr id="2" name="TextBox 1"/>
          <p:cNvSpPr txBox="1"/>
          <p:nvPr/>
        </p:nvSpPr>
        <p:spPr>
          <a:xfrm>
            <a:off x="548640" y="256032"/>
            <a:ext cx="8229600" cy="274320"/>
          </a:xfrm>
          <a:prstGeom prst="rect">
            <a:avLst/>
          </a:prstGeom>
          <a:noFill/>
        </p:spPr>
        <p:txBody>
          <a:bodyPr wrap="square" anchor="t" lIns="36576" rIns="36576" tIns="36576" bIns="36576">
            <a:spAutoFit/>
          </a:bodyPr>
          <a:lstStyle/>
          <a:p>
            <a:pPr algn="l">
              <a:lnSpc>
                <a:spcPct val="110000"/>
              </a:lnSpc>
              <a:spcAft>
                <a:spcPts val="400"/>
              </a:spcAft>
            </a:pPr>
            <a:r>
              <a:rPr sz="1050" b="1" i="0">
                <a:solidFill>
                  <a:srgbClr val="22D3EE"/>
                </a:solidFill>
                <a:latin typeface="Segoe UI"/>
              </a:rPr>
              <a:t>TECH STACK</a:t>
            </a:r>
          </a:p>
        </p:txBody>
      </p:sp>
      <p:sp>
        <p:nvSpPr>
          <p:cNvPr id="3" name="TextBox 2"/>
          <p:cNvSpPr txBox="1"/>
          <p:nvPr/>
        </p:nvSpPr>
        <p:spPr>
          <a:xfrm>
            <a:off x="548640" y="502920"/>
            <a:ext cx="10607040" cy="731520"/>
          </a:xfrm>
          <a:prstGeom prst="rect">
            <a:avLst/>
          </a:prstGeom>
          <a:noFill/>
        </p:spPr>
        <p:txBody>
          <a:bodyPr wrap="square" anchor="ctr" lIns="36576" rIns="36576" tIns="36576" bIns="36576">
            <a:spAutoFit/>
          </a:bodyPr>
          <a:lstStyle/>
          <a:p>
            <a:pPr algn="l">
              <a:lnSpc>
                <a:spcPct val="110000"/>
              </a:lnSpc>
              <a:spcAft>
                <a:spcPts val="400"/>
              </a:spcAft>
            </a:pPr>
            <a:r>
              <a:rPr sz="2400" b="1" i="0">
                <a:solidFill>
                  <a:srgbClr val="E6EDF3"/>
                </a:solidFill>
                <a:latin typeface="Segoe UI"/>
              </a:rPr>
              <a:t>Free, open, and measured: what the platform is made of</a:t>
            </a:r>
          </a:p>
        </p:txBody>
      </p:sp>
      <p:sp>
        <p:nvSpPr>
          <p:cNvPr id="4" name="Rectangle 3"/>
          <p:cNvSpPr/>
          <p:nvPr/>
        </p:nvSpPr>
        <p:spPr>
          <a:xfrm>
            <a:off x="566928" y="1216152"/>
            <a:ext cx="100584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6400800" cy="274320"/>
          </a:xfrm>
          <a:prstGeom prst="rect">
            <a:avLst/>
          </a:prstGeom>
          <a:noFill/>
        </p:spPr>
        <p:txBody>
          <a:bodyPr wrap="square" anchor="t" lIns="36576" rIns="36576" tIns="36576" bIns="36576">
            <a:spAutoFit/>
          </a:bodyPr>
          <a:lstStyle/>
          <a:p>
            <a:pPr algn="l">
              <a:lnSpc>
                <a:spcPct val="110000"/>
              </a:lnSpc>
              <a:spcAft>
                <a:spcPts val="400"/>
              </a:spcAft>
            </a:pPr>
            <a:r>
              <a:rPr sz="950" b="0" i="0">
                <a:solidFill>
                  <a:srgbClr val="8B98A5"/>
                </a:solidFill>
                <a:latin typeface="Segoe UI"/>
              </a:rPr>
              <a:t>NEXUS · Autonomous Operations Intelligence</a:t>
            </a:r>
          </a:p>
        </p:txBody>
      </p:sp>
      <p:sp>
        <p:nvSpPr>
          <p:cNvPr id="6" name="TextBox 5"/>
          <p:cNvSpPr txBox="1"/>
          <p:nvPr/>
        </p:nvSpPr>
        <p:spPr>
          <a:xfrm>
            <a:off x="10607040" y="6446520"/>
            <a:ext cx="1051560" cy="274320"/>
          </a:xfrm>
          <a:prstGeom prst="rect">
            <a:avLst/>
          </a:prstGeom>
          <a:noFill/>
        </p:spPr>
        <p:txBody>
          <a:bodyPr wrap="square" anchor="t" lIns="36576" rIns="36576" tIns="36576" bIns="36576">
            <a:spAutoFit/>
          </a:bodyPr>
          <a:lstStyle/>
          <a:p>
            <a:pPr algn="r">
              <a:lnSpc>
                <a:spcPct val="110000"/>
              </a:lnSpc>
              <a:spcAft>
                <a:spcPts val="400"/>
              </a:spcAft>
            </a:pPr>
            <a:r>
              <a:rPr sz="950" b="0" i="0">
                <a:solidFill>
                  <a:srgbClr val="8B98A5"/>
                </a:solidFill>
                <a:latin typeface="Consolas"/>
              </a:rPr>
              <a:t>25</a:t>
            </a:r>
          </a:p>
        </p:txBody>
      </p:sp>
      <p:graphicFrame>
        <p:nvGraphicFramePr>
          <p:cNvPr id="7" name="Chart 6"/>
          <p:cNvGraphicFramePr>
            <a:graphicFrameLocks noGrp="1"/>
          </p:cNvGraphicFramePr>
          <p:nvPr/>
        </p:nvGraphicFramePr>
        <p:xfrm>
          <a:off x="365760" y="1325880"/>
          <a:ext cx="5852160" cy="4023360"/>
        </p:xfrm>
        <a:graphic>
          <a:graphicData uri="http://schemas.openxmlformats.org/drawingml/2006/chart">
            <c:chart xmlns:c="http://schemas.openxmlformats.org/drawingml/2006/chart" r:id="rId3"/>
          </a:graphicData>
        </a:graphic>
      </p:graphicFrame>
      <p:sp>
        <p:nvSpPr>
          <p:cNvPr id="8" name="TextBox 7"/>
          <p:cNvSpPr txBox="1"/>
          <p:nvPr/>
        </p:nvSpPr>
        <p:spPr>
          <a:xfrm>
            <a:off x="548640" y="5349240"/>
            <a:ext cx="5669280" cy="365760"/>
          </a:xfrm>
          <a:prstGeom prst="rect">
            <a:avLst/>
          </a:prstGeom>
          <a:noFill/>
        </p:spPr>
        <p:txBody>
          <a:bodyPr wrap="square" anchor="t" lIns="36576" rIns="36576" tIns="36576" bIns="36576">
            <a:spAutoFit/>
          </a:bodyPr>
          <a:lstStyle/>
          <a:p>
            <a:pPr algn="ctr">
              <a:lnSpc>
                <a:spcPct val="110000"/>
              </a:lnSpc>
              <a:spcAft>
                <a:spcPts val="400"/>
              </a:spcAft>
            </a:pPr>
            <a:r>
              <a:rPr sz="1000" b="0" i="0">
                <a:solidFill>
                  <a:srgbClr val="8B98A5"/>
                </a:solidFill>
                <a:latin typeface="Segoe UI"/>
              </a:rPr>
              <a:t>25,961 non-blank lines across 190 files (measured at build time)</a:t>
            </a:r>
          </a:p>
        </p:txBody>
      </p:sp>
      <p:graphicFrame>
        <p:nvGraphicFramePr>
          <p:cNvPr id="9" name="Table 8"/>
          <p:cNvGraphicFramePr>
            <a:graphicFrameLocks noGrp="1"/>
          </p:cNvGraphicFramePr>
          <p:nvPr/>
        </p:nvGraphicFramePr>
        <p:xfrm>
          <a:off x="6446520" y="1371600"/>
          <a:ext cx="5212080" cy="3931911"/>
        </p:xfrm>
        <a:graphic>
          <a:graphicData uri="http://schemas.openxmlformats.org/drawingml/2006/table">
            <a:tbl>
              <a:tblPr firstRow="1" bandRow="0">
                <a:tableStyleId>{2D5ABB26-0587-4C30-8999-92F81FD0307C}</a:tableStyleId>
              </a:tblPr>
              <a:tblGrid>
                <a:gridCol w="1508760"/>
                <a:gridCol w="3703320"/>
              </a:tblGrid>
              <a:tr h="436879">
                <a:tc>
                  <a:txBody>
                    <a:bodyPr wrap="square"/>
                    <a:lstStyle/>
                    <a:p>
                      <a:pPr algn="l"/>
                      <a:r>
                        <a:rPr sz="900" b="1">
                          <a:solidFill>
                            <a:srgbClr val="22D3EE"/>
                          </a:solidFill>
                          <a:latin typeface="Segoe UI"/>
                        </a:rPr>
                        <a:t>layer</a:t>
                      </a:r>
                    </a:p>
                  </a:txBody>
                  <a:tcPr marL="64008" marR="64008" marT="27432" marB="27432" anchor="ctr">
                    <a:solidFill>
                      <a:srgbClr val="182130"/>
                    </a:solidFill>
                  </a:tcPr>
                </a:tc>
                <a:tc>
                  <a:txBody>
                    <a:bodyPr wrap="square"/>
                    <a:lstStyle/>
                    <a:p>
                      <a:pPr algn="l"/>
                      <a:r>
                        <a:rPr sz="900" b="1">
                          <a:solidFill>
                            <a:srgbClr val="22D3EE"/>
                          </a:solidFill>
                          <a:latin typeface="Segoe UI"/>
                        </a:rPr>
                        <a:t>technology</a:t>
                      </a:r>
                    </a:p>
                  </a:txBody>
                  <a:tcPr marL="64008" marR="64008" marT="27432" marB="27432" anchor="ctr">
                    <a:solidFill>
                      <a:srgbClr val="182130"/>
                    </a:solidFill>
                  </a:tcPr>
                </a:tc>
              </a:tr>
              <a:tr h="436879">
                <a:tc>
                  <a:txBody>
                    <a:bodyPr wrap="square"/>
                    <a:lstStyle/>
                    <a:p>
                      <a:pPr algn="l"/>
                      <a:r>
                        <a:rPr sz="950" b="0">
                          <a:solidFill>
                            <a:srgbClr val="E6EDF3"/>
                          </a:solidFill>
                          <a:latin typeface="Segoe UI"/>
                        </a:rPr>
                        <a:t>Twin, events, simulation</a:t>
                      </a:r>
                    </a:p>
                  </a:txBody>
                  <a:tcPr marL="64008" marR="64008" marT="27432" marB="27432" anchor="ctr">
                    <a:solidFill>
                      <a:srgbClr val="11161D"/>
                    </a:solidFill>
                  </a:tcPr>
                </a:tc>
                <a:tc>
                  <a:txBody>
                    <a:bodyPr wrap="square"/>
                    <a:lstStyle/>
                    <a:p>
                      <a:pPr algn="l"/>
                      <a:r>
                        <a:rPr sz="950" b="0">
                          <a:solidFill>
                            <a:srgbClr val="E6EDF3"/>
                          </a:solidFill>
                          <a:latin typeface="Segoe UI"/>
                        </a:rPr>
                        <a:t>Python 3.13 · dataclasses · orjson · networkx</a:t>
                      </a:r>
                    </a:p>
                  </a:txBody>
                  <a:tcPr marL="64008" marR="64008" marT="27432" marB="27432" anchor="ctr">
                    <a:solidFill>
                      <a:srgbClr val="11161D"/>
                    </a:solidFill>
                  </a:tcPr>
                </a:tc>
              </a:tr>
              <a:tr h="436879">
                <a:tc>
                  <a:txBody>
                    <a:bodyPr wrap="square"/>
                    <a:lstStyle/>
                    <a:p>
                      <a:pPr algn="l"/>
                      <a:r>
                        <a:rPr sz="950" b="0">
                          <a:solidFill>
                            <a:srgbClr val="E6EDF3"/>
                          </a:solidFill>
                          <a:latin typeface="Segoe UI"/>
                        </a:rPr>
                        <a:t>Optimization</a:t>
                      </a:r>
                    </a:p>
                  </a:txBody>
                  <a:tcPr marL="64008" marR="64008" marT="27432" marB="27432" anchor="ctr">
                    <a:solidFill>
                      <a:srgbClr val="0E1319"/>
                    </a:solidFill>
                  </a:tcPr>
                </a:tc>
                <a:tc>
                  <a:txBody>
                    <a:bodyPr wrap="square"/>
                    <a:lstStyle/>
                    <a:p>
                      <a:pPr algn="l"/>
                      <a:r>
                        <a:rPr sz="950" b="0">
                          <a:solidFill>
                            <a:srgbClr val="E6EDF3"/>
                          </a:solidFill>
                          <a:latin typeface="Segoe UI"/>
                        </a:rPr>
                        <a:t>OR-Tools CP-SAT · SciPy (Hungarian) · genetic allocator</a:t>
                      </a:r>
                    </a:p>
                  </a:txBody>
                  <a:tcPr marL="64008" marR="64008" marT="27432" marB="27432" anchor="ctr">
                    <a:solidFill>
                      <a:srgbClr val="0E1319"/>
                    </a:solidFill>
                  </a:tcPr>
                </a:tc>
              </a:tr>
              <a:tr h="436879">
                <a:tc>
                  <a:txBody>
                    <a:bodyPr wrap="square"/>
                    <a:lstStyle/>
                    <a:p>
                      <a:pPr algn="l"/>
                      <a:r>
                        <a:rPr sz="950" b="0">
                          <a:solidFill>
                            <a:srgbClr val="E6EDF3"/>
                          </a:solidFill>
                          <a:latin typeface="Segoe UI"/>
                        </a:rPr>
                        <a:t>Forecasting</a:t>
                      </a:r>
                    </a:p>
                  </a:txBody>
                  <a:tcPr marL="64008" marR="64008" marT="27432" marB="27432" anchor="ctr">
                    <a:solidFill>
                      <a:srgbClr val="11161D"/>
                    </a:solidFill>
                  </a:tcPr>
                </a:tc>
                <a:tc>
                  <a:txBody>
                    <a:bodyPr wrap="square"/>
                    <a:lstStyle/>
                    <a:p>
                      <a:pPr algn="l"/>
                      <a:r>
                        <a:rPr sz="950" b="0">
                          <a:solidFill>
                            <a:srgbClr val="E6EDF3"/>
                          </a:solidFill>
                          <a:latin typeface="Segoe UI"/>
                        </a:rPr>
                        <a:t>NumPy · Holt-Winters · Little's-law congestion estimator</a:t>
                      </a:r>
                    </a:p>
                  </a:txBody>
                  <a:tcPr marL="64008" marR="64008" marT="27432" marB="27432" anchor="ctr">
                    <a:solidFill>
                      <a:srgbClr val="11161D"/>
                    </a:solidFill>
                  </a:tcPr>
                </a:tc>
              </a:tr>
              <a:tr h="436879">
                <a:tc>
                  <a:txBody>
                    <a:bodyPr wrap="square"/>
                    <a:lstStyle/>
                    <a:p>
                      <a:pPr algn="l"/>
                      <a:r>
                        <a:rPr sz="950" b="0">
                          <a:solidFill>
                            <a:srgbClr val="E6EDF3"/>
                          </a:solidFill>
                          <a:latin typeface="Segoe UI"/>
                        </a:rPr>
                        <a:t>Agents &amp; LLM</a:t>
                      </a:r>
                    </a:p>
                  </a:txBody>
                  <a:tcPr marL="64008" marR="64008" marT="27432" marB="27432" anchor="ctr">
                    <a:solidFill>
                      <a:srgbClr val="0E1319"/>
                    </a:solidFill>
                  </a:tcPr>
                </a:tc>
                <a:tc>
                  <a:txBody>
                    <a:bodyPr wrap="square"/>
                    <a:lstStyle/>
                    <a:p>
                      <a:pPr algn="l"/>
                      <a:r>
                        <a:rPr sz="950" b="0">
                          <a:solidFill>
                            <a:srgbClr val="E6EDF3"/>
                          </a:solidFill>
                          <a:latin typeface="Segoe UI"/>
                        </a:rPr>
                        <a:t>pydantic structured output · Ollama (qwen2.5) · TF-IDF SOP retrieval</a:t>
                      </a:r>
                    </a:p>
                  </a:txBody>
                  <a:tcPr marL="64008" marR="64008" marT="27432" marB="27432" anchor="ctr">
                    <a:solidFill>
                      <a:srgbClr val="0E1319"/>
                    </a:solidFill>
                  </a:tcPr>
                </a:tc>
              </a:tr>
              <a:tr h="436879">
                <a:tc>
                  <a:txBody>
                    <a:bodyPr wrap="square"/>
                    <a:lstStyle/>
                    <a:p>
                      <a:pPr algn="l"/>
                      <a:r>
                        <a:rPr sz="950" b="0">
                          <a:solidFill>
                            <a:srgbClr val="E6EDF3"/>
                          </a:solidFill>
                          <a:latin typeface="Segoe UI"/>
                        </a:rPr>
                        <a:t>API &amp; runtime</a:t>
                      </a:r>
                    </a:p>
                  </a:txBody>
                  <a:tcPr marL="64008" marR="64008" marT="27432" marB="27432" anchor="ctr">
                    <a:solidFill>
                      <a:srgbClr val="11161D"/>
                    </a:solidFill>
                  </a:tcPr>
                </a:tc>
                <a:tc>
                  <a:txBody>
                    <a:bodyPr wrap="square"/>
                    <a:lstStyle/>
                    <a:p>
                      <a:pPr algn="l"/>
                      <a:r>
                        <a:rPr sz="950" b="0">
                          <a:solidFill>
                            <a:srgbClr val="E6EDF3"/>
                          </a:solidFill>
                          <a:latin typeface="Segoe UI"/>
                        </a:rPr>
                        <a:t>FastAPI · WebSocket · pydantic-settings · structlog</a:t>
                      </a:r>
                    </a:p>
                  </a:txBody>
                  <a:tcPr marL="64008" marR="64008" marT="27432" marB="27432" anchor="ctr">
                    <a:solidFill>
                      <a:srgbClr val="11161D"/>
                    </a:solidFill>
                  </a:tcPr>
                </a:tc>
              </a:tr>
              <a:tr h="436879">
                <a:tc>
                  <a:txBody>
                    <a:bodyPr wrap="square"/>
                    <a:lstStyle/>
                    <a:p>
                      <a:pPr algn="l"/>
                      <a:r>
                        <a:rPr sz="950" b="0">
                          <a:solidFill>
                            <a:srgbClr val="E6EDF3"/>
                          </a:solidFill>
                          <a:latin typeface="Segoe UI"/>
                        </a:rPr>
                        <a:t>Data</a:t>
                      </a:r>
                    </a:p>
                  </a:txBody>
                  <a:tcPr marL="64008" marR="64008" marT="27432" marB="27432" anchor="ctr">
                    <a:solidFill>
                      <a:srgbClr val="0E1319"/>
                    </a:solidFill>
                  </a:tcPr>
                </a:tc>
                <a:tc>
                  <a:txBody>
                    <a:bodyPr wrap="square"/>
                    <a:lstStyle/>
                    <a:p>
                      <a:pPr algn="l"/>
                      <a:r>
                        <a:rPr sz="950" b="0">
                          <a:solidFill>
                            <a:srgbClr val="E6EDF3"/>
                          </a:solidFill>
                          <a:latin typeface="Segoe UI"/>
                        </a:rPr>
                        <a:t>PostgreSQL (SQLAlchemy async / asyncpg) · Redis · SQLite for tests</a:t>
                      </a:r>
                    </a:p>
                  </a:txBody>
                  <a:tcPr marL="64008" marR="64008" marT="27432" marB="27432" anchor="ctr">
                    <a:solidFill>
                      <a:srgbClr val="0E1319"/>
                    </a:solidFill>
                  </a:tcPr>
                </a:tc>
              </a:tr>
              <a:tr h="436879">
                <a:tc>
                  <a:txBody>
                    <a:bodyPr wrap="square"/>
                    <a:lstStyle/>
                    <a:p>
                      <a:pPr algn="l"/>
                      <a:r>
                        <a:rPr sz="950" b="0">
                          <a:solidFill>
                            <a:srgbClr val="E6EDF3"/>
                          </a:solidFill>
                          <a:latin typeface="Segoe UI"/>
                        </a:rPr>
                        <a:t>UI</a:t>
                      </a:r>
                    </a:p>
                  </a:txBody>
                  <a:tcPr marL="64008" marR="64008" marT="27432" marB="27432" anchor="ctr">
                    <a:solidFill>
                      <a:srgbClr val="11161D"/>
                    </a:solidFill>
                  </a:tcPr>
                </a:tc>
                <a:tc>
                  <a:txBody>
                    <a:bodyPr wrap="square"/>
                    <a:lstStyle/>
                    <a:p>
                      <a:pPr algn="l"/>
                      <a:r>
                        <a:rPr sz="950" b="0">
                          <a:solidFill>
                            <a:srgbClr val="E6EDF3"/>
                          </a:solidFill>
                          <a:latin typeface="Segoe UI"/>
                        </a:rPr>
                        <a:t>Next.js 15 · React 19 · TypeScript · Tailwind v4 · Three.js (R3F) · recharts · zustand</a:t>
                      </a:r>
                    </a:p>
                  </a:txBody>
                  <a:tcPr marL="64008" marR="64008" marT="27432" marB="27432" anchor="ctr">
                    <a:solidFill>
                      <a:srgbClr val="11161D"/>
                    </a:solidFill>
                  </a:tcPr>
                </a:tc>
              </a:tr>
              <a:tr h="436879">
                <a:tc>
                  <a:txBody>
                    <a:bodyPr wrap="square"/>
                    <a:lstStyle/>
                    <a:p>
                      <a:pPr algn="l"/>
                      <a:r>
                        <a:rPr sz="950" b="0">
                          <a:solidFill>
                            <a:srgbClr val="E6EDF3"/>
                          </a:solidFill>
                          <a:latin typeface="Segoe UI"/>
                        </a:rPr>
                        <a:t>Ops</a:t>
                      </a:r>
                    </a:p>
                  </a:txBody>
                  <a:tcPr marL="64008" marR="64008" marT="27432" marB="27432" anchor="ctr">
                    <a:solidFill>
                      <a:srgbClr val="0E1319"/>
                    </a:solidFill>
                  </a:tcPr>
                </a:tc>
                <a:tc>
                  <a:txBody>
                    <a:bodyPr wrap="square"/>
                    <a:lstStyle/>
                    <a:p>
                      <a:pPr algn="l"/>
                      <a:r>
                        <a:rPr sz="950" b="0">
                          <a:solidFill>
                            <a:srgbClr val="E6EDF3"/>
                          </a:solidFill>
                          <a:latin typeface="Segoe UI"/>
                        </a:rPr>
                        <a:t>Docker Compose · Prometheus · Grafana · OpenTelemetry · GitHub Actions · uv</a:t>
                      </a:r>
                    </a:p>
                  </a:txBody>
                  <a:tcPr marL="64008" marR="64008" marT="27432" marB="27432" anchor="ctr">
                    <a:solidFill>
                      <a:srgbClr val="0E1319"/>
                    </a:solidFill>
                  </a:tcPr>
                </a:tc>
              </a:tr>
            </a:tbl>
          </a:graphicData>
        </a:graphic>
      </p:graphicFrame>
      <p:sp>
        <p:nvSpPr>
          <p:cNvPr id="10" name="Rounded Rectangle 9"/>
          <p:cNvSpPr/>
          <p:nvPr/>
        </p:nvSpPr>
        <p:spPr>
          <a:xfrm>
            <a:off x="6446520" y="5486400"/>
            <a:ext cx="2514600" cy="77724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56248" y="5577840"/>
            <a:ext cx="2295144" cy="427482"/>
          </a:xfrm>
          <a:prstGeom prst="rect">
            <a:avLst/>
          </a:prstGeom>
          <a:noFill/>
        </p:spPr>
        <p:txBody>
          <a:bodyPr wrap="square" anchor="ctr" lIns="36576" rIns="36576" tIns="36576" bIns="36576">
            <a:spAutoFit/>
          </a:bodyPr>
          <a:lstStyle/>
          <a:p>
            <a:pPr algn="l">
              <a:lnSpc>
                <a:spcPct val="110000"/>
              </a:lnSpc>
              <a:spcAft>
                <a:spcPts val="400"/>
              </a:spcAft>
            </a:pPr>
            <a:r>
              <a:rPr sz="1800" b="1" i="0">
                <a:solidFill>
                  <a:srgbClr val="22C55E"/>
                </a:solidFill>
                <a:latin typeface="Consolas"/>
              </a:rPr>
              <a:t>₹0 / $0</a:t>
            </a:r>
          </a:p>
        </p:txBody>
      </p:sp>
      <p:sp>
        <p:nvSpPr>
          <p:cNvPr id="12" name="TextBox 11"/>
          <p:cNvSpPr txBox="1"/>
          <p:nvPr/>
        </p:nvSpPr>
        <p:spPr>
          <a:xfrm>
            <a:off x="6556248" y="5937199"/>
            <a:ext cx="2295144" cy="310896"/>
          </a:xfrm>
          <a:prstGeom prst="rect">
            <a:avLst/>
          </a:prstGeom>
          <a:noFill/>
        </p:spPr>
        <p:txBody>
          <a:bodyPr wrap="square" anchor="t" lIns="36576" rIns="36576" tIns="36576" bIns="36576">
            <a:spAutoFit/>
          </a:bodyPr>
          <a:lstStyle/>
          <a:p>
            <a:pPr algn="l">
              <a:lnSpc>
                <a:spcPct val="105000"/>
              </a:lnSpc>
              <a:spcAft>
                <a:spcPts val="400"/>
              </a:spcAft>
            </a:pPr>
            <a:r>
              <a:rPr sz="1000" b="0" i="0">
                <a:solidFill>
                  <a:srgbClr val="8B98A5"/>
                </a:solidFill>
                <a:latin typeface="Segoe UI"/>
              </a:rPr>
              <a:t>to run the whole stack — no paid APIs</a:t>
            </a:r>
          </a:p>
        </p:txBody>
      </p:sp>
      <p:sp>
        <p:nvSpPr>
          <p:cNvPr id="13" name="Rounded Rectangle 12"/>
          <p:cNvSpPr/>
          <p:nvPr/>
        </p:nvSpPr>
        <p:spPr>
          <a:xfrm>
            <a:off x="9098280" y="5486400"/>
            <a:ext cx="2560320" cy="77724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08007" y="5577840"/>
            <a:ext cx="2340863" cy="427482"/>
          </a:xfrm>
          <a:prstGeom prst="rect">
            <a:avLst/>
          </a:prstGeom>
          <a:noFill/>
        </p:spPr>
        <p:txBody>
          <a:bodyPr wrap="square" anchor="ctr" lIns="36576" rIns="36576" tIns="36576" bIns="36576">
            <a:spAutoFit/>
          </a:bodyPr>
          <a:lstStyle/>
          <a:p>
            <a:pPr algn="l">
              <a:lnSpc>
                <a:spcPct val="110000"/>
              </a:lnSpc>
              <a:spcAft>
                <a:spcPts val="400"/>
              </a:spcAft>
            </a:pPr>
            <a:r>
              <a:rPr sz="1800" b="1" i="0">
                <a:solidFill>
                  <a:srgbClr val="22D3EE"/>
                </a:solidFill>
                <a:latin typeface="Consolas"/>
              </a:rPr>
              <a:t>Apache-2.0</a:t>
            </a:r>
          </a:p>
        </p:txBody>
      </p:sp>
      <p:sp>
        <p:nvSpPr>
          <p:cNvPr id="15" name="TextBox 14"/>
          <p:cNvSpPr txBox="1"/>
          <p:nvPr/>
        </p:nvSpPr>
        <p:spPr>
          <a:xfrm>
            <a:off x="9208007" y="5937199"/>
            <a:ext cx="2340863" cy="310896"/>
          </a:xfrm>
          <a:prstGeom prst="rect">
            <a:avLst/>
          </a:prstGeom>
          <a:noFill/>
        </p:spPr>
        <p:txBody>
          <a:bodyPr wrap="square" anchor="t" lIns="36576" rIns="36576" tIns="36576" bIns="36576">
            <a:spAutoFit/>
          </a:bodyPr>
          <a:lstStyle/>
          <a:p>
            <a:pPr algn="l">
              <a:lnSpc>
                <a:spcPct val="105000"/>
              </a:lnSpc>
              <a:spcAft>
                <a:spcPts val="400"/>
              </a:spcAft>
            </a:pPr>
            <a:r>
              <a:rPr sz="1000" b="0" i="0">
                <a:solidFill>
                  <a:srgbClr val="8B98A5"/>
                </a:solidFill>
                <a:latin typeface="Segoe UI"/>
              </a:rPr>
              <a:t>open-source licence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0D12"/>
        </a:solidFill>
        <a:effectLst/>
      </p:bgPr>
    </p:bg>
    <p:spTree>
      <p:nvGrpSpPr>
        <p:cNvPr id="1" name=""/>
        <p:cNvGrpSpPr/>
        <p:nvPr/>
      </p:nvGrpSpPr>
      <p:grpSpPr/>
      <p:sp>
        <p:nvSpPr>
          <p:cNvPr id="2" name="TextBox 1"/>
          <p:cNvSpPr txBox="1"/>
          <p:nvPr/>
        </p:nvSpPr>
        <p:spPr>
          <a:xfrm>
            <a:off x="548640" y="256032"/>
            <a:ext cx="8229600" cy="274320"/>
          </a:xfrm>
          <a:prstGeom prst="rect">
            <a:avLst/>
          </a:prstGeom>
          <a:noFill/>
        </p:spPr>
        <p:txBody>
          <a:bodyPr wrap="square" anchor="t" lIns="36576" rIns="36576" tIns="36576" bIns="36576">
            <a:spAutoFit/>
          </a:bodyPr>
          <a:lstStyle/>
          <a:p>
            <a:pPr algn="l">
              <a:lnSpc>
                <a:spcPct val="110000"/>
              </a:lnSpc>
              <a:spcAft>
                <a:spcPts val="400"/>
              </a:spcAft>
            </a:pPr>
            <a:r>
              <a:rPr sz="1050" b="1" i="0">
                <a:solidFill>
                  <a:srgbClr val="22D3EE"/>
                </a:solidFill>
                <a:latin typeface="Segoe UI"/>
              </a:rPr>
              <a:t>THE GRANDER VISION</a:t>
            </a:r>
          </a:p>
        </p:txBody>
      </p:sp>
      <p:sp>
        <p:nvSpPr>
          <p:cNvPr id="3" name="TextBox 2"/>
          <p:cNvSpPr txBox="1"/>
          <p:nvPr/>
        </p:nvSpPr>
        <p:spPr>
          <a:xfrm>
            <a:off x="548640" y="502920"/>
            <a:ext cx="10607040" cy="731520"/>
          </a:xfrm>
          <a:prstGeom prst="rect">
            <a:avLst/>
          </a:prstGeom>
          <a:noFill/>
        </p:spPr>
        <p:txBody>
          <a:bodyPr wrap="square" anchor="ctr" lIns="36576" rIns="36576" tIns="36576" bIns="36576">
            <a:spAutoFit/>
          </a:bodyPr>
          <a:lstStyle/>
          <a:p>
            <a:pPr algn="l">
              <a:lnSpc>
                <a:spcPct val="110000"/>
              </a:lnSpc>
              <a:spcAft>
                <a:spcPts val="400"/>
              </a:spcAft>
            </a:pPr>
            <a:r>
              <a:rPr sz="2800" b="1" i="0">
                <a:solidFill>
                  <a:srgbClr val="E6EDF3"/>
                </a:solidFill>
                <a:latin typeface="Segoe UI"/>
              </a:rPr>
              <a:t>Same engine, different worlds</a:t>
            </a:r>
          </a:p>
        </p:txBody>
      </p:sp>
      <p:sp>
        <p:nvSpPr>
          <p:cNvPr id="4" name="Rectangle 3"/>
          <p:cNvSpPr/>
          <p:nvPr/>
        </p:nvSpPr>
        <p:spPr>
          <a:xfrm>
            <a:off x="566928" y="1216152"/>
            <a:ext cx="100584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6400800" cy="274320"/>
          </a:xfrm>
          <a:prstGeom prst="rect">
            <a:avLst/>
          </a:prstGeom>
          <a:noFill/>
        </p:spPr>
        <p:txBody>
          <a:bodyPr wrap="square" anchor="t" lIns="36576" rIns="36576" tIns="36576" bIns="36576">
            <a:spAutoFit/>
          </a:bodyPr>
          <a:lstStyle/>
          <a:p>
            <a:pPr algn="l">
              <a:lnSpc>
                <a:spcPct val="110000"/>
              </a:lnSpc>
              <a:spcAft>
                <a:spcPts val="400"/>
              </a:spcAft>
            </a:pPr>
            <a:r>
              <a:rPr sz="950" b="0" i="0">
                <a:solidFill>
                  <a:srgbClr val="8B98A5"/>
                </a:solidFill>
                <a:latin typeface="Segoe UI"/>
              </a:rPr>
              <a:t>NEXUS · Autonomous Operations Intelligence</a:t>
            </a:r>
          </a:p>
        </p:txBody>
      </p:sp>
      <p:sp>
        <p:nvSpPr>
          <p:cNvPr id="6" name="TextBox 5"/>
          <p:cNvSpPr txBox="1"/>
          <p:nvPr/>
        </p:nvSpPr>
        <p:spPr>
          <a:xfrm>
            <a:off x="10607040" y="6446520"/>
            <a:ext cx="1051560" cy="274320"/>
          </a:xfrm>
          <a:prstGeom prst="rect">
            <a:avLst/>
          </a:prstGeom>
          <a:noFill/>
        </p:spPr>
        <p:txBody>
          <a:bodyPr wrap="square" anchor="t" lIns="36576" rIns="36576" tIns="36576" bIns="36576">
            <a:spAutoFit/>
          </a:bodyPr>
          <a:lstStyle/>
          <a:p>
            <a:pPr algn="r">
              <a:lnSpc>
                <a:spcPct val="110000"/>
              </a:lnSpc>
              <a:spcAft>
                <a:spcPts val="400"/>
              </a:spcAft>
            </a:pPr>
            <a:r>
              <a:rPr sz="950" b="0" i="0">
                <a:solidFill>
                  <a:srgbClr val="8B98A5"/>
                </a:solidFill>
                <a:latin typeface="Consolas"/>
              </a:rPr>
              <a:t>26</a:t>
            </a:r>
          </a:p>
        </p:txBody>
      </p:sp>
      <p:sp>
        <p:nvSpPr>
          <p:cNvPr id="7" name="Rounded Rectangle 6"/>
          <p:cNvSpPr/>
          <p:nvPr/>
        </p:nvSpPr>
        <p:spPr>
          <a:xfrm>
            <a:off x="4480560" y="1417320"/>
            <a:ext cx="3246120" cy="868680"/>
          </a:xfrm>
          <a:prstGeom prst="roundRect">
            <a:avLst>
              <a:gd name="adj" fmla="val 12000"/>
            </a:avLst>
          </a:prstGeom>
          <a:solidFill>
            <a:srgbClr val="182130"/>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a:solidFill>
                  <a:srgbClr val="22D3EE"/>
                </a:solidFill>
                <a:latin typeface="Segoe UI"/>
              </a:rPr>
              <a:t>DIGITAL TWIN ENGINE</a:t>
            </a:r>
          </a:p>
          <a:p>
            <a:pPr algn="ctr">
              <a:spcBef>
                <a:spcPts val="200"/>
              </a:spcBef>
            </a:pPr>
            <a:r>
              <a:rPr sz="900">
                <a:solidFill>
                  <a:srgbClr val="8B98A5"/>
                </a:solidFill>
                <a:latin typeface="Segoe UI"/>
              </a:rPr>
              <a:t>events · simulation · optimization · agents · what-if · forecasting</a:t>
            </a:r>
          </a:p>
        </p:txBody>
      </p:sp>
      <p:sp>
        <p:nvSpPr>
          <p:cNvPr id="8" name="Rounded Rectangle 7"/>
          <p:cNvSpPr/>
          <p:nvPr/>
        </p:nvSpPr>
        <p:spPr>
          <a:xfrm>
            <a:off x="548640" y="3291840"/>
            <a:ext cx="1783080" cy="1371600"/>
          </a:xfrm>
          <a:prstGeom prst="roundRect">
            <a:avLst>
              <a:gd name="adj" fmla="val 12000"/>
            </a:avLst>
          </a:prstGeom>
          <a:solidFill>
            <a:srgbClr val="0F2A20"/>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50" b="1">
                <a:solidFill>
                  <a:srgbClr val="22C55E"/>
                </a:solidFill>
                <a:latin typeface="Segoe UI"/>
              </a:rPr>
              <a:t>WAREHOUSE</a:t>
            </a:r>
          </a:p>
          <a:p>
            <a:pPr algn="ctr">
              <a:spcBef>
                <a:spcPts val="200"/>
              </a:spcBef>
            </a:pPr>
            <a:r>
              <a:rPr sz="800">
                <a:solidFill>
                  <a:srgbClr val="8B98A5"/>
                </a:solidFill>
                <a:latin typeface="Segoe UI"/>
              </a:rPr>
              <a:t>today: robots, orders, shelves, docks, chargers, workers</a:t>
            </a:r>
          </a:p>
        </p:txBody>
      </p:sp>
      <p:cxnSp>
        <p:nvCxnSpPr>
          <p:cNvPr id="9" name="Connector 8"/>
          <p:cNvCxnSpPr/>
          <p:nvPr/>
        </p:nvCxnSpPr>
        <p:spPr>
          <a:xfrm flipH="1">
            <a:off x="1440180" y="2286000"/>
            <a:ext cx="4663440" cy="1005840"/>
          </a:xfrm>
          <a:prstGeom prst="line">
            <a:avLst/>
          </a:prstGeom>
          <a:ln w="13970">
            <a:solidFill>
              <a:srgbClr val="1F29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423160" y="3291840"/>
            <a:ext cx="1783080" cy="1371600"/>
          </a:xfrm>
          <a:prstGeom prst="roundRect">
            <a:avLst>
              <a:gd name="adj" fmla="val 12000"/>
            </a:avLst>
          </a:prstGeom>
          <a:solidFill>
            <a:srgbClr val="11161D"/>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50" b="1">
                <a:solidFill>
                  <a:srgbClr val="22D3EE"/>
                </a:solidFill>
                <a:latin typeface="Segoe UI"/>
              </a:rPr>
              <a:t>FACTORY</a:t>
            </a:r>
          </a:p>
          <a:p>
            <a:pPr algn="ctr">
              <a:spcBef>
                <a:spcPts val="200"/>
              </a:spcBef>
            </a:pPr>
            <a:r>
              <a:rPr sz="800">
                <a:solidFill>
                  <a:srgbClr val="8B98A5"/>
                </a:solidFill>
                <a:latin typeface="Segoe UI"/>
              </a:rPr>
              <a:t>workcells = zones · WIP = orders · AGVs = robots · tool changes = charging</a:t>
            </a:r>
          </a:p>
        </p:txBody>
      </p:sp>
      <p:cxnSp>
        <p:nvCxnSpPr>
          <p:cNvPr id="11" name="Connector 10"/>
          <p:cNvCxnSpPr/>
          <p:nvPr/>
        </p:nvCxnSpPr>
        <p:spPr>
          <a:xfrm flipH="1">
            <a:off x="3314700" y="2286000"/>
            <a:ext cx="2788920" cy="1005840"/>
          </a:xfrm>
          <a:prstGeom prst="line">
            <a:avLst/>
          </a:prstGeom>
          <a:ln w="13970">
            <a:solidFill>
              <a:srgbClr val="1F29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297679" y="3291840"/>
            <a:ext cx="1783080" cy="1371600"/>
          </a:xfrm>
          <a:prstGeom prst="roundRect">
            <a:avLst>
              <a:gd name="adj" fmla="val 12000"/>
            </a:avLst>
          </a:prstGeom>
          <a:solidFill>
            <a:srgbClr val="11161D"/>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50" b="1">
                <a:solidFill>
                  <a:srgbClr val="A78BFA"/>
                </a:solidFill>
                <a:latin typeface="Segoe UI"/>
              </a:rPr>
              <a:t>HOSPITAL</a:t>
            </a:r>
          </a:p>
          <a:p>
            <a:pPr algn="ctr">
              <a:spcBef>
                <a:spcPts val="200"/>
              </a:spcBef>
            </a:pPr>
            <a:r>
              <a:rPr sz="800">
                <a:solidFill>
                  <a:srgbClr val="8B98A5"/>
                </a:solidFill>
                <a:latin typeface="Segoe UI"/>
              </a:rPr>
              <a:t>wards = zones · transport orders · porters &amp; carts = agents · bays = docks</a:t>
            </a:r>
          </a:p>
        </p:txBody>
      </p:sp>
      <p:cxnSp>
        <p:nvCxnSpPr>
          <p:cNvPr id="13" name="Connector 12"/>
          <p:cNvCxnSpPr/>
          <p:nvPr/>
        </p:nvCxnSpPr>
        <p:spPr>
          <a:xfrm flipH="1">
            <a:off x="5189219" y="2286000"/>
            <a:ext cx="914401" cy="1005840"/>
          </a:xfrm>
          <a:prstGeom prst="line">
            <a:avLst/>
          </a:prstGeom>
          <a:ln w="13970">
            <a:solidFill>
              <a:srgbClr val="1F29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172199" y="3291840"/>
            <a:ext cx="1783080" cy="1371600"/>
          </a:xfrm>
          <a:prstGeom prst="roundRect">
            <a:avLst>
              <a:gd name="adj" fmla="val 12000"/>
            </a:avLst>
          </a:prstGeom>
          <a:solidFill>
            <a:srgbClr val="11161D"/>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50" b="1">
                <a:solidFill>
                  <a:srgbClr val="F59E0B"/>
                </a:solidFill>
                <a:latin typeface="Segoe UI"/>
              </a:rPr>
              <a:t>AIRPORT</a:t>
            </a:r>
          </a:p>
          <a:p>
            <a:pPr algn="ctr">
              <a:spcBef>
                <a:spcPts val="200"/>
              </a:spcBef>
            </a:pPr>
            <a:r>
              <a:rPr sz="800">
                <a:solidFill>
                  <a:srgbClr val="8B98A5"/>
                </a:solidFill>
                <a:latin typeface="Segoe UI"/>
              </a:rPr>
              <a:t>gates &amp; stands · baggage &amp; turnaround jobs · ground vehicles</a:t>
            </a:r>
          </a:p>
        </p:txBody>
      </p:sp>
      <p:cxnSp>
        <p:nvCxnSpPr>
          <p:cNvPr id="15" name="Connector 14"/>
          <p:cNvCxnSpPr/>
          <p:nvPr/>
        </p:nvCxnSpPr>
        <p:spPr>
          <a:xfrm>
            <a:off x="6103620" y="2286000"/>
            <a:ext cx="960119" cy="1005840"/>
          </a:xfrm>
          <a:prstGeom prst="line">
            <a:avLst/>
          </a:prstGeom>
          <a:ln w="13970">
            <a:solidFill>
              <a:srgbClr val="1F29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8046719" y="3291840"/>
            <a:ext cx="1783080" cy="1371600"/>
          </a:xfrm>
          <a:prstGeom prst="roundRect">
            <a:avLst>
              <a:gd name="adj" fmla="val 12000"/>
            </a:avLst>
          </a:prstGeom>
          <a:solidFill>
            <a:srgbClr val="11161D"/>
          </a:solidFill>
          <a:ln w="12700">
            <a:solidFill>
              <a:srgbClr val="60A5F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50" b="1">
                <a:solidFill>
                  <a:srgbClr val="60A5FA"/>
                </a:solidFill>
                <a:latin typeface="Segoe UI"/>
              </a:rPr>
              <a:t>DATA CENTER</a:t>
            </a:r>
          </a:p>
          <a:p>
            <a:pPr algn="ctr">
              <a:spcBef>
                <a:spcPts val="200"/>
              </a:spcBef>
            </a:pPr>
            <a:r>
              <a:rPr sz="800">
                <a:solidFill>
                  <a:srgbClr val="8B98A5"/>
                </a:solidFill>
                <a:latin typeface="Segoe UI"/>
              </a:rPr>
              <a:t>racks &amp; rows · tickets = jobs · technicians · spare-parts inventory</a:t>
            </a:r>
          </a:p>
        </p:txBody>
      </p:sp>
      <p:cxnSp>
        <p:nvCxnSpPr>
          <p:cNvPr id="17" name="Connector 16"/>
          <p:cNvCxnSpPr/>
          <p:nvPr/>
        </p:nvCxnSpPr>
        <p:spPr>
          <a:xfrm>
            <a:off x="6103620" y="2286000"/>
            <a:ext cx="2834639" cy="1005840"/>
          </a:xfrm>
          <a:prstGeom prst="line">
            <a:avLst/>
          </a:prstGeom>
          <a:ln w="13970">
            <a:solidFill>
              <a:srgbClr val="1F29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921240" y="3291840"/>
            <a:ext cx="1783080" cy="1371600"/>
          </a:xfrm>
          <a:prstGeom prst="roundRect">
            <a:avLst>
              <a:gd name="adj" fmla="val 12000"/>
            </a:avLst>
          </a:prstGeom>
          <a:solidFill>
            <a:srgbClr val="11161D"/>
          </a:solidFill>
          <a:ln w="12700">
            <a:solidFill>
              <a:srgbClr val="8B98A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50" b="1">
                <a:solidFill>
                  <a:srgbClr val="8B98A5"/>
                </a:solidFill>
                <a:latin typeface="Segoe UI"/>
              </a:rPr>
              <a:t>FLEET / SUPPLY CHAIN</a:t>
            </a:r>
          </a:p>
          <a:p>
            <a:pPr algn="ctr">
              <a:spcBef>
                <a:spcPts val="200"/>
              </a:spcBef>
            </a:pPr>
            <a:r>
              <a:rPr sz="800">
                <a:solidFill>
                  <a:srgbClr val="8B98A5"/>
                </a:solidFill>
                <a:latin typeface="Segoe UI"/>
              </a:rPr>
              <a:t>depots = zones · shipments = orders · vehicles = robots · fuel = battery</a:t>
            </a:r>
          </a:p>
        </p:txBody>
      </p:sp>
      <p:cxnSp>
        <p:nvCxnSpPr>
          <p:cNvPr id="19" name="Connector 18"/>
          <p:cNvCxnSpPr/>
          <p:nvPr/>
        </p:nvCxnSpPr>
        <p:spPr>
          <a:xfrm>
            <a:off x="6103620" y="2286000"/>
            <a:ext cx="4709160" cy="1005840"/>
          </a:xfrm>
          <a:prstGeom prst="line">
            <a:avLst/>
          </a:prstGeom>
          <a:ln w="13970">
            <a:solidFill>
              <a:srgbClr val="1F29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48640" y="4937760"/>
            <a:ext cx="11109960" cy="1325880"/>
          </a:xfrm>
          <a:prstGeom prst="roundRect">
            <a:avLst>
              <a:gd name="adj" fmla="val 5000"/>
            </a:avLst>
          </a:prstGeom>
          <a:solidFill>
            <a:srgbClr val="0E1319"/>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5029200"/>
            <a:ext cx="10881360" cy="1188720"/>
          </a:xfrm>
          <a:prstGeom prst="rect">
            <a:avLst/>
          </a:prstGeom>
          <a:noFill/>
        </p:spPr>
        <p:txBody>
          <a:bodyPr wrap="square" lIns="45720" rIns="45720">
            <a:spAutoFit/>
          </a:bodyPr>
          <a:lstStyle/>
          <a:p>
            <a:pPr>
              <a:lnSpc>
                <a:spcPct val="112000"/>
              </a:lnSpc>
              <a:spcAft>
                <a:spcPts val="400"/>
              </a:spcAft>
            </a:pPr>
            <a:r>
              <a:rPr sz="1050" b="1">
                <a:solidFill>
                  <a:srgbClr val="22D3EE"/>
                </a:solidFill>
                <a:latin typeface="Segoe UI"/>
              </a:rPr>
              <a:t>•  </a:t>
            </a:r>
            <a:r>
              <a:rPr b="1" sz="1050">
                <a:solidFill>
                  <a:srgbClr val="E6EDF3"/>
                </a:solidFill>
                <a:latin typeface="Segoe UI"/>
              </a:rPr>
              <a:t>DomainModel protocol: </a:t>
            </a:r>
            <a:r>
              <a:rPr sz="1050">
                <a:solidFill>
                  <a:srgbClr val="E6EDF3"/>
                </a:solidFill>
                <a:latin typeface="Segoe UI"/>
              </a:rPr>
              <a:t>build(scale, seed) → world · vocabulary() (agent = robot, job = order, resource = shelf, sink = dock, energy = battery, area = zone) · describe(world) for LLM context.</a:t>
            </a:r>
          </a:p>
          <a:p>
            <a:pPr>
              <a:lnSpc>
                <a:spcPct val="112000"/>
              </a:lnSpc>
              <a:spcAft>
                <a:spcPts val="400"/>
              </a:spcAft>
            </a:pPr>
            <a:r>
              <a:rPr sz="1050" b="1">
                <a:solidFill>
                  <a:srgbClr val="22D3EE"/>
                </a:solidFill>
                <a:latin typeface="Segoe UI"/>
              </a:rPr>
              <a:t>•  </a:t>
            </a:r>
            <a:r>
              <a:rPr b="1" sz="1050">
                <a:solidFill>
                  <a:srgbClr val="E6EDF3"/>
                </a:solidFill>
                <a:latin typeface="Segoe UI"/>
              </a:rPr>
              <a:t>What stays: </a:t>
            </a:r>
            <a:r>
              <a:rPr sz="1050">
                <a:solidFill>
                  <a:srgbClr val="E6EDF3"/>
                </a:solidFill>
                <a:latin typeface="Segoe UI"/>
              </a:rPr>
              <a:t>event sourcing, deterministic simulation, forks, CP-SAT assignment, batching, routing policies, forecasting, the agent pipeline, the safety stack, the API and the UI. What changes: layout, entities' meaning, KPIs' names.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0D12"/>
        </a:solidFill>
        <a:effectLst/>
      </p:bgPr>
    </p:bg>
    <p:spTree>
      <p:nvGrpSpPr>
        <p:cNvPr id="1" name=""/>
        <p:cNvGrpSpPr/>
        <p:nvPr/>
      </p:nvGrpSpPr>
      <p:grpSpPr/>
      <p:sp>
        <p:nvSpPr>
          <p:cNvPr id="2" name="TextBox 1"/>
          <p:cNvSpPr txBox="1"/>
          <p:nvPr/>
        </p:nvSpPr>
        <p:spPr>
          <a:xfrm>
            <a:off x="548640" y="256032"/>
            <a:ext cx="8229600" cy="274320"/>
          </a:xfrm>
          <a:prstGeom prst="rect">
            <a:avLst/>
          </a:prstGeom>
          <a:noFill/>
        </p:spPr>
        <p:txBody>
          <a:bodyPr wrap="square" anchor="t" lIns="36576" rIns="36576" tIns="36576" bIns="36576">
            <a:spAutoFit/>
          </a:bodyPr>
          <a:lstStyle/>
          <a:p>
            <a:pPr algn="l">
              <a:lnSpc>
                <a:spcPct val="110000"/>
              </a:lnSpc>
              <a:spcAft>
                <a:spcPts val="400"/>
              </a:spcAft>
            </a:pPr>
            <a:r>
              <a:rPr sz="1050" b="1" i="0">
                <a:solidFill>
                  <a:srgbClr val="22D3EE"/>
                </a:solidFill>
                <a:latin typeface="Segoe UI"/>
              </a:rPr>
              <a:t>BUSINESS MODEL &amp; GO-TO-MARKET</a:t>
            </a:r>
          </a:p>
        </p:txBody>
      </p:sp>
      <p:sp>
        <p:nvSpPr>
          <p:cNvPr id="3" name="TextBox 2"/>
          <p:cNvSpPr txBox="1"/>
          <p:nvPr/>
        </p:nvSpPr>
        <p:spPr>
          <a:xfrm>
            <a:off x="548640" y="502920"/>
            <a:ext cx="10607040" cy="731520"/>
          </a:xfrm>
          <a:prstGeom prst="rect">
            <a:avLst/>
          </a:prstGeom>
          <a:noFill/>
        </p:spPr>
        <p:txBody>
          <a:bodyPr wrap="square" anchor="ctr" lIns="36576" rIns="36576" tIns="36576" bIns="36576">
            <a:spAutoFit/>
          </a:bodyPr>
          <a:lstStyle/>
          <a:p>
            <a:pPr algn="l">
              <a:lnSpc>
                <a:spcPct val="110000"/>
              </a:lnSpc>
              <a:spcAft>
                <a:spcPts val="400"/>
              </a:spcAft>
            </a:pPr>
            <a:r>
              <a:rPr sz="2800" b="1" i="0">
                <a:solidFill>
                  <a:srgbClr val="E6EDF3"/>
                </a:solidFill>
                <a:latin typeface="Segoe UI"/>
              </a:rPr>
              <a:t>Pilot → platform per site → domain packs</a:t>
            </a:r>
          </a:p>
        </p:txBody>
      </p:sp>
      <p:sp>
        <p:nvSpPr>
          <p:cNvPr id="4" name="Rectangle 3"/>
          <p:cNvSpPr/>
          <p:nvPr/>
        </p:nvSpPr>
        <p:spPr>
          <a:xfrm>
            <a:off x="566928" y="1216152"/>
            <a:ext cx="100584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6400800" cy="274320"/>
          </a:xfrm>
          <a:prstGeom prst="rect">
            <a:avLst/>
          </a:prstGeom>
          <a:noFill/>
        </p:spPr>
        <p:txBody>
          <a:bodyPr wrap="square" anchor="t" lIns="36576" rIns="36576" tIns="36576" bIns="36576">
            <a:spAutoFit/>
          </a:bodyPr>
          <a:lstStyle/>
          <a:p>
            <a:pPr algn="l">
              <a:lnSpc>
                <a:spcPct val="110000"/>
              </a:lnSpc>
              <a:spcAft>
                <a:spcPts val="400"/>
              </a:spcAft>
            </a:pPr>
            <a:r>
              <a:rPr sz="950" b="0" i="0">
                <a:solidFill>
                  <a:srgbClr val="8B98A5"/>
                </a:solidFill>
                <a:latin typeface="Segoe UI"/>
              </a:rPr>
              <a:t>NEXUS · Autonomous Operations Intelligence</a:t>
            </a:r>
          </a:p>
        </p:txBody>
      </p:sp>
      <p:sp>
        <p:nvSpPr>
          <p:cNvPr id="6" name="TextBox 5"/>
          <p:cNvSpPr txBox="1"/>
          <p:nvPr/>
        </p:nvSpPr>
        <p:spPr>
          <a:xfrm>
            <a:off x="10607040" y="6446520"/>
            <a:ext cx="1051560" cy="274320"/>
          </a:xfrm>
          <a:prstGeom prst="rect">
            <a:avLst/>
          </a:prstGeom>
          <a:noFill/>
        </p:spPr>
        <p:txBody>
          <a:bodyPr wrap="square" anchor="t" lIns="36576" rIns="36576" tIns="36576" bIns="36576">
            <a:spAutoFit/>
          </a:bodyPr>
          <a:lstStyle/>
          <a:p>
            <a:pPr algn="r">
              <a:lnSpc>
                <a:spcPct val="110000"/>
              </a:lnSpc>
              <a:spcAft>
                <a:spcPts val="400"/>
              </a:spcAft>
            </a:pPr>
            <a:r>
              <a:rPr sz="950" b="0" i="0">
                <a:solidFill>
                  <a:srgbClr val="8B98A5"/>
                </a:solidFill>
                <a:latin typeface="Consolas"/>
              </a:rPr>
              <a:t>27</a:t>
            </a:r>
          </a:p>
        </p:txBody>
      </p:sp>
      <p:sp>
        <p:nvSpPr>
          <p:cNvPr id="7" name="Rounded Rectangle 6"/>
          <p:cNvSpPr/>
          <p:nvPr/>
        </p:nvSpPr>
        <p:spPr>
          <a:xfrm>
            <a:off x="548640" y="1463040"/>
            <a:ext cx="2651760" cy="1463040"/>
          </a:xfrm>
          <a:prstGeom prst="roundRect">
            <a:avLst>
              <a:gd name="adj" fmla="val 12000"/>
            </a:avLst>
          </a:prstGeom>
          <a:solidFill>
            <a:srgbClr val="11161D"/>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50" b="1">
                <a:solidFill>
                  <a:srgbClr val="22D3EE"/>
                </a:solidFill>
                <a:latin typeface="Segoe UI"/>
              </a:rPr>
              <a:t>1 · PILOT</a:t>
            </a:r>
          </a:p>
          <a:p>
            <a:pPr algn="ctr">
              <a:spcBef>
                <a:spcPts val="200"/>
              </a:spcBef>
            </a:pPr>
            <a:r>
              <a:rPr sz="900">
                <a:solidFill>
                  <a:srgbClr val="8B98A5"/>
                </a:solidFill>
                <a:latin typeface="Segoe UI"/>
              </a:rPr>
              <a:t>twin of one site · replay historical events · benchmark the four strategies · 8–12 weeks · fixed fee</a:t>
            </a:r>
          </a:p>
        </p:txBody>
      </p:sp>
      <p:cxnSp>
        <p:nvCxnSpPr>
          <p:cNvPr id="8" name="Connector 7"/>
          <p:cNvCxnSpPr/>
          <p:nvPr/>
        </p:nvCxnSpPr>
        <p:spPr>
          <a:xfrm>
            <a:off x="3200400" y="2194560"/>
            <a:ext cx="164592" cy="0"/>
          </a:xfrm>
          <a:prstGeom prst="line">
            <a:avLst/>
          </a:prstGeom>
          <a:ln w="15875">
            <a:solidFill>
              <a:srgbClr val="8B98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364992" y="1463040"/>
            <a:ext cx="2651760" cy="1463040"/>
          </a:xfrm>
          <a:prstGeom prst="roundRect">
            <a:avLst>
              <a:gd name="adj" fmla="val 12000"/>
            </a:avLst>
          </a:prstGeom>
          <a:solidFill>
            <a:srgbClr val="11161D"/>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50" b="1">
                <a:solidFill>
                  <a:srgbClr val="22C55E"/>
                </a:solidFill>
                <a:latin typeface="Segoe UI"/>
              </a:rPr>
              <a:t>2 · PLATFORM</a:t>
            </a:r>
          </a:p>
          <a:p>
            <a:pPr algn="ctr">
              <a:spcBef>
                <a:spcPts val="200"/>
              </a:spcBef>
            </a:pPr>
            <a:r>
              <a:rPr sz="900">
                <a:solidFill>
                  <a:srgbClr val="8B98A5"/>
                </a:solidFill>
                <a:latin typeface="Segoe UI"/>
              </a:rPr>
              <a:t>live twin + agents + what-if per site · subscription tiered by robots and zones · on-prem or VPC</a:t>
            </a:r>
          </a:p>
        </p:txBody>
      </p:sp>
      <p:cxnSp>
        <p:nvCxnSpPr>
          <p:cNvPr id="10" name="Connector 9"/>
          <p:cNvCxnSpPr/>
          <p:nvPr/>
        </p:nvCxnSpPr>
        <p:spPr>
          <a:xfrm>
            <a:off x="6016752" y="2194560"/>
            <a:ext cx="164592" cy="0"/>
          </a:xfrm>
          <a:prstGeom prst="line">
            <a:avLst/>
          </a:prstGeom>
          <a:ln w="15875">
            <a:solidFill>
              <a:srgbClr val="8B98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181344" y="1463040"/>
            <a:ext cx="2651760" cy="1463040"/>
          </a:xfrm>
          <a:prstGeom prst="roundRect">
            <a:avLst>
              <a:gd name="adj" fmla="val 12000"/>
            </a:avLst>
          </a:prstGeom>
          <a:solidFill>
            <a:srgbClr val="11161D"/>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50" b="1">
                <a:solidFill>
                  <a:srgbClr val="A78BFA"/>
                </a:solidFill>
                <a:latin typeface="Segoe UI"/>
              </a:rPr>
              <a:t>3 · DOMAIN PACKS</a:t>
            </a:r>
          </a:p>
          <a:p>
            <a:pPr algn="ctr">
              <a:spcBef>
                <a:spcPts val="200"/>
              </a:spcBef>
            </a:pPr>
            <a:r>
              <a:rPr sz="900">
                <a:solidFill>
                  <a:srgbClr val="8B98A5"/>
                </a:solidFill>
                <a:latin typeface="Segoe UI"/>
              </a:rPr>
              <a:t>factory, hospital, airport models · WMS / fleet-manager connectors · simulator bridges</a:t>
            </a:r>
          </a:p>
        </p:txBody>
      </p:sp>
      <p:cxnSp>
        <p:nvCxnSpPr>
          <p:cNvPr id="12" name="Connector 11"/>
          <p:cNvCxnSpPr/>
          <p:nvPr/>
        </p:nvCxnSpPr>
        <p:spPr>
          <a:xfrm>
            <a:off x="8833104" y="2194560"/>
            <a:ext cx="164592" cy="0"/>
          </a:xfrm>
          <a:prstGeom prst="line">
            <a:avLst/>
          </a:prstGeom>
          <a:ln w="15875">
            <a:solidFill>
              <a:srgbClr val="8B98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997696" y="1463040"/>
            <a:ext cx="2651760" cy="1463040"/>
          </a:xfrm>
          <a:prstGeom prst="roundRect">
            <a:avLst>
              <a:gd name="adj" fmla="val 12000"/>
            </a:avLst>
          </a:prstGeom>
          <a:solidFill>
            <a:srgbClr val="11161D"/>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50" b="1">
                <a:solidFill>
                  <a:srgbClr val="F59E0B"/>
                </a:solidFill>
                <a:latin typeface="Segoe UI"/>
              </a:rPr>
              <a:t>4 · ENTERPRISE</a:t>
            </a:r>
          </a:p>
          <a:p>
            <a:pPr algn="ctr">
              <a:spcBef>
                <a:spcPts val="200"/>
              </a:spcBef>
            </a:pPr>
            <a:r>
              <a:rPr sz="900">
                <a:solidFill>
                  <a:srgbClr val="8B98A5"/>
                </a:solidFill>
                <a:latin typeface="Segoe UI"/>
              </a:rPr>
              <a:t>multi-site, SSO / RBAC / audit, local LLM, SLAs · OEM licensing to WMS and robotics vendors</a:t>
            </a:r>
          </a:p>
        </p:txBody>
      </p:sp>
      <p:sp>
        <p:nvSpPr>
          <p:cNvPr id="14" name="Rounded Rectangle 13"/>
          <p:cNvSpPr/>
          <p:nvPr/>
        </p:nvSpPr>
        <p:spPr>
          <a:xfrm>
            <a:off x="548640" y="3200400"/>
            <a:ext cx="5440680" cy="306324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3291840"/>
            <a:ext cx="5184648" cy="274320"/>
          </a:xfrm>
          <a:prstGeom prst="rect">
            <a:avLst/>
          </a:prstGeom>
          <a:noFill/>
        </p:spPr>
        <p:txBody>
          <a:bodyPr wrap="square" anchor="t" lIns="36576" rIns="36576" tIns="36576" bIns="36576">
            <a:spAutoFit/>
          </a:bodyPr>
          <a:lstStyle/>
          <a:p>
            <a:pPr algn="l">
              <a:lnSpc>
                <a:spcPct val="110000"/>
              </a:lnSpc>
              <a:spcAft>
                <a:spcPts val="400"/>
              </a:spcAft>
            </a:pPr>
            <a:r>
              <a:rPr sz="950" b="1" i="0">
                <a:solidFill>
                  <a:srgbClr val="22D3EE"/>
                </a:solidFill>
                <a:latin typeface="Segoe UI"/>
              </a:rPr>
              <a:t>WHO BUYS, AND WHY</a:t>
            </a:r>
          </a:p>
        </p:txBody>
      </p:sp>
      <p:sp>
        <p:nvSpPr>
          <p:cNvPr id="16" name="TextBox 15"/>
          <p:cNvSpPr txBox="1"/>
          <p:nvPr/>
        </p:nvSpPr>
        <p:spPr>
          <a:xfrm>
            <a:off x="640080" y="3566160"/>
            <a:ext cx="5257800" cy="2651760"/>
          </a:xfrm>
          <a:prstGeom prst="rect">
            <a:avLst/>
          </a:prstGeom>
          <a:noFill/>
        </p:spPr>
        <p:txBody>
          <a:bodyPr wrap="square" lIns="45720" rIns="45720">
            <a:spAutoFit/>
          </a:bodyPr>
          <a:lstStyle/>
          <a:p>
            <a:pPr>
              <a:lnSpc>
                <a:spcPct val="112000"/>
              </a:lnSpc>
              <a:spcAft>
                <a:spcPts val="500"/>
              </a:spcAft>
            </a:pPr>
            <a:r>
              <a:rPr sz="1050" b="1">
                <a:solidFill>
                  <a:srgbClr val="22D3EE"/>
                </a:solidFill>
                <a:latin typeface="Segoe UI"/>
              </a:rPr>
              <a:t>•  </a:t>
            </a:r>
            <a:r>
              <a:rPr b="1" sz="1050">
                <a:solidFill>
                  <a:srgbClr val="E6EDF3"/>
                </a:solidFill>
                <a:latin typeface="Segoe UI"/>
              </a:rPr>
              <a:t>Buyers: </a:t>
            </a:r>
            <a:r>
              <a:rPr sz="1050">
                <a:solidFill>
                  <a:srgbClr val="E6EDF3"/>
                </a:solidFill>
                <a:latin typeface="Segoe UI"/>
              </a:rPr>
              <a:t>VP / Director of Operations, 3PL site leads, robotics integrators, WMS vendors (OEM).</a:t>
            </a:r>
          </a:p>
          <a:p>
            <a:pPr>
              <a:lnSpc>
                <a:spcPct val="112000"/>
              </a:lnSpc>
              <a:spcAft>
                <a:spcPts val="500"/>
              </a:spcAft>
            </a:pPr>
            <a:r>
              <a:rPr sz="1050" b="1">
                <a:solidFill>
                  <a:srgbClr val="22D3EE"/>
                </a:solidFill>
                <a:latin typeface="Segoe UI"/>
              </a:rPr>
              <a:t>•  </a:t>
            </a:r>
            <a:r>
              <a:rPr b="1" sz="1050">
                <a:solidFill>
                  <a:srgbClr val="E6EDF3"/>
                </a:solidFill>
                <a:latin typeface="Segoe UI"/>
              </a:rPr>
              <a:t>SLA protection: </a:t>
            </a:r>
            <a:r>
              <a:rPr sz="1050">
                <a:solidFill>
                  <a:srgbClr val="E6EDF3"/>
                </a:solidFill>
                <a:latin typeface="Segoe UI"/>
              </a:rPr>
              <a:t>on the demo incident, doing nothing projects 39.4% late orders in the hour; the recommended plan 3.1%.</a:t>
            </a:r>
          </a:p>
          <a:p>
            <a:pPr>
              <a:lnSpc>
                <a:spcPct val="112000"/>
              </a:lnSpc>
              <a:spcAft>
                <a:spcPts val="500"/>
              </a:spcAft>
            </a:pPr>
            <a:r>
              <a:rPr sz="1050" b="1">
                <a:solidFill>
                  <a:srgbClr val="22D3EE"/>
                </a:solidFill>
                <a:latin typeface="Segoe UI"/>
              </a:rPr>
              <a:t>•  </a:t>
            </a:r>
            <a:r>
              <a:rPr b="1" sz="1050">
                <a:solidFill>
                  <a:srgbClr val="E6EDF3"/>
                </a:solidFill>
                <a:latin typeface="Segoe UI"/>
              </a:rPr>
              <a:t>Capacity deferral: </a:t>
            </a:r>
            <a:r>
              <a:rPr sz="1050">
                <a:solidFill>
                  <a:srgbClr val="E6EDF3"/>
                </a:solidFill>
                <a:latin typeface="Segoe UI"/>
              </a:rPr>
              <a:t>batching and optimized assignment roughly double the capacity of the same fleet before new robots are bought.</a:t>
            </a:r>
          </a:p>
          <a:p>
            <a:pPr>
              <a:lnSpc>
                <a:spcPct val="112000"/>
              </a:lnSpc>
              <a:spcAft>
                <a:spcPts val="500"/>
              </a:spcAft>
            </a:pPr>
            <a:r>
              <a:rPr sz="1050" b="1">
                <a:solidFill>
                  <a:srgbClr val="22D3EE"/>
                </a:solidFill>
                <a:latin typeface="Segoe UI"/>
              </a:rPr>
              <a:t>•  </a:t>
            </a:r>
            <a:r>
              <a:rPr b="1" sz="1050">
                <a:solidFill>
                  <a:srgbClr val="E6EDF3"/>
                </a:solidFill>
                <a:latin typeface="Segoe UI"/>
              </a:rPr>
              <a:t>Incident response in seconds: </a:t>
            </a:r>
            <a:r>
              <a:rPr sz="1050">
                <a:solidFill>
                  <a:srgbClr val="E6EDF3"/>
                </a:solidFill>
                <a:latin typeface="Segoe UI"/>
              </a:rPr>
              <a:t>nine simulated plans in 18.8 s instead of an improvised reaction.</a:t>
            </a:r>
          </a:p>
          <a:p>
            <a:pPr>
              <a:lnSpc>
                <a:spcPct val="112000"/>
              </a:lnSpc>
              <a:spcAft>
                <a:spcPts val="500"/>
              </a:spcAft>
            </a:pPr>
            <a:r>
              <a:rPr sz="1050" b="1">
                <a:solidFill>
                  <a:srgbClr val="22D3EE"/>
                </a:solidFill>
                <a:latin typeface="Segoe UI"/>
              </a:rPr>
              <a:t>•  </a:t>
            </a:r>
            <a:r>
              <a:rPr b="1" sz="1050">
                <a:solidFill>
                  <a:srgbClr val="E6EDF3"/>
                </a:solidFill>
                <a:latin typeface="Segoe UI"/>
              </a:rPr>
              <a:t>Auditability: </a:t>
            </a:r>
            <a:r>
              <a:rPr sz="1050">
                <a:solidFill>
                  <a:srgbClr val="E6EDF3"/>
                </a:solidFill>
                <a:latin typeface="Segoe UI"/>
              </a:rPr>
              <a:t>every executed action is an attributable event with the simulation that justified it.</a:t>
            </a:r>
          </a:p>
        </p:txBody>
      </p:sp>
      <p:sp>
        <p:nvSpPr>
          <p:cNvPr id="17" name="Rounded Rectangle 16"/>
          <p:cNvSpPr/>
          <p:nvPr/>
        </p:nvSpPr>
        <p:spPr>
          <a:xfrm>
            <a:off x="6217920" y="3200400"/>
            <a:ext cx="5440680" cy="306324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45936" y="3291840"/>
            <a:ext cx="5184648" cy="274320"/>
          </a:xfrm>
          <a:prstGeom prst="rect">
            <a:avLst/>
          </a:prstGeom>
          <a:noFill/>
        </p:spPr>
        <p:txBody>
          <a:bodyPr wrap="square" anchor="t" lIns="36576" rIns="36576" tIns="36576" bIns="36576">
            <a:spAutoFit/>
          </a:bodyPr>
          <a:lstStyle/>
          <a:p>
            <a:pPr algn="l">
              <a:lnSpc>
                <a:spcPct val="110000"/>
              </a:lnSpc>
              <a:spcAft>
                <a:spcPts val="400"/>
              </a:spcAft>
            </a:pPr>
            <a:r>
              <a:rPr sz="950" b="1" i="0">
                <a:solidFill>
                  <a:srgbClr val="22D3EE"/>
                </a:solidFill>
                <a:latin typeface="Segoe UI"/>
              </a:rPr>
              <a:t>PRICING SHAPE (ILLUSTRATIVE)</a:t>
            </a:r>
          </a:p>
        </p:txBody>
      </p:sp>
      <p:sp>
        <p:nvSpPr>
          <p:cNvPr id="19" name="TextBox 18"/>
          <p:cNvSpPr txBox="1"/>
          <p:nvPr/>
        </p:nvSpPr>
        <p:spPr>
          <a:xfrm>
            <a:off x="6309360" y="3566160"/>
            <a:ext cx="5257800" cy="2651760"/>
          </a:xfrm>
          <a:prstGeom prst="rect">
            <a:avLst/>
          </a:prstGeom>
          <a:noFill/>
        </p:spPr>
        <p:txBody>
          <a:bodyPr wrap="square" lIns="45720" rIns="45720">
            <a:spAutoFit/>
          </a:bodyPr>
          <a:lstStyle/>
          <a:p>
            <a:pPr>
              <a:lnSpc>
                <a:spcPct val="112000"/>
              </a:lnSpc>
              <a:spcAft>
                <a:spcPts val="500"/>
              </a:spcAft>
            </a:pPr>
            <a:r>
              <a:rPr sz="1050" b="1">
                <a:solidFill>
                  <a:srgbClr val="22D3EE"/>
                </a:solidFill>
                <a:latin typeface="Segoe UI"/>
              </a:rPr>
              <a:t>•  </a:t>
            </a:r>
            <a:r>
              <a:rPr b="1" sz="1050">
                <a:solidFill>
                  <a:srgbClr val="E6EDF3"/>
                </a:solidFill>
                <a:latin typeface="Segoe UI"/>
              </a:rPr>
              <a:t>Pilot: </a:t>
            </a:r>
            <a:r>
              <a:rPr sz="1050">
                <a:solidFill>
                  <a:srgbClr val="E6EDF3"/>
                </a:solidFill>
                <a:latin typeface="Segoe UI"/>
              </a:rPr>
              <a:t>fixed project fee; deliverable = calibrated twin + benchmark report + decision log.</a:t>
            </a:r>
          </a:p>
          <a:p>
            <a:pPr>
              <a:lnSpc>
                <a:spcPct val="112000"/>
              </a:lnSpc>
              <a:spcAft>
                <a:spcPts val="500"/>
              </a:spcAft>
            </a:pPr>
            <a:r>
              <a:rPr sz="1050" b="1">
                <a:solidFill>
                  <a:srgbClr val="22D3EE"/>
                </a:solidFill>
                <a:latin typeface="Segoe UI"/>
              </a:rPr>
              <a:t>•  </a:t>
            </a:r>
            <a:r>
              <a:rPr b="1" sz="1050">
                <a:solidFill>
                  <a:srgbClr val="E6EDF3"/>
                </a:solidFill>
                <a:latin typeface="Segoe UI"/>
              </a:rPr>
              <a:t>Platform: </a:t>
            </a:r>
            <a:r>
              <a:rPr sz="1050">
                <a:solidFill>
                  <a:srgbClr val="E6EDF3"/>
                </a:solidFill>
                <a:latin typeface="Segoe UI"/>
              </a:rPr>
              <a:t>per site per month, tiered by fleet size (≤ 25 · ≤ 100 · &gt; 100 robots) and zones.</a:t>
            </a:r>
          </a:p>
          <a:p>
            <a:pPr>
              <a:lnSpc>
                <a:spcPct val="112000"/>
              </a:lnSpc>
              <a:spcAft>
                <a:spcPts val="500"/>
              </a:spcAft>
            </a:pPr>
            <a:r>
              <a:rPr sz="1050" b="1">
                <a:solidFill>
                  <a:srgbClr val="22D3EE"/>
                </a:solidFill>
                <a:latin typeface="Segoe UI"/>
              </a:rPr>
              <a:t>•  </a:t>
            </a:r>
            <a:r>
              <a:rPr b="1" sz="1050">
                <a:solidFill>
                  <a:srgbClr val="E6EDF3"/>
                </a:solidFill>
                <a:latin typeface="Segoe UI"/>
              </a:rPr>
              <a:t>Packs &amp; integrations: </a:t>
            </a:r>
            <a:r>
              <a:rPr sz="1050">
                <a:solidFill>
                  <a:srgbClr val="E6EDF3"/>
                </a:solidFill>
                <a:latin typeface="Segoe UI"/>
              </a:rPr>
              <a:t>priced per connector / domain model; simulator bridges as add-ons.</a:t>
            </a:r>
          </a:p>
          <a:p>
            <a:pPr>
              <a:lnSpc>
                <a:spcPct val="112000"/>
              </a:lnSpc>
              <a:spcAft>
                <a:spcPts val="500"/>
              </a:spcAft>
            </a:pPr>
            <a:r>
              <a:rPr sz="1050" b="1">
                <a:solidFill>
                  <a:srgbClr val="22D3EE"/>
                </a:solidFill>
                <a:latin typeface="Segoe UI"/>
              </a:rPr>
              <a:t>•  </a:t>
            </a:r>
            <a:r>
              <a:rPr b="1" sz="1050">
                <a:solidFill>
                  <a:srgbClr val="E6EDF3"/>
                </a:solidFill>
                <a:latin typeface="Segoe UI"/>
              </a:rPr>
              <a:t>Why it sticks: </a:t>
            </a:r>
            <a:r>
              <a:rPr sz="1050">
                <a:solidFill>
                  <a:srgbClr val="E6EDF3"/>
                </a:solidFill>
                <a:latin typeface="Segoe UI"/>
              </a:rPr>
              <a:t>the twin accumulates the site's history, calibration and playbooks — switching cost grows with every incident handled.</a:t>
            </a:r>
          </a:p>
          <a:p>
            <a:pPr>
              <a:lnSpc>
                <a:spcPct val="112000"/>
              </a:lnSpc>
              <a:spcAft>
                <a:spcPts val="500"/>
              </a:spcAft>
            </a:pPr>
            <a:r>
              <a:rPr sz="1050" b="1">
                <a:solidFill>
                  <a:srgbClr val="22D3EE"/>
                </a:solidFill>
                <a:latin typeface="Segoe UI"/>
              </a:rPr>
              <a:t>•  </a:t>
            </a:r>
            <a:r>
              <a:rPr b="1" sz="1050">
                <a:solidFill>
                  <a:srgbClr val="E6EDF3"/>
                </a:solidFill>
                <a:latin typeface="Segoe UI"/>
              </a:rPr>
              <a:t>Cost base: </a:t>
            </a:r>
            <a:r>
              <a:rPr sz="1050">
                <a:solidFill>
                  <a:srgbClr val="E6EDF3"/>
                </a:solidFill>
                <a:latin typeface="Segoe UI"/>
              </a:rPr>
              <a:t>no per-token API fees — local models and open-source solvers keep gross margin high.</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0D12"/>
        </a:solidFill>
        <a:effectLst/>
      </p:bgPr>
    </p:bg>
    <p:spTree>
      <p:nvGrpSpPr>
        <p:cNvPr id="1" name=""/>
        <p:cNvGrpSpPr/>
        <p:nvPr/>
      </p:nvGrpSpPr>
      <p:grpSpPr/>
      <p:sp>
        <p:nvSpPr>
          <p:cNvPr id="2" name="TextBox 1"/>
          <p:cNvSpPr txBox="1"/>
          <p:nvPr/>
        </p:nvSpPr>
        <p:spPr>
          <a:xfrm>
            <a:off x="548640" y="256032"/>
            <a:ext cx="8229600" cy="274320"/>
          </a:xfrm>
          <a:prstGeom prst="rect">
            <a:avLst/>
          </a:prstGeom>
          <a:noFill/>
        </p:spPr>
        <p:txBody>
          <a:bodyPr wrap="square" anchor="t" lIns="36576" rIns="36576" tIns="36576" bIns="36576">
            <a:spAutoFit/>
          </a:bodyPr>
          <a:lstStyle/>
          <a:p>
            <a:pPr algn="l">
              <a:lnSpc>
                <a:spcPct val="110000"/>
              </a:lnSpc>
              <a:spcAft>
                <a:spcPts val="400"/>
              </a:spcAft>
            </a:pPr>
            <a:r>
              <a:rPr sz="1050" b="1" i="0">
                <a:solidFill>
                  <a:srgbClr val="22D3EE"/>
                </a:solidFill>
                <a:latin typeface="Segoe UI"/>
              </a:rPr>
              <a:t>COMPETITIVE LANDSCAPE</a:t>
            </a:r>
          </a:p>
        </p:txBody>
      </p:sp>
      <p:sp>
        <p:nvSpPr>
          <p:cNvPr id="3" name="TextBox 2"/>
          <p:cNvSpPr txBox="1"/>
          <p:nvPr/>
        </p:nvSpPr>
        <p:spPr>
          <a:xfrm>
            <a:off x="548640" y="502920"/>
            <a:ext cx="10607040" cy="731520"/>
          </a:xfrm>
          <a:prstGeom prst="rect">
            <a:avLst/>
          </a:prstGeom>
          <a:noFill/>
        </p:spPr>
        <p:txBody>
          <a:bodyPr wrap="square" anchor="ctr" lIns="36576" rIns="36576" tIns="36576" bIns="36576">
            <a:spAutoFit/>
          </a:bodyPr>
          <a:lstStyle/>
          <a:p>
            <a:pPr algn="l">
              <a:lnSpc>
                <a:spcPct val="110000"/>
              </a:lnSpc>
              <a:spcAft>
                <a:spcPts val="400"/>
              </a:spcAft>
            </a:pPr>
            <a:r>
              <a:rPr sz="2400" b="1" i="0">
                <a:solidFill>
                  <a:srgbClr val="E6EDF3"/>
                </a:solidFill>
                <a:latin typeface="Segoe UI"/>
              </a:rPr>
              <a:t>No one else closes the loop from prediction to action</a:t>
            </a:r>
          </a:p>
        </p:txBody>
      </p:sp>
      <p:sp>
        <p:nvSpPr>
          <p:cNvPr id="4" name="Rectangle 3"/>
          <p:cNvSpPr/>
          <p:nvPr/>
        </p:nvSpPr>
        <p:spPr>
          <a:xfrm>
            <a:off x="566928" y="1216152"/>
            <a:ext cx="100584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6400800" cy="274320"/>
          </a:xfrm>
          <a:prstGeom prst="rect">
            <a:avLst/>
          </a:prstGeom>
          <a:noFill/>
        </p:spPr>
        <p:txBody>
          <a:bodyPr wrap="square" anchor="t" lIns="36576" rIns="36576" tIns="36576" bIns="36576">
            <a:spAutoFit/>
          </a:bodyPr>
          <a:lstStyle/>
          <a:p>
            <a:pPr algn="l">
              <a:lnSpc>
                <a:spcPct val="110000"/>
              </a:lnSpc>
              <a:spcAft>
                <a:spcPts val="400"/>
              </a:spcAft>
            </a:pPr>
            <a:r>
              <a:rPr sz="950" b="0" i="0">
                <a:solidFill>
                  <a:srgbClr val="8B98A5"/>
                </a:solidFill>
                <a:latin typeface="Segoe UI"/>
              </a:rPr>
              <a:t>NEXUS · Autonomous Operations Intelligence</a:t>
            </a:r>
          </a:p>
        </p:txBody>
      </p:sp>
      <p:sp>
        <p:nvSpPr>
          <p:cNvPr id="6" name="TextBox 5"/>
          <p:cNvSpPr txBox="1"/>
          <p:nvPr/>
        </p:nvSpPr>
        <p:spPr>
          <a:xfrm>
            <a:off x="10607040" y="6446520"/>
            <a:ext cx="1051560" cy="274320"/>
          </a:xfrm>
          <a:prstGeom prst="rect">
            <a:avLst/>
          </a:prstGeom>
          <a:noFill/>
        </p:spPr>
        <p:txBody>
          <a:bodyPr wrap="square" anchor="t" lIns="36576" rIns="36576" tIns="36576" bIns="36576">
            <a:spAutoFit/>
          </a:bodyPr>
          <a:lstStyle/>
          <a:p>
            <a:pPr algn="r">
              <a:lnSpc>
                <a:spcPct val="110000"/>
              </a:lnSpc>
              <a:spcAft>
                <a:spcPts val="400"/>
              </a:spcAft>
            </a:pPr>
            <a:r>
              <a:rPr sz="950" b="0" i="0">
                <a:solidFill>
                  <a:srgbClr val="8B98A5"/>
                </a:solidFill>
                <a:latin typeface="Consolas"/>
              </a:rPr>
              <a:t>28</a:t>
            </a:r>
          </a:p>
        </p:txBody>
      </p:sp>
      <p:graphicFrame>
        <p:nvGraphicFramePr>
          <p:cNvPr id="7" name="Table 6"/>
          <p:cNvGraphicFramePr>
            <a:graphicFrameLocks noGrp="1"/>
          </p:cNvGraphicFramePr>
          <p:nvPr/>
        </p:nvGraphicFramePr>
        <p:xfrm>
          <a:off x="548640" y="1463040"/>
          <a:ext cx="11109960" cy="3291840"/>
        </p:xfrm>
        <a:graphic>
          <a:graphicData uri="http://schemas.openxmlformats.org/drawingml/2006/table">
            <a:tbl>
              <a:tblPr firstRow="1" bandRow="0">
                <a:tableStyleId>{2D5ABB26-0587-4C30-8999-92F81FD0307C}</a:tableStyleId>
              </a:tblPr>
              <a:tblGrid>
                <a:gridCol w="2514600"/>
                <a:gridCol w="1143000"/>
                <a:gridCol w="1005840"/>
                <a:gridCol w="1600200"/>
                <a:gridCol w="1234440"/>
                <a:gridCol w="1325880"/>
                <a:gridCol w="1280160"/>
                <a:gridCol w="1005840"/>
              </a:tblGrid>
              <a:tr h="548640">
                <a:tc>
                  <a:txBody>
                    <a:bodyPr wrap="square"/>
                    <a:lstStyle/>
                    <a:p>
                      <a:pPr algn="l"/>
                      <a:r>
                        <a:rPr sz="900" b="1">
                          <a:solidFill>
                            <a:srgbClr val="22D3EE"/>
                          </a:solidFill>
                          <a:latin typeface="Segoe UI"/>
                        </a:rPr>
                        <a:t/>
                      </a:r>
                    </a:p>
                  </a:txBody>
                  <a:tcPr marL="64008" marR="64008" marT="27432" marB="27432" anchor="ctr">
                    <a:solidFill>
                      <a:srgbClr val="182130"/>
                    </a:solidFill>
                  </a:tcPr>
                </a:tc>
                <a:tc>
                  <a:txBody>
                    <a:bodyPr wrap="square"/>
                    <a:lstStyle/>
                    <a:p>
                      <a:pPr algn="l"/>
                      <a:r>
                        <a:rPr sz="900" b="1">
                          <a:solidFill>
                            <a:srgbClr val="22D3EE"/>
                          </a:solidFill>
                          <a:latin typeface="Segoe UI"/>
                        </a:rPr>
                        <a:t>live twin</a:t>
                      </a:r>
                    </a:p>
                  </a:txBody>
                  <a:tcPr marL="64008" marR="64008" marT="27432" marB="27432" anchor="ctr">
                    <a:solidFill>
                      <a:srgbClr val="182130"/>
                    </a:solidFill>
                  </a:tcPr>
                </a:tc>
                <a:tc>
                  <a:txBody>
                    <a:bodyPr wrap="square"/>
                    <a:lstStyle/>
                    <a:p>
                      <a:pPr algn="l"/>
                      <a:r>
                        <a:rPr sz="900" b="1">
                          <a:solidFill>
                            <a:srgbClr val="22D3EE"/>
                          </a:solidFill>
                          <a:latin typeface="Segoe UI"/>
                        </a:rPr>
                        <a:t>predicts</a:t>
                      </a:r>
                    </a:p>
                  </a:txBody>
                  <a:tcPr marL="64008" marR="64008" marT="27432" marB="27432" anchor="ctr">
                    <a:solidFill>
                      <a:srgbClr val="182130"/>
                    </a:solidFill>
                  </a:tcPr>
                </a:tc>
                <a:tc>
                  <a:txBody>
                    <a:bodyPr wrap="square"/>
                    <a:lstStyle/>
                    <a:p>
                      <a:pPr algn="l"/>
                      <a:r>
                        <a:rPr sz="900" b="1">
                          <a:solidFill>
                            <a:srgbClr val="22D3EE"/>
                          </a:solidFill>
                          <a:latin typeface="Segoe UI"/>
                        </a:rPr>
                        <a:t>simulates before acting</a:t>
                      </a:r>
                    </a:p>
                  </a:txBody>
                  <a:tcPr marL="64008" marR="64008" marT="27432" marB="27432" anchor="ctr">
                    <a:solidFill>
                      <a:srgbClr val="182130"/>
                    </a:solidFill>
                  </a:tcPr>
                </a:tc>
                <a:tc>
                  <a:txBody>
                    <a:bodyPr wrap="square"/>
                    <a:lstStyle/>
                    <a:p>
                      <a:pPr algn="l"/>
                      <a:r>
                        <a:rPr sz="900" b="1">
                          <a:solidFill>
                            <a:srgbClr val="22D3EE"/>
                          </a:solidFill>
                          <a:latin typeface="Segoe UI"/>
                        </a:rPr>
                        <a:t>optimizes (OR)</a:t>
                      </a:r>
                    </a:p>
                  </a:txBody>
                  <a:tcPr marL="64008" marR="64008" marT="27432" marB="27432" anchor="ctr">
                    <a:solidFill>
                      <a:srgbClr val="182130"/>
                    </a:solidFill>
                  </a:tcPr>
                </a:tc>
                <a:tc>
                  <a:txBody>
                    <a:bodyPr wrap="square"/>
                    <a:lstStyle/>
                    <a:p>
                      <a:pPr algn="l"/>
                      <a:r>
                        <a:rPr sz="900" b="1">
                          <a:solidFill>
                            <a:srgbClr val="22D3EE"/>
                          </a:solidFill>
                          <a:latin typeface="Segoe UI"/>
                        </a:rPr>
                        <a:t>safety &amp; approval</a:t>
                      </a:r>
                    </a:p>
                  </a:txBody>
                  <a:tcPr marL="64008" marR="64008" marT="27432" marB="27432" anchor="ctr">
                    <a:solidFill>
                      <a:srgbClr val="182130"/>
                    </a:solidFill>
                  </a:tcPr>
                </a:tc>
                <a:tc>
                  <a:txBody>
                    <a:bodyPr wrap="square"/>
                    <a:lstStyle/>
                    <a:p>
                      <a:pPr algn="l"/>
                      <a:r>
                        <a:rPr sz="900" b="1">
                          <a:solidFill>
                            <a:srgbClr val="22D3EE"/>
                          </a:solidFill>
                          <a:latin typeface="Segoe UI"/>
                        </a:rPr>
                        <a:t>explains in language</a:t>
                      </a:r>
                    </a:p>
                  </a:txBody>
                  <a:tcPr marL="64008" marR="64008" marT="27432" marB="27432" anchor="ctr">
                    <a:solidFill>
                      <a:srgbClr val="182130"/>
                    </a:solidFill>
                  </a:tcPr>
                </a:tc>
                <a:tc>
                  <a:txBody>
                    <a:bodyPr wrap="square"/>
                    <a:lstStyle/>
                    <a:p>
                      <a:pPr algn="l"/>
                      <a:r>
                        <a:rPr sz="900" b="1">
                          <a:solidFill>
                            <a:srgbClr val="22D3EE"/>
                          </a:solidFill>
                          <a:latin typeface="Segoe UI"/>
                        </a:rPr>
                        <a:t>local-first</a:t>
                      </a:r>
                    </a:p>
                  </a:txBody>
                  <a:tcPr marL="64008" marR="64008" marT="27432" marB="27432" anchor="ctr">
                    <a:solidFill>
                      <a:srgbClr val="182130"/>
                    </a:solidFill>
                  </a:tcPr>
                </a:tc>
              </a:tr>
              <a:tr h="548640">
                <a:tc>
                  <a:txBody>
                    <a:bodyPr wrap="square"/>
                    <a:lstStyle/>
                    <a:p>
                      <a:pPr algn="l"/>
                      <a:r>
                        <a:rPr sz="1050" b="0">
                          <a:solidFill>
                            <a:srgbClr val="E6EDF3"/>
                          </a:solidFill>
                          <a:latin typeface="Segoe UI"/>
                        </a:rPr>
                        <a:t>WMS / BI dashboards</a:t>
                      </a:r>
                    </a:p>
                  </a:txBody>
                  <a:tcPr marL="64008" marR="64008" marT="27432" marB="27432" anchor="ctr">
                    <a:solidFill>
                      <a:srgbClr val="11161D"/>
                    </a:solidFill>
                  </a:tcPr>
                </a:tc>
                <a:tc>
                  <a:txBody>
                    <a:bodyPr wrap="square"/>
                    <a:lstStyle/>
                    <a:p>
                      <a:pPr algn="l"/>
                      <a:r>
                        <a:rPr sz="1050" b="0">
                          <a:solidFill>
                            <a:srgbClr val="E6EDF3"/>
                          </a:solidFill>
                          <a:latin typeface="Segoe UI"/>
                        </a:rPr>
                        <a:t>partial</a:t>
                      </a:r>
                    </a:p>
                  </a:txBody>
                  <a:tcPr marL="64008" marR="64008" marT="27432" marB="27432" anchor="ctr">
                    <a:solidFill>
                      <a:srgbClr val="11161D"/>
                    </a:solidFill>
                  </a:tcPr>
                </a:tc>
                <a:tc>
                  <a:txBody>
                    <a:bodyPr wrap="square"/>
                    <a:lstStyle/>
                    <a:p>
                      <a:pPr algn="l"/>
                      <a:r>
                        <a:rPr sz="1050" b="0">
                          <a:solidFill>
                            <a:srgbClr val="E6EDF3"/>
                          </a:solidFill>
                          <a:latin typeface="Segoe UI"/>
                        </a:rPr>
                        <a:t>–</a:t>
                      </a:r>
                    </a:p>
                  </a:txBody>
                  <a:tcPr marL="64008" marR="64008" marT="27432" marB="27432" anchor="ctr">
                    <a:solidFill>
                      <a:srgbClr val="11161D"/>
                    </a:solidFill>
                  </a:tcPr>
                </a:tc>
                <a:tc>
                  <a:txBody>
                    <a:bodyPr wrap="square"/>
                    <a:lstStyle/>
                    <a:p>
                      <a:pPr algn="l"/>
                      <a:r>
                        <a:rPr sz="1050" b="0">
                          <a:solidFill>
                            <a:srgbClr val="E6EDF3"/>
                          </a:solidFill>
                          <a:latin typeface="Segoe UI"/>
                        </a:rPr>
                        <a:t>–</a:t>
                      </a:r>
                    </a:p>
                  </a:txBody>
                  <a:tcPr marL="64008" marR="64008" marT="27432" marB="27432" anchor="ctr">
                    <a:solidFill>
                      <a:srgbClr val="11161D"/>
                    </a:solidFill>
                  </a:tcPr>
                </a:tc>
                <a:tc>
                  <a:txBody>
                    <a:bodyPr wrap="square"/>
                    <a:lstStyle/>
                    <a:p>
                      <a:pPr algn="l"/>
                      <a:r>
                        <a:rPr sz="1050" b="0">
                          <a:solidFill>
                            <a:srgbClr val="E6EDF3"/>
                          </a:solidFill>
                          <a:latin typeface="Segoe UI"/>
                        </a:rPr>
                        <a:t>–</a:t>
                      </a:r>
                    </a:p>
                  </a:txBody>
                  <a:tcPr marL="64008" marR="64008" marT="27432" marB="27432" anchor="ctr">
                    <a:solidFill>
                      <a:srgbClr val="11161D"/>
                    </a:solidFill>
                  </a:tcPr>
                </a:tc>
                <a:tc>
                  <a:txBody>
                    <a:bodyPr wrap="square"/>
                    <a:lstStyle/>
                    <a:p>
                      <a:pPr algn="l"/>
                      <a:r>
                        <a:rPr sz="1050" b="0">
                          <a:solidFill>
                            <a:srgbClr val="E6EDF3"/>
                          </a:solidFill>
                          <a:latin typeface="Segoe UI"/>
                        </a:rPr>
                        <a:t>–</a:t>
                      </a:r>
                    </a:p>
                  </a:txBody>
                  <a:tcPr marL="64008" marR="64008" marT="27432" marB="27432" anchor="ctr">
                    <a:solidFill>
                      <a:srgbClr val="11161D"/>
                    </a:solidFill>
                  </a:tcPr>
                </a:tc>
                <a:tc>
                  <a:txBody>
                    <a:bodyPr wrap="square"/>
                    <a:lstStyle/>
                    <a:p>
                      <a:pPr algn="l"/>
                      <a:r>
                        <a:rPr sz="1050" b="0">
                          <a:solidFill>
                            <a:srgbClr val="E6EDF3"/>
                          </a:solidFill>
                          <a:latin typeface="Segoe UI"/>
                        </a:rPr>
                        <a:t>–</a:t>
                      </a:r>
                    </a:p>
                  </a:txBody>
                  <a:tcPr marL="64008" marR="64008" marT="27432" marB="27432" anchor="ctr">
                    <a:solidFill>
                      <a:srgbClr val="11161D"/>
                    </a:solidFill>
                  </a:tcPr>
                </a:tc>
                <a:tc>
                  <a:txBody>
                    <a:bodyPr wrap="square"/>
                    <a:lstStyle/>
                    <a:p>
                      <a:pPr algn="l"/>
                      <a:r>
                        <a:rPr sz="1050" b="0">
                          <a:solidFill>
                            <a:srgbClr val="E6EDF3"/>
                          </a:solidFill>
                          <a:latin typeface="Segoe UI"/>
                        </a:rPr>
                        <a:t>✓</a:t>
                      </a:r>
                    </a:p>
                  </a:txBody>
                  <a:tcPr marL="64008" marR="64008" marT="27432" marB="27432" anchor="ctr">
                    <a:solidFill>
                      <a:srgbClr val="11161D"/>
                    </a:solidFill>
                  </a:tcPr>
                </a:tc>
              </a:tr>
              <a:tr h="548640">
                <a:tc>
                  <a:txBody>
                    <a:bodyPr wrap="square"/>
                    <a:lstStyle/>
                    <a:p>
                      <a:pPr algn="l"/>
                      <a:r>
                        <a:rPr sz="1050" b="0">
                          <a:solidFill>
                            <a:srgbClr val="E6EDF3"/>
                          </a:solidFill>
                          <a:latin typeface="Segoe UI"/>
                        </a:rPr>
                        <a:t>Robot fleet managers (vendor)</a:t>
                      </a:r>
                    </a:p>
                  </a:txBody>
                  <a:tcPr marL="64008" marR="64008" marT="27432" marB="27432" anchor="ctr">
                    <a:solidFill>
                      <a:srgbClr val="0E1319"/>
                    </a:solidFill>
                  </a:tcPr>
                </a:tc>
                <a:tc>
                  <a:txBody>
                    <a:bodyPr wrap="square"/>
                    <a:lstStyle/>
                    <a:p>
                      <a:pPr algn="l"/>
                      <a:r>
                        <a:rPr sz="1050" b="0">
                          <a:solidFill>
                            <a:srgbClr val="E6EDF3"/>
                          </a:solidFill>
                          <a:latin typeface="Segoe UI"/>
                        </a:rPr>
                        <a:t>✓ (own fleet)</a:t>
                      </a:r>
                    </a:p>
                  </a:txBody>
                  <a:tcPr marL="64008" marR="64008" marT="27432" marB="27432" anchor="ctr">
                    <a:solidFill>
                      <a:srgbClr val="0E1319"/>
                    </a:solidFill>
                  </a:tcPr>
                </a:tc>
                <a:tc>
                  <a:txBody>
                    <a:bodyPr wrap="square"/>
                    <a:lstStyle/>
                    <a:p>
                      <a:pPr algn="l"/>
                      <a:r>
                        <a:rPr sz="1050" b="0">
                          <a:solidFill>
                            <a:srgbClr val="E6EDF3"/>
                          </a:solidFill>
                          <a:latin typeface="Segoe UI"/>
                        </a:rPr>
                        <a:t>–</a:t>
                      </a:r>
                    </a:p>
                  </a:txBody>
                  <a:tcPr marL="64008" marR="64008" marT="27432" marB="27432" anchor="ctr">
                    <a:solidFill>
                      <a:srgbClr val="0E1319"/>
                    </a:solidFill>
                  </a:tcPr>
                </a:tc>
                <a:tc>
                  <a:txBody>
                    <a:bodyPr wrap="square"/>
                    <a:lstStyle/>
                    <a:p>
                      <a:pPr algn="l"/>
                      <a:r>
                        <a:rPr sz="1050" b="0">
                          <a:solidFill>
                            <a:srgbClr val="E6EDF3"/>
                          </a:solidFill>
                          <a:latin typeface="Segoe UI"/>
                        </a:rPr>
                        <a:t>–</a:t>
                      </a:r>
                    </a:p>
                  </a:txBody>
                  <a:tcPr marL="64008" marR="64008" marT="27432" marB="27432" anchor="ctr">
                    <a:solidFill>
                      <a:srgbClr val="0E1319"/>
                    </a:solidFill>
                  </a:tcPr>
                </a:tc>
                <a:tc>
                  <a:txBody>
                    <a:bodyPr wrap="square"/>
                    <a:lstStyle/>
                    <a:p>
                      <a:pPr algn="l"/>
                      <a:r>
                        <a:rPr sz="1050" b="0">
                          <a:solidFill>
                            <a:srgbClr val="E6EDF3"/>
                          </a:solidFill>
                          <a:latin typeface="Segoe UI"/>
                        </a:rPr>
                        <a:t>partial</a:t>
                      </a:r>
                    </a:p>
                  </a:txBody>
                  <a:tcPr marL="64008" marR="64008" marT="27432" marB="27432" anchor="ctr">
                    <a:solidFill>
                      <a:srgbClr val="0E1319"/>
                    </a:solidFill>
                  </a:tcPr>
                </a:tc>
                <a:tc>
                  <a:txBody>
                    <a:bodyPr wrap="square"/>
                    <a:lstStyle/>
                    <a:p>
                      <a:pPr algn="l"/>
                      <a:r>
                        <a:rPr sz="1050" b="0">
                          <a:solidFill>
                            <a:srgbClr val="E6EDF3"/>
                          </a:solidFill>
                          <a:latin typeface="Segoe UI"/>
                        </a:rPr>
                        <a:t>partial</a:t>
                      </a:r>
                    </a:p>
                  </a:txBody>
                  <a:tcPr marL="64008" marR="64008" marT="27432" marB="27432" anchor="ctr">
                    <a:solidFill>
                      <a:srgbClr val="0E1319"/>
                    </a:solidFill>
                  </a:tcPr>
                </a:tc>
                <a:tc>
                  <a:txBody>
                    <a:bodyPr wrap="square"/>
                    <a:lstStyle/>
                    <a:p>
                      <a:pPr algn="l"/>
                      <a:r>
                        <a:rPr sz="1050" b="0">
                          <a:solidFill>
                            <a:srgbClr val="E6EDF3"/>
                          </a:solidFill>
                          <a:latin typeface="Segoe UI"/>
                        </a:rPr>
                        <a:t>–</a:t>
                      </a:r>
                    </a:p>
                  </a:txBody>
                  <a:tcPr marL="64008" marR="64008" marT="27432" marB="27432" anchor="ctr">
                    <a:solidFill>
                      <a:srgbClr val="0E1319"/>
                    </a:solidFill>
                  </a:tcPr>
                </a:tc>
                <a:tc>
                  <a:txBody>
                    <a:bodyPr wrap="square"/>
                    <a:lstStyle/>
                    <a:p>
                      <a:pPr algn="l"/>
                      <a:r>
                        <a:rPr sz="1050" b="0">
                          <a:solidFill>
                            <a:srgbClr val="E6EDF3"/>
                          </a:solidFill>
                          <a:latin typeface="Segoe UI"/>
                        </a:rPr>
                        <a:t>✓</a:t>
                      </a:r>
                    </a:p>
                  </a:txBody>
                  <a:tcPr marL="64008" marR="64008" marT="27432" marB="27432" anchor="ctr">
                    <a:solidFill>
                      <a:srgbClr val="0E1319"/>
                    </a:solidFill>
                  </a:tcPr>
                </a:tc>
              </a:tr>
              <a:tr h="548640">
                <a:tc>
                  <a:txBody>
                    <a:bodyPr wrap="square"/>
                    <a:lstStyle/>
                    <a:p>
                      <a:pPr algn="l"/>
                      <a:r>
                        <a:rPr sz="1050" b="0">
                          <a:solidFill>
                            <a:srgbClr val="E6EDF3"/>
                          </a:solidFill>
                          <a:latin typeface="Segoe UI"/>
                        </a:rPr>
                        <a:t>Discrete-event simulation tools</a:t>
                      </a:r>
                    </a:p>
                  </a:txBody>
                  <a:tcPr marL="64008" marR="64008" marT="27432" marB="27432" anchor="ctr">
                    <a:solidFill>
                      <a:srgbClr val="11161D"/>
                    </a:solidFill>
                  </a:tcPr>
                </a:tc>
                <a:tc>
                  <a:txBody>
                    <a:bodyPr wrap="square"/>
                    <a:lstStyle/>
                    <a:p>
                      <a:pPr algn="l"/>
                      <a:r>
                        <a:rPr sz="1050" b="0">
                          <a:solidFill>
                            <a:srgbClr val="E6EDF3"/>
                          </a:solidFill>
                          <a:latin typeface="Segoe UI"/>
                        </a:rPr>
                        <a:t>–</a:t>
                      </a:r>
                    </a:p>
                  </a:txBody>
                  <a:tcPr marL="64008" marR="64008" marT="27432" marB="27432" anchor="ctr">
                    <a:solidFill>
                      <a:srgbClr val="11161D"/>
                    </a:solidFill>
                  </a:tcPr>
                </a:tc>
                <a:tc>
                  <a:txBody>
                    <a:bodyPr wrap="square"/>
                    <a:lstStyle/>
                    <a:p>
                      <a:pPr algn="l"/>
                      <a:r>
                        <a:rPr sz="1050" b="0">
                          <a:solidFill>
                            <a:srgbClr val="E6EDF3"/>
                          </a:solidFill>
                          <a:latin typeface="Segoe UI"/>
                        </a:rPr>
                        <a:t>offline</a:t>
                      </a:r>
                    </a:p>
                  </a:txBody>
                  <a:tcPr marL="64008" marR="64008" marT="27432" marB="27432" anchor="ctr">
                    <a:solidFill>
                      <a:srgbClr val="11161D"/>
                    </a:solidFill>
                  </a:tcPr>
                </a:tc>
                <a:tc>
                  <a:txBody>
                    <a:bodyPr wrap="square"/>
                    <a:lstStyle/>
                    <a:p>
                      <a:pPr algn="l"/>
                      <a:r>
                        <a:rPr sz="1050" b="0">
                          <a:solidFill>
                            <a:srgbClr val="E6EDF3"/>
                          </a:solidFill>
                          <a:latin typeface="Segoe UI"/>
                        </a:rPr>
                        <a:t>offline</a:t>
                      </a:r>
                    </a:p>
                  </a:txBody>
                  <a:tcPr marL="64008" marR="64008" marT="27432" marB="27432" anchor="ctr">
                    <a:solidFill>
                      <a:srgbClr val="11161D"/>
                    </a:solidFill>
                  </a:tcPr>
                </a:tc>
                <a:tc>
                  <a:txBody>
                    <a:bodyPr wrap="square"/>
                    <a:lstStyle/>
                    <a:p>
                      <a:pPr algn="l"/>
                      <a:r>
                        <a:rPr sz="1050" b="0">
                          <a:solidFill>
                            <a:srgbClr val="E6EDF3"/>
                          </a:solidFill>
                          <a:latin typeface="Segoe UI"/>
                        </a:rPr>
                        <a:t>partial</a:t>
                      </a:r>
                    </a:p>
                  </a:txBody>
                  <a:tcPr marL="64008" marR="64008" marT="27432" marB="27432" anchor="ctr">
                    <a:solidFill>
                      <a:srgbClr val="11161D"/>
                    </a:solidFill>
                  </a:tcPr>
                </a:tc>
                <a:tc>
                  <a:txBody>
                    <a:bodyPr wrap="square"/>
                    <a:lstStyle/>
                    <a:p>
                      <a:pPr algn="l"/>
                      <a:r>
                        <a:rPr sz="1050" b="0">
                          <a:solidFill>
                            <a:srgbClr val="E6EDF3"/>
                          </a:solidFill>
                          <a:latin typeface="Segoe UI"/>
                        </a:rPr>
                        <a:t>–</a:t>
                      </a:r>
                    </a:p>
                  </a:txBody>
                  <a:tcPr marL="64008" marR="64008" marT="27432" marB="27432" anchor="ctr">
                    <a:solidFill>
                      <a:srgbClr val="11161D"/>
                    </a:solidFill>
                  </a:tcPr>
                </a:tc>
                <a:tc>
                  <a:txBody>
                    <a:bodyPr wrap="square"/>
                    <a:lstStyle/>
                    <a:p>
                      <a:pPr algn="l"/>
                      <a:r>
                        <a:rPr sz="1050" b="0">
                          <a:solidFill>
                            <a:srgbClr val="E6EDF3"/>
                          </a:solidFill>
                          <a:latin typeface="Segoe UI"/>
                        </a:rPr>
                        <a:t>–</a:t>
                      </a:r>
                    </a:p>
                  </a:txBody>
                  <a:tcPr marL="64008" marR="64008" marT="27432" marB="27432" anchor="ctr">
                    <a:solidFill>
                      <a:srgbClr val="11161D"/>
                    </a:solidFill>
                  </a:tcPr>
                </a:tc>
                <a:tc>
                  <a:txBody>
                    <a:bodyPr wrap="square"/>
                    <a:lstStyle/>
                    <a:p>
                      <a:pPr algn="l"/>
                      <a:r>
                        <a:rPr sz="1050" b="0">
                          <a:solidFill>
                            <a:srgbClr val="E6EDF3"/>
                          </a:solidFill>
                          <a:latin typeface="Segoe UI"/>
                        </a:rPr>
                        <a:t>✓</a:t>
                      </a:r>
                    </a:p>
                  </a:txBody>
                  <a:tcPr marL="64008" marR="64008" marT="27432" marB="27432" anchor="ctr">
                    <a:solidFill>
                      <a:srgbClr val="11161D"/>
                    </a:solidFill>
                  </a:tcPr>
                </a:tc>
              </a:tr>
              <a:tr h="548640">
                <a:tc>
                  <a:txBody>
                    <a:bodyPr wrap="square"/>
                    <a:lstStyle/>
                    <a:p>
                      <a:pPr algn="l"/>
                      <a:r>
                        <a:rPr sz="1050" b="0">
                          <a:solidFill>
                            <a:srgbClr val="E6EDF3"/>
                          </a:solidFill>
                          <a:latin typeface="Segoe UI"/>
                        </a:rPr>
                        <a:t>Generic LLM copilots</a:t>
                      </a:r>
                    </a:p>
                  </a:txBody>
                  <a:tcPr marL="64008" marR="64008" marT="27432" marB="27432" anchor="ctr">
                    <a:solidFill>
                      <a:srgbClr val="0E1319"/>
                    </a:solidFill>
                  </a:tcPr>
                </a:tc>
                <a:tc>
                  <a:txBody>
                    <a:bodyPr wrap="square"/>
                    <a:lstStyle/>
                    <a:p>
                      <a:pPr algn="l"/>
                      <a:r>
                        <a:rPr sz="1050" b="0">
                          <a:solidFill>
                            <a:srgbClr val="E6EDF3"/>
                          </a:solidFill>
                          <a:latin typeface="Segoe UI"/>
                        </a:rPr>
                        <a:t>–</a:t>
                      </a:r>
                    </a:p>
                  </a:txBody>
                  <a:tcPr marL="64008" marR="64008" marT="27432" marB="27432" anchor="ctr">
                    <a:solidFill>
                      <a:srgbClr val="0E1319"/>
                    </a:solidFill>
                  </a:tcPr>
                </a:tc>
                <a:tc>
                  <a:txBody>
                    <a:bodyPr wrap="square"/>
                    <a:lstStyle/>
                    <a:p>
                      <a:pPr algn="l"/>
                      <a:r>
                        <a:rPr sz="1050" b="0">
                          <a:solidFill>
                            <a:srgbClr val="E6EDF3"/>
                          </a:solidFill>
                          <a:latin typeface="Segoe UI"/>
                        </a:rPr>
                        <a:t>–</a:t>
                      </a:r>
                    </a:p>
                  </a:txBody>
                  <a:tcPr marL="64008" marR="64008" marT="27432" marB="27432" anchor="ctr">
                    <a:solidFill>
                      <a:srgbClr val="0E1319"/>
                    </a:solidFill>
                  </a:tcPr>
                </a:tc>
                <a:tc>
                  <a:txBody>
                    <a:bodyPr wrap="square"/>
                    <a:lstStyle/>
                    <a:p>
                      <a:pPr algn="l"/>
                      <a:r>
                        <a:rPr sz="1050" b="0">
                          <a:solidFill>
                            <a:srgbClr val="E6EDF3"/>
                          </a:solidFill>
                          <a:latin typeface="Segoe UI"/>
                        </a:rPr>
                        <a:t>–</a:t>
                      </a:r>
                    </a:p>
                  </a:txBody>
                  <a:tcPr marL="64008" marR="64008" marT="27432" marB="27432" anchor="ctr">
                    <a:solidFill>
                      <a:srgbClr val="0E1319"/>
                    </a:solidFill>
                  </a:tcPr>
                </a:tc>
                <a:tc>
                  <a:txBody>
                    <a:bodyPr wrap="square"/>
                    <a:lstStyle/>
                    <a:p>
                      <a:pPr algn="l"/>
                      <a:r>
                        <a:rPr sz="1050" b="0">
                          <a:solidFill>
                            <a:srgbClr val="E6EDF3"/>
                          </a:solidFill>
                          <a:latin typeface="Segoe UI"/>
                        </a:rPr>
                        <a:t>–</a:t>
                      </a:r>
                    </a:p>
                  </a:txBody>
                  <a:tcPr marL="64008" marR="64008" marT="27432" marB="27432" anchor="ctr">
                    <a:solidFill>
                      <a:srgbClr val="0E1319"/>
                    </a:solidFill>
                  </a:tcPr>
                </a:tc>
                <a:tc>
                  <a:txBody>
                    <a:bodyPr wrap="square"/>
                    <a:lstStyle/>
                    <a:p>
                      <a:pPr algn="l"/>
                      <a:r>
                        <a:rPr sz="1050" b="0">
                          <a:solidFill>
                            <a:srgbClr val="E6EDF3"/>
                          </a:solidFill>
                          <a:latin typeface="Segoe UI"/>
                        </a:rPr>
                        <a:t>–</a:t>
                      </a:r>
                    </a:p>
                  </a:txBody>
                  <a:tcPr marL="64008" marR="64008" marT="27432" marB="27432" anchor="ctr">
                    <a:solidFill>
                      <a:srgbClr val="0E1319"/>
                    </a:solidFill>
                  </a:tcPr>
                </a:tc>
                <a:tc>
                  <a:txBody>
                    <a:bodyPr wrap="square"/>
                    <a:lstStyle/>
                    <a:p>
                      <a:pPr algn="l"/>
                      <a:r>
                        <a:rPr sz="1050" b="0">
                          <a:solidFill>
                            <a:srgbClr val="E6EDF3"/>
                          </a:solidFill>
                          <a:latin typeface="Segoe UI"/>
                        </a:rPr>
                        <a:t>✓</a:t>
                      </a:r>
                    </a:p>
                  </a:txBody>
                  <a:tcPr marL="64008" marR="64008" marT="27432" marB="27432" anchor="ctr">
                    <a:solidFill>
                      <a:srgbClr val="0E1319"/>
                    </a:solidFill>
                  </a:tcPr>
                </a:tc>
                <a:tc>
                  <a:txBody>
                    <a:bodyPr wrap="square"/>
                    <a:lstStyle/>
                    <a:p>
                      <a:pPr algn="l"/>
                      <a:r>
                        <a:rPr sz="1050" b="0">
                          <a:solidFill>
                            <a:srgbClr val="E6EDF3"/>
                          </a:solidFill>
                          <a:latin typeface="Segoe UI"/>
                        </a:rPr>
                        <a:t>rarely</a:t>
                      </a:r>
                    </a:p>
                  </a:txBody>
                  <a:tcPr marL="64008" marR="64008" marT="27432" marB="27432" anchor="ctr">
                    <a:solidFill>
                      <a:srgbClr val="0E1319"/>
                    </a:solidFill>
                  </a:tcPr>
                </a:tc>
              </a:tr>
              <a:tr h="548640">
                <a:tc>
                  <a:txBody>
                    <a:bodyPr wrap="square"/>
                    <a:lstStyle/>
                    <a:p>
                      <a:pPr algn="l"/>
                      <a:r>
                        <a:rPr sz="1050" b="0">
                          <a:solidFill>
                            <a:srgbClr val="E6EDF3"/>
                          </a:solidFill>
                          <a:latin typeface="Segoe UI"/>
                        </a:rPr>
                        <a:t>NEXUS</a:t>
                      </a:r>
                    </a:p>
                  </a:txBody>
                  <a:tcPr marL="64008" marR="64008" marT="27432" marB="27432" anchor="ctr">
                    <a:solidFill>
                      <a:srgbClr val="0F2A20"/>
                    </a:solidFill>
                  </a:tcPr>
                </a:tc>
                <a:tc>
                  <a:txBody>
                    <a:bodyPr wrap="square"/>
                    <a:lstStyle/>
                    <a:p>
                      <a:pPr algn="l"/>
                      <a:r>
                        <a:rPr sz="1050" b="0">
                          <a:solidFill>
                            <a:srgbClr val="E6EDF3"/>
                          </a:solidFill>
                          <a:latin typeface="Segoe UI"/>
                        </a:rPr>
                        <a:t>✓</a:t>
                      </a:r>
                    </a:p>
                  </a:txBody>
                  <a:tcPr marL="64008" marR="64008" marT="27432" marB="27432" anchor="ctr">
                    <a:solidFill>
                      <a:srgbClr val="0F2A20"/>
                    </a:solidFill>
                  </a:tcPr>
                </a:tc>
                <a:tc>
                  <a:txBody>
                    <a:bodyPr wrap="square"/>
                    <a:lstStyle/>
                    <a:p>
                      <a:pPr algn="l"/>
                      <a:r>
                        <a:rPr sz="1050" b="0">
                          <a:solidFill>
                            <a:srgbClr val="E6EDF3"/>
                          </a:solidFill>
                          <a:latin typeface="Segoe UI"/>
                        </a:rPr>
                        <a:t>✓</a:t>
                      </a:r>
                    </a:p>
                  </a:txBody>
                  <a:tcPr marL="64008" marR="64008" marT="27432" marB="27432" anchor="ctr">
                    <a:solidFill>
                      <a:srgbClr val="0F2A20"/>
                    </a:solidFill>
                  </a:tcPr>
                </a:tc>
                <a:tc>
                  <a:txBody>
                    <a:bodyPr wrap="square"/>
                    <a:lstStyle/>
                    <a:p>
                      <a:pPr algn="l"/>
                      <a:r>
                        <a:rPr sz="1050" b="0">
                          <a:solidFill>
                            <a:srgbClr val="E6EDF3"/>
                          </a:solidFill>
                          <a:latin typeface="Segoe UI"/>
                        </a:rPr>
                        <a:t>✓</a:t>
                      </a:r>
                    </a:p>
                  </a:txBody>
                  <a:tcPr marL="64008" marR="64008" marT="27432" marB="27432" anchor="ctr">
                    <a:solidFill>
                      <a:srgbClr val="0F2A20"/>
                    </a:solidFill>
                  </a:tcPr>
                </a:tc>
                <a:tc>
                  <a:txBody>
                    <a:bodyPr wrap="square"/>
                    <a:lstStyle/>
                    <a:p>
                      <a:pPr algn="l"/>
                      <a:r>
                        <a:rPr sz="1050" b="0">
                          <a:solidFill>
                            <a:srgbClr val="E6EDF3"/>
                          </a:solidFill>
                          <a:latin typeface="Segoe UI"/>
                        </a:rPr>
                        <a:t>✓</a:t>
                      </a:r>
                    </a:p>
                  </a:txBody>
                  <a:tcPr marL="64008" marR="64008" marT="27432" marB="27432" anchor="ctr">
                    <a:solidFill>
                      <a:srgbClr val="0F2A20"/>
                    </a:solidFill>
                  </a:tcPr>
                </a:tc>
                <a:tc>
                  <a:txBody>
                    <a:bodyPr wrap="square"/>
                    <a:lstStyle/>
                    <a:p>
                      <a:pPr algn="l"/>
                      <a:r>
                        <a:rPr sz="1050" b="0">
                          <a:solidFill>
                            <a:srgbClr val="E6EDF3"/>
                          </a:solidFill>
                          <a:latin typeface="Segoe UI"/>
                        </a:rPr>
                        <a:t>✓</a:t>
                      </a:r>
                    </a:p>
                  </a:txBody>
                  <a:tcPr marL="64008" marR="64008" marT="27432" marB="27432" anchor="ctr">
                    <a:solidFill>
                      <a:srgbClr val="0F2A20"/>
                    </a:solidFill>
                  </a:tcPr>
                </a:tc>
                <a:tc>
                  <a:txBody>
                    <a:bodyPr wrap="square"/>
                    <a:lstStyle/>
                    <a:p>
                      <a:pPr algn="l"/>
                      <a:r>
                        <a:rPr sz="1050" b="0">
                          <a:solidFill>
                            <a:srgbClr val="E6EDF3"/>
                          </a:solidFill>
                          <a:latin typeface="Segoe UI"/>
                        </a:rPr>
                        <a:t>✓</a:t>
                      </a:r>
                    </a:p>
                  </a:txBody>
                  <a:tcPr marL="64008" marR="64008" marT="27432" marB="27432" anchor="ctr">
                    <a:solidFill>
                      <a:srgbClr val="0F2A20"/>
                    </a:solidFill>
                  </a:tcPr>
                </a:tc>
                <a:tc>
                  <a:txBody>
                    <a:bodyPr wrap="square"/>
                    <a:lstStyle/>
                    <a:p>
                      <a:pPr algn="l"/>
                      <a:r>
                        <a:rPr sz="1050" b="0">
                          <a:solidFill>
                            <a:srgbClr val="E6EDF3"/>
                          </a:solidFill>
                          <a:latin typeface="Segoe UI"/>
                        </a:rPr>
                        <a:t>✓</a:t>
                      </a:r>
                    </a:p>
                  </a:txBody>
                  <a:tcPr marL="64008" marR="64008" marT="27432" marB="27432" anchor="ctr">
                    <a:solidFill>
                      <a:srgbClr val="0F2A20"/>
                    </a:solidFill>
                  </a:tcPr>
                </a:tc>
              </a:tr>
            </a:tbl>
          </a:graphicData>
        </a:graphic>
      </p:graphicFrame>
      <p:sp>
        <p:nvSpPr>
          <p:cNvPr id="8" name="TextBox 7"/>
          <p:cNvSpPr txBox="1"/>
          <p:nvPr/>
        </p:nvSpPr>
        <p:spPr>
          <a:xfrm>
            <a:off x="548640" y="4983480"/>
            <a:ext cx="11109960" cy="1280160"/>
          </a:xfrm>
          <a:prstGeom prst="rect">
            <a:avLst/>
          </a:prstGeom>
          <a:noFill/>
        </p:spPr>
        <p:txBody>
          <a:bodyPr wrap="square" lIns="45720" rIns="45720">
            <a:spAutoFit/>
          </a:bodyPr>
          <a:lstStyle/>
          <a:p>
            <a:pPr>
              <a:lnSpc>
                <a:spcPct val="112000"/>
              </a:lnSpc>
              <a:spcAft>
                <a:spcPts val="500"/>
              </a:spcAft>
            </a:pPr>
            <a:r>
              <a:rPr sz="1100" b="1">
                <a:solidFill>
                  <a:srgbClr val="22D3EE"/>
                </a:solidFill>
                <a:latin typeface="Segoe UI"/>
              </a:rPr>
              <a:t>•  </a:t>
            </a:r>
            <a:r>
              <a:rPr b="1" sz="1100">
                <a:solidFill>
                  <a:srgbClr val="E6EDF3"/>
                </a:solidFill>
                <a:latin typeface="Segoe UI"/>
              </a:rPr>
              <a:t>Position: </a:t>
            </a:r>
            <a:r>
              <a:rPr sz="1100">
                <a:solidFill>
                  <a:srgbClr val="E6EDF3"/>
                </a:solidFill>
                <a:latin typeface="Segoe UI"/>
              </a:rPr>
              <a:t>the intelligence layer above the fleet manager and the WMS — vendor-neutral, integrating through events rather than replacing what a site already runs.</a:t>
            </a:r>
          </a:p>
          <a:p>
            <a:pPr>
              <a:lnSpc>
                <a:spcPct val="112000"/>
              </a:lnSpc>
              <a:spcAft>
                <a:spcPts val="500"/>
              </a:spcAft>
            </a:pPr>
            <a:r>
              <a:rPr sz="1100" b="1">
                <a:solidFill>
                  <a:srgbClr val="22D3EE"/>
                </a:solidFill>
                <a:latin typeface="Segoe UI"/>
              </a:rPr>
              <a:t>•  </a:t>
            </a:r>
            <a:r>
              <a:rPr b="1" sz="1100">
                <a:solidFill>
                  <a:srgbClr val="E6EDF3"/>
                </a:solidFill>
                <a:latin typeface="Segoe UI"/>
              </a:rPr>
              <a:t>Moat: </a:t>
            </a:r>
            <a:r>
              <a:rPr sz="1100">
                <a:solidFill>
                  <a:srgbClr val="E6EDF3"/>
                </a:solidFill>
                <a:latin typeface="Segoe UI"/>
              </a:rPr>
              <a:t>the calibrated twin + the decision log + domain playbooks; determinism and simulation-first safety are architectural, not features that can be bolted onto a dashboard.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0D12"/>
        </a:solidFill>
        <a:effectLst/>
      </p:bgPr>
    </p:bg>
    <p:spTree>
      <p:nvGrpSpPr>
        <p:cNvPr id="1" name=""/>
        <p:cNvGrpSpPr/>
        <p:nvPr/>
      </p:nvGrpSpPr>
      <p:grpSpPr/>
      <p:sp>
        <p:nvSpPr>
          <p:cNvPr id="2" name="TextBox 1"/>
          <p:cNvSpPr txBox="1"/>
          <p:nvPr/>
        </p:nvSpPr>
        <p:spPr>
          <a:xfrm>
            <a:off x="548640" y="256032"/>
            <a:ext cx="8229600" cy="274320"/>
          </a:xfrm>
          <a:prstGeom prst="rect">
            <a:avLst/>
          </a:prstGeom>
          <a:noFill/>
        </p:spPr>
        <p:txBody>
          <a:bodyPr wrap="square" anchor="t" lIns="36576" rIns="36576" tIns="36576" bIns="36576">
            <a:spAutoFit/>
          </a:bodyPr>
          <a:lstStyle/>
          <a:p>
            <a:pPr algn="l">
              <a:lnSpc>
                <a:spcPct val="110000"/>
              </a:lnSpc>
              <a:spcAft>
                <a:spcPts val="400"/>
              </a:spcAft>
            </a:pPr>
            <a:r>
              <a:rPr sz="1050" b="1" i="0">
                <a:solidFill>
                  <a:srgbClr val="22D3EE"/>
                </a:solidFill>
                <a:latin typeface="Segoe UI"/>
              </a:rPr>
              <a:t>ROADMAP</a:t>
            </a:r>
          </a:p>
        </p:txBody>
      </p:sp>
      <p:sp>
        <p:nvSpPr>
          <p:cNvPr id="3" name="TextBox 2"/>
          <p:cNvSpPr txBox="1"/>
          <p:nvPr/>
        </p:nvSpPr>
        <p:spPr>
          <a:xfrm>
            <a:off x="548640" y="502920"/>
            <a:ext cx="10607040" cy="731520"/>
          </a:xfrm>
          <a:prstGeom prst="rect">
            <a:avLst/>
          </a:prstGeom>
          <a:noFill/>
        </p:spPr>
        <p:txBody>
          <a:bodyPr wrap="square" anchor="ctr" lIns="36576" rIns="36576" tIns="36576" bIns="36576">
            <a:spAutoFit/>
          </a:bodyPr>
          <a:lstStyle/>
          <a:p>
            <a:pPr algn="l">
              <a:lnSpc>
                <a:spcPct val="110000"/>
              </a:lnSpc>
              <a:spcAft>
                <a:spcPts val="400"/>
              </a:spcAft>
            </a:pPr>
            <a:r>
              <a:rPr sz="2400" b="1" i="0">
                <a:solidFill>
                  <a:srgbClr val="E6EDF3"/>
                </a:solidFill>
                <a:latin typeface="Segoe UI"/>
              </a:rPr>
              <a:t>13 milestones shipped; next: real robots, more worlds</a:t>
            </a:r>
          </a:p>
        </p:txBody>
      </p:sp>
      <p:sp>
        <p:nvSpPr>
          <p:cNvPr id="4" name="Rectangle 3"/>
          <p:cNvSpPr/>
          <p:nvPr/>
        </p:nvSpPr>
        <p:spPr>
          <a:xfrm>
            <a:off x="566928" y="1216152"/>
            <a:ext cx="100584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6400800" cy="274320"/>
          </a:xfrm>
          <a:prstGeom prst="rect">
            <a:avLst/>
          </a:prstGeom>
          <a:noFill/>
        </p:spPr>
        <p:txBody>
          <a:bodyPr wrap="square" anchor="t" lIns="36576" rIns="36576" tIns="36576" bIns="36576">
            <a:spAutoFit/>
          </a:bodyPr>
          <a:lstStyle/>
          <a:p>
            <a:pPr algn="l">
              <a:lnSpc>
                <a:spcPct val="110000"/>
              </a:lnSpc>
              <a:spcAft>
                <a:spcPts val="400"/>
              </a:spcAft>
            </a:pPr>
            <a:r>
              <a:rPr sz="950" b="0" i="0">
                <a:solidFill>
                  <a:srgbClr val="8B98A5"/>
                </a:solidFill>
                <a:latin typeface="Segoe UI"/>
              </a:rPr>
              <a:t>NEXUS · Autonomous Operations Intelligence</a:t>
            </a:r>
          </a:p>
        </p:txBody>
      </p:sp>
      <p:sp>
        <p:nvSpPr>
          <p:cNvPr id="6" name="TextBox 5"/>
          <p:cNvSpPr txBox="1"/>
          <p:nvPr/>
        </p:nvSpPr>
        <p:spPr>
          <a:xfrm>
            <a:off x="10607040" y="6446520"/>
            <a:ext cx="1051560" cy="274320"/>
          </a:xfrm>
          <a:prstGeom prst="rect">
            <a:avLst/>
          </a:prstGeom>
          <a:noFill/>
        </p:spPr>
        <p:txBody>
          <a:bodyPr wrap="square" anchor="t" lIns="36576" rIns="36576" tIns="36576" bIns="36576">
            <a:spAutoFit/>
          </a:bodyPr>
          <a:lstStyle/>
          <a:p>
            <a:pPr algn="r">
              <a:lnSpc>
                <a:spcPct val="110000"/>
              </a:lnSpc>
              <a:spcAft>
                <a:spcPts val="400"/>
              </a:spcAft>
            </a:pPr>
            <a:r>
              <a:rPr sz="950" b="0" i="0">
                <a:solidFill>
                  <a:srgbClr val="8B98A5"/>
                </a:solidFill>
                <a:latin typeface="Consolas"/>
              </a:rPr>
              <a:t>29</a:t>
            </a:r>
          </a:p>
        </p:txBody>
      </p:sp>
      <p:sp>
        <p:nvSpPr>
          <p:cNvPr id="7" name="TextBox 6"/>
          <p:cNvSpPr txBox="1"/>
          <p:nvPr/>
        </p:nvSpPr>
        <p:spPr>
          <a:xfrm>
            <a:off x="548640" y="1371600"/>
            <a:ext cx="5486400" cy="274320"/>
          </a:xfrm>
          <a:prstGeom prst="rect">
            <a:avLst/>
          </a:prstGeom>
          <a:noFill/>
        </p:spPr>
        <p:txBody>
          <a:bodyPr wrap="square" anchor="t" lIns="36576" rIns="36576" tIns="36576" bIns="36576">
            <a:spAutoFit/>
          </a:bodyPr>
          <a:lstStyle/>
          <a:p>
            <a:pPr algn="l">
              <a:lnSpc>
                <a:spcPct val="110000"/>
              </a:lnSpc>
              <a:spcAft>
                <a:spcPts val="400"/>
              </a:spcAft>
            </a:pPr>
            <a:r>
              <a:rPr sz="1000" b="1" i="0">
                <a:solidFill>
                  <a:srgbClr val="22C55E"/>
                </a:solidFill>
                <a:latin typeface="Segoe UI"/>
              </a:rPr>
              <a:t>SHIPPED — August 2026</a:t>
            </a:r>
          </a:p>
        </p:txBody>
      </p:sp>
      <p:sp>
        <p:nvSpPr>
          <p:cNvPr id="8" name="Rounded Rectangle 7"/>
          <p:cNvSpPr/>
          <p:nvPr/>
        </p:nvSpPr>
        <p:spPr>
          <a:xfrm>
            <a:off x="548640" y="1691640"/>
            <a:ext cx="1517904" cy="329184"/>
          </a:xfrm>
          <a:prstGeom prst="roundRect">
            <a:avLst>
              <a:gd name="adj" fmla="val 50000"/>
            </a:avLst>
          </a:prstGeom>
          <a:solidFill>
            <a:srgbClr val="11161D"/>
          </a:solidFill>
          <a:ln w="1143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tIns="9144" bIns="9144"/>
          <a:lstStyle/>
          <a:p>
            <a:pPr algn="ctr"/>
            <a:r>
              <a:rPr sz="850" b="1">
                <a:solidFill>
                  <a:srgbClr val="22C55E"/>
                </a:solidFill>
                <a:latin typeface="Segoe UI"/>
              </a:rPr>
              <a:t>M0 Foundation</a:t>
            </a:r>
          </a:p>
        </p:txBody>
      </p:sp>
      <p:sp>
        <p:nvSpPr>
          <p:cNvPr id="9" name="Rounded Rectangle 8"/>
          <p:cNvSpPr/>
          <p:nvPr/>
        </p:nvSpPr>
        <p:spPr>
          <a:xfrm>
            <a:off x="2139696" y="1691640"/>
            <a:ext cx="1517904" cy="329184"/>
          </a:xfrm>
          <a:prstGeom prst="roundRect">
            <a:avLst>
              <a:gd name="adj" fmla="val 50000"/>
            </a:avLst>
          </a:prstGeom>
          <a:solidFill>
            <a:srgbClr val="11161D"/>
          </a:solidFill>
          <a:ln w="1143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tIns="9144" bIns="9144"/>
          <a:lstStyle/>
          <a:p>
            <a:pPr algn="ctr"/>
            <a:r>
              <a:rPr sz="850" b="1">
                <a:solidFill>
                  <a:srgbClr val="22C55E"/>
                </a:solidFill>
                <a:latin typeface="Segoe UI"/>
              </a:rPr>
              <a:t>M1 Twin core</a:t>
            </a:r>
          </a:p>
        </p:txBody>
      </p:sp>
      <p:sp>
        <p:nvSpPr>
          <p:cNvPr id="10" name="Rounded Rectangle 9"/>
          <p:cNvSpPr/>
          <p:nvPr/>
        </p:nvSpPr>
        <p:spPr>
          <a:xfrm>
            <a:off x="3730752" y="1691640"/>
            <a:ext cx="1517904" cy="329184"/>
          </a:xfrm>
          <a:prstGeom prst="roundRect">
            <a:avLst>
              <a:gd name="adj" fmla="val 50000"/>
            </a:avLst>
          </a:prstGeom>
          <a:solidFill>
            <a:srgbClr val="11161D"/>
          </a:solidFill>
          <a:ln w="1143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tIns="9144" bIns="9144"/>
          <a:lstStyle/>
          <a:p>
            <a:pPr algn="ctr"/>
            <a:r>
              <a:rPr sz="850" b="1">
                <a:solidFill>
                  <a:srgbClr val="22C55E"/>
                </a:solidFill>
                <a:latin typeface="Segoe UI"/>
              </a:rPr>
              <a:t>M2 Event engine</a:t>
            </a:r>
          </a:p>
        </p:txBody>
      </p:sp>
      <p:sp>
        <p:nvSpPr>
          <p:cNvPr id="11" name="Rounded Rectangle 10"/>
          <p:cNvSpPr/>
          <p:nvPr/>
        </p:nvSpPr>
        <p:spPr>
          <a:xfrm>
            <a:off x="5321807" y="1691640"/>
            <a:ext cx="1517904" cy="329184"/>
          </a:xfrm>
          <a:prstGeom prst="roundRect">
            <a:avLst>
              <a:gd name="adj" fmla="val 50000"/>
            </a:avLst>
          </a:prstGeom>
          <a:solidFill>
            <a:srgbClr val="11161D"/>
          </a:solidFill>
          <a:ln w="1143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tIns="9144" bIns="9144"/>
          <a:lstStyle/>
          <a:p>
            <a:pPr algn="ctr"/>
            <a:r>
              <a:rPr sz="850" b="1">
                <a:solidFill>
                  <a:srgbClr val="22C55E"/>
                </a:solidFill>
                <a:latin typeface="Segoe UI"/>
              </a:rPr>
              <a:t>M3 Simulation</a:t>
            </a:r>
          </a:p>
        </p:txBody>
      </p:sp>
      <p:sp>
        <p:nvSpPr>
          <p:cNvPr id="12" name="Rounded Rectangle 11"/>
          <p:cNvSpPr/>
          <p:nvPr/>
        </p:nvSpPr>
        <p:spPr>
          <a:xfrm>
            <a:off x="6912864" y="1691640"/>
            <a:ext cx="1517904" cy="329184"/>
          </a:xfrm>
          <a:prstGeom prst="roundRect">
            <a:avLst>
              <a:gd name="adj" fmla="val 50000"/>
            </a:avLst>
          </a:prstGeom>
          <a:solidFill>
            <a:srgbClr val="11161D"/>
          </a:solidFill>
          <a:ln w="1143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tIns="9144" bIns="9144"/>
          <a:lstStyle/>
          <a:p>
            <a:pPr algn="ctr"/>
            <a:r>
              <a:rPr sz="850" b="1">
                <a:solidFill>
                  <a:srgbClr val="22C55E"/>
                </a:solidFill>
                <a:latin typeface="Segoe UI"/>
              </a:rPr>
              <a:t>M4 Optimization</a:t>
            </a:r>
          </a:p>
        </p:txBody>
      </p:sp>
      <p:sp>
        <p:nvSpPr>
          <p:cNvPr id="13" name="Rounded Rectangle 12"/>
          <p:cNvSpPr/>
          <p:nvPr/>
        </p:nvSpPr>
        <p:spPr>
          <a:xfrm>
            <a:off x="8503919" y="1691640"/>
            <a:ext cx="1517904" cy="329184"/>
          </a:xfrm>
          <a:prstGeom prst="roundRect">
            <a:avLst>
              <a:gd name="adj" fmla="val 50000"/>
            </a:avLst>
          </a:prstGeom>
          <a:solidFill>
            <a:srgbClr val="11161D"/>
          </a:solidFill>
          <a:ln w="1143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tIns="9144" bIns="9144"/>
          <a:lstStyle/>
          <a:p>
            <a:pPr algn="ctr"/>
            <a:r>
              <a:rPr sz="850" b="1">
                <a:solidFill>
                  <a:srgbClr val="22C55E"/>
                </a:solidFill>
                <a:latin typeface="Segoe UI"/>
              </a:rPr>
              <a:t>M5 Forecasting</a:t>
            </a:r>
          </a:p>
        </p:txBody>
      </p:sp>
      <p:sp>
        <p:nvSpPr>
          <p:cNvPr id="14" name="Rounded Rectangle 13"/>
          <p:cNvSpPr/>
          <p:nvPr/>
        </p:nvSpPr>
        <p:spPr>
          <a:xfrm>
            <a:off x="10094976" y="1691640"/>
            <a:ext cx="1517904" cy="329184"/>
          </a:xfrm>
          <a:prstGeom prst="roundRect">
            <a:avLst>
              <a:gd name="adj" fmla="val 50000"/>
            </a:avLst>
          </a:prstGeom>
          <a:solidFill>
            <a:srgbClr val="11161D"/>
          </a:solidFill>
          <a:ln w="1143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tIns="9144" bIns="9144"/>
          <a:lstStyle/>
          <a:p>
            <a:pPr algn="ctr"/>
            <a:r>
              <a:rPr sz="850" b="1">
                <a:solidFill>
                  <a:srgbClr val="22C55E"/>
                </a:solidFill>
                <a:latin typeface="Segoe UI"/>
              </a:rPr>
              <a:t>M6 Agent runtime</a:t>
            </a:r>
          </a:p>
        </p:txBody>
      </p:sp>
      <p:sp>
        <p:nvSpPr>
          <p:cNvPr id="15" name="Rounded Rectangle 14"/>
          <p:cNvSpPr/>
          <p:nvPr/>
        </p:nvSpPr>
        <p:spPr>
          <a:xfrm>
            <a:off x="548640" y="2103120"/>
            <a:ext cx="1517904" cy="329184"/>
          </a:xfrm>
          <a:prstGeom prst="roundRect">
            <a:avLst>
              <a:gd name="adj" fmla="val 50000"/>
            </a:avLst>
          </a:prstGeom>
          <a:solidFill>
            <a:srgbClr val="11161D"/>
          </a:solidFill>
          <a:ln w="1143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tIns="9144" bIns="9144"/>
          <a:lstStyle/>
          <a:p>
            <a:pPr algn="ctr"/>
            <a:r>
              <a:rPr sz="850" b="1">
                <a:solidFill>
                  <a:srgbClr val="22C55E"/>
                </a:solidFill>
                <a:latin typeface="Segoe UI"/>
              </a:rPr>
              <a:t>M7 What-If</a:t>
            </a:r>
          </a:p>
        </p:txBody>
      </p:sp>
      <p:sp>
        <p:nvSpPr>
          <p:cNvPr id="16" name="Rounded Rectangle 15"/>
          <p:cNvSpPr/>
          <p:nvPr/>
        </p:nvSpPr>
        <p:spPr>
          <a:xfrm>
            <a:off x="2139696" y="2103120"/>
            <a:ext cx="1517904" cy="329184"/>
          </a:xfrm>
          <a:prstGeom prst="roundRect">
            <a:avLst>
              <a:gd name="adj" fmla="val 50000"/>
            </a:avLst>
          </a:prstGeom>
          <a:solidFill>
            <a:srgbClr val="11161D"/>
          </a:solidFill>
          <a:ln w="1143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tIns="9144" bIns="9144"/>
          <a:lstStyle/>
          <a:p>
            <a:pPr algn="ctr"/>
            <a:r>
              <a:rPr sz="850" b="1">
                <a:solidFill>
                  <a:srgbClr val="22C55E"/>
                </a:solidFill>
                <a:latin typeface="Segoe UI"/>
              </a:rPr>
              <a:t>M8 API &amp; ops</a:t>
            </a:r>
          </a:p>
        </p:txBody>
      </p:sp>
      <p:sp>
        <p:nvSpPr>
          <p:cNvPr id="17" name="Rounded Rectangle 16"/>
          <p:cNvSpPr/>
          <p:nvPr/>
        </p:nvSpPr>
        <p:spPr>
          <a:xfrm>
            <a:off x="3730752" y="2103120"/>
            <a:ext cx="1517904" cy="329184"/>
          </a:xfrm>
          <a:prstGeom prst="roundRect">
            <a:avLst>
              <a:gd name="adj" fmla="val 50000"/>
            </a:avLst>
          </a:prstGeom>
          <a:solidFill>
            <a:srgbClr val="11161D"/>
          </a:solidFill>
          <a:ln w="1143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tIns="9144" bIns="9144"/>
          <a:lstStyle/>
          <a:p>
            <a:pPr algn="ctr"/>
            <a:r>
              <a:rPr sz="850" b="1">
                <a:solidFill>
                  <a:srgbClr val="22C55E"/>
                </a:solidFill>
                <a:latin typeface="Segoe UI"/>
              </a:rPr>
              <a:t>M9 Twin UI</a:t>
            </a:r>
          </a:p>
        </p:txBody>
      </p:sp>
      <p:sp>
        <p:nvSpPr>
          <p:cNvPr id="18" name="Rounded Rectangle 17"/>
          <p:cNvSpPr/>
          <p:nvPr/>
        </p:nvSpPr>
        <p:spPr>
          <a:xfrm>
            <a:off x="5321807" y="2103120"/>
            <a:ext cx="1517904" cy="329184"/>
          </a:xfrm>
          <a:prstGeom prst="roundRect">
            <a:avLst>
              <a:gd name="adj" fmla="val 50000"/>
            </a:avLst>
          </a:prstGeom>
          <a:solidFill>
            <a:srgbClr val="11161D"/>
          </a:solidFill>
          <a:ln w="1143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tIns="9144" bIns="9144"/>
          <a:lstStyle/>
          <a:p>
            <a:pPr algn="ctr"/>
            <a:r>
              <a:rPr sz="850" b="1">
                <a:solidFill>
                  <a:srgbClr val="22C55E"/>
                </a:solidFill>
                <a:latin typeface="Segoe UI"/>
              </a:rPr>
              <a:t>M10 Benchmarks</a:t>
            </a:r>
          </a:p>
        </p:txBody>
      </p:sp>
      <p:sp>
        <p:nvSpPr>
          <p:cNvPr id="19" name="Rounded Rectangle 18"/>
          <p:cNvSpPr/>
          <p:nvPr/>
        </p:nvSpPr>
        <p:spPr>
          <a:xfrm>
            <a:off x="6912864" y="2103120"/>
            <a:ext cx="1517904" cy="329184"/>
          </a:xfrm>
          <a:prstGeom prst="roundRect">
            <a:avLst>
              <a:gd name="adj" fmla="val 50000"/>
            </a:avLst>
          </a:prstGeom>
          <a:solidFill>
            <a:srgbClr val="11161D"/>
          </a:solidFill>
          <a:ln w="1143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tIns="9144" bIns="9144"/>
          <a:lstStyle/>
          <a:p>
            <a:pPr algn="ctr"/>
            <a:r>
              <a:rPr sz="850" b="1">
                <a:solidFill>
                  <a:srgbClr val="22C55E"/>
                </a:solidFill>
                <a:latin typeface="Segoe UI"/>
              </a:rPr>
              <a:t>M11 Docs &amp; ADRs</a:t>
            </a:r>
          </a:p>
        </p:txBody>
      </p:sp>
      <p:sp>
        <p:nvSpPr>
          <p:cNvPr id="20" name="Rounded Rectangle 19"/>
          <p:cNvSpPr/>
          <p:nvPr/>
        </p:nvSpPr>
        <p:spPr>
          <a:xfrm>
            <a:off x="8503919" y="2103120"/>
            <a:ext cx="1517904" cy="329184"/>
          </a:xfrm>
          <a:prstGeom prst="roundRect">
            <a:avLst>
              <a:gd name="adj" fmla="val 50000"/>
            </a:avLst>
          </a:prstGeom>
          <a:solidFill>
            <a:srgbClr val="11161D"/>
          </a:solidFill>
          <a:ln w="1143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tIns="9144" bIns="9144"/>
          <a:lstStyle/>
          <a:p>
            <a:pPr algn="ctr"/>
            <a:r>
              <a:rPr sz="850" b="1">
                <a:solidFill>
                  <a:srgbClr val="22C55E"/>
                </a:solidFill>
                <a:latin typeface="Segoe UI"/>
              </a:rPr>
              <a:t>M12 Ship</a:t>
            </a:r>
          </a:p>
        </p:txBody>
      </p:sp>
      <p:sp>
        <p:nvSpPr>
          <p:cNvPr id="21" name="Rounded Rectangle 20"/>
          <p:cNvSpPr/>
          <p:nvPr/>
        </p:nvSpPr>
        <p:spPr>
          <a:xfrm>
            <a:off x="10094976" y="2103120"/>
            <a:ext cx="1517904" cy="329184"/>
          </a:xfrm>
          <a:prstGeom prst="roundRect">
            <a:avLst>
              <a:gd name="adj" fmla="val 50000"/>
            </a:avLst>
          </a:prstGeom>
          <a:solidFill>
            <a:srgbClr val="11161D"/>
          </a:solidFill>
          <a:ln w="1143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tIns="9144" bIns="9144"/>
          <a:lstStyle/>
          <a:p>
            <a:pPr algn="ctr"/>
            <a:r>
              <a:rPr sz="850" b="1">
                <a:solidFill>
                  <a:srgbClr val="22C55E"/>
                </a:solidFill>
                <a:latin typeface="Segoe UI"/>
              </a:rPr>
              <a:t>M13 Pitch deck</a:t>
            </a:r>
          </a:p>
        </p:txBody>
      </p:sp>
      <p:sp>
        <p:nvSpPr>
          <p:cNvPr id="22" name="Rounded Rectangle 21"/>
          <p:cNvSpPr/>
          <p:nvPr/>
        </p:nvSpPr>
        <p:spPr>
          <a:xfrm>
            <a:off x="548640" y="2697480"/>
            <a:ext cx="3611880" cy="356616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2816352"/>
            <a:ext cx="3200400" cy="320040"/>
          </a:xfrm>
          <a:prstGeom prst="rect">
            <a:avLst/>
          </a:prstGeom>
          <a:noFill/>
        </p:spPr>
        <p:txBody>
          <a:bodyPr wrap="square" anchor="t" lIns="36576" rIns="36576" tIns="36576" bIns="36576">
            <a:spAutoFit/>
          </a:bodyPr>
          <a:lstStyle/>
          <a:p>
            <a:pPr algn="l">
              <a:lnSpc>
                <a:spcPct val="110000"/>
              </a:lnSpc>
              <a:spcAft>
                <a:spcPts val="400"/>
              </a:spcAft>
            </a:pPr>
            <a:r>
              <a:rPr sz="1200" b="1" i="0">
                <a:solidFill>
                  <a:srgbClr val="22D3EE"/>
                </a:solidFill>
                <a:latin typeface="Segoe UI"/>
              </a:rPr>
              <a:t>NEXT 3 MONTHS</a:t>
            </a:r>
          </a:p>
        </p:txBody>
      </p:sp>
      <p:sp>
        <p:nvSpPr>
          <p:cNvPr id="24" name="TextBox 23"/>
          <p:cNvSpPr txBox="1"/>
          <p:nvPr/>
        </p:nvSpPr>
        <p:spPr>
          <a:xfrm>
            <a:off x="685800" y="3200400"/>
            <a:ext cx="3383280" cy="3017520"/>
          </a:xfrm>
          <a:prstGeom prst="rect">
            <a:avLst/>
          </a:prstGeom>
          <a:noFill/>
        </p:spPr>
        <p:txBody>
          <a:bodyPr wrap="square" lIns="45720" rIns="45720">
            <a:spAutoFit/>
          </a:bodyPr>
          <a:lstStyle/>
          <a:p>
            <a:pPr>
              <a:lnSpc>
                <a:spcPct val="112000"/>
              </a:lnSpc>
              <a:spcAft>
                <a:spcPts val="600"/>
              </a:spcAft>
            </a:pPr>
            <a:r>
              <a:rPr sz="1050" b="1">
                <a:solidFill>
                  <a:srgbClr val="22D3EE"/>
                </a:solidFill>
                <a:latin typeface="Segoe UI"/>
              </a:rPr>
              <a:t>•  </a:t>
            </a:r>
            <a:r>
              <a:rPr sz="1050">
                <a:solidFill>
                  <a:srgbClr val="E6EDF3"/>
                </a:solidFill>
                <a:latin typeface="Segoe UI"/>
              </a:rPr>
              <a:t>Historical-event ingestion: replay a real site's WMS / fleet logs into the twin</a:t>
            </a:r>
          </a:p>
          <a:p>
            <a:pPr>
              <a:lnSpc>
                <a:spcPct val="112000"/>
              </a:lnSpc>
              <a:spcAft>
                <a:spcPts val="600"/>
              </a:spcAft>
            </a:pPr>
            <a:r>
              <a:rPr sz="1050" b="1">
                <a:solidFill>
                  <a:srgbClr val="22D3EE"/>
                </a:solidFill>
                <a:latin typeface="Segoe UI"/>
              </a:rPr>
              <a:t>•  </a:t>
            </a:r>
            <a:r>
              <a:rPr sz="1050">
                <a:solidFill>
                  <a:srgbClr val="E6EDF3"/>
                </a:solidFill>
                <a:latin typeface="Segoe UI"/>
              </a:rPr>
              <a:t>Calibration harness: measure simulation fidelity against realised KPIs</a:t>
            </a:r>
          </a:p>
          <a:p>
            <a:pPr>
              <a:lnSpc>
                <a:spcPct val="112000"/>
              </a:lnSpc>
              <a:spcAft>
                <a:spcPts val="600"/>
              </a:spcAft>
            </a:pPr>
            <a:r>
              <a:rPr sz="1050" b="1">
                <a:solidFill>
                  <a:srgbClr val="22D3EE"/>
                </a:solidFill>
                <a:latin typeface="Segoe UI"/>
              </a:rPr>
              <a:t>•  </a:t>
            </a:r>
            <a:r>
              <a:rPr sz="1050">
                <a:solidFill>
                  <a:srgbClr val="E6EDF3"/>
                </a:solidFill>
                <a:latin typeface="Segoe UI"/>
              </a:rPr>
              <a:t>Webots / Gazebo bridge: robots in a physics simulator driven by NEXUS plans</a:t>
            </a:r>
          </a:p>
          <a:p>
            <a:pPr>
              <a:lnSpc>
                <a:spcPct val="112000"/>
              </a:lnSpc>
              <a:spcAft>
                <a:spcPts val="600"/>
              </a:spcAft>
            </a:pPr>
            <a:r>
              <a:rPr sz="1050" b="1">
                <a:solidFill>
                  <a:srgbClr val="22D3EE"/>
                </a:solidFill>
                <a:latin typeface="Segoe UI"/>
              </a:rPr>
              <a:t>•  </a:t>
            </a:r>
            <a:r>
              <a:rPr sz="1050">
                <a:solidFill>
                  <a:srgbClr val="E6EDF3"/>
                </a:solidFill>
                <a:latin typeface="Segoe UI"/>
              </a:rPr>
              <a:t>Design-partner pilots (2–3 sites)</a:t>
            </a:r>
          </a:p>
        </p:txBody>
      </p:sp>
      <p:sp>
        <p:nvSpPr>
          <p:cNvPr id="25" name="Rounded Rectangle 24"/>
          <p:cNvSpPr/>
          <p:nvPr/>
        </p:nvSpPr>
        <p:spPr>
          <a:xfrm>
            <a:off x="4297679" y="2697480"/>
            <a:ext cx="3611880" cy="356616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80559" y="2816352"/>
            <a:ext cx="3200400" cy="320040"/>
          </a:xfrm>
          <a:prstGeom prst="rect">
            <a:avLst/>
          </a:prstGeom>
          <a:noFill/>
        </p:spPr>
        <p:txBody>
          <a:bodyPr wrap="square" anchor="t" lIns="36576" rIns="36576" tIns="36576" bIns="36576">
            <a:spAutoFit/>
          </a:bodyPr>
          <a:lstStyle/>
          <a:p>
            <a:pPr algn="l">
              <a:lnSpc>
                <a:spcPct val="110000"/>
              </a:lnSpc>
              <a:spcAft>
                <a:spcPts val="400"/>
              </a:spcAft>
            </a:pPr>
            <a:r>
              <a:rPr sz="1200" b="1" i="0">
                <a:solidFill>
                  <a:srgbClr val="A78BFA"/>
                </a:solidFill>
                <a:latin typeface="Segoe UI"/>
              </a:rPr>
              <a:t>3–9 MONTHS</a:t>
            </a:r>
          </a:p>
        </p:txBody>
      </p:sp>
      <p:sp>
        <p:nvSpPr>
          <p:cNvPr id="27" name="TextBox 26"/>
          <p:cNvSpPr txBox="1"/>
          <p:nvPr/>
        </p:nvSpPr>
        <p:spPr>
          <a:xfrm>
            <a:off x="4434840" y="3200400"/>
            <a:ext cx="3383280" cy="3017520"/>
          </a:xfrm>
          <a:prstGeom prst="rect">
            <a:avLst/>
          </a:prstGeom>
          <a:noFill/>
        </p:spPr>
        <p:txBody>
          <a:bodyPr wrap="square" lIns="45720" rIns="45720">
            <a:spAutoFit/>
          </a:bodyPr>
          <a:lstStyle/>
          <a:p>
            <a:pPr>
              <a:lnSpc>
                <a:spcPct val="112000"/>
              </a:lnSpc>
              <a:spcAft>
                <a:spcPts val="600"/>
              </a:spcAft>
            </a:pPr>
            <a:r>
              <a:rPr sz="1050" b="1">
                <a:solidFill>
                  <a:srgbClr val="A78BFA"/>
                </a:solidFill>
                <a:latin typeface="Segoe UI"/>
              </a:rPr>
              <a:t>•  </a:t>
            </a:r>
            <a:r>
              <a:rPr sz="1050">
                <a:solidFill>
                  <a:srgbClr val="E6EDF3"/>
                </a:solidFill>
                <a:latin typeface="Segoe UI"/>
              </a:rPr>
              <a:t>Reinforcement-learning dispatch policy trained inside the twin, benchmarked against CP-SAT</a:t>
            </a:r>
          </a:p>
          <a:p>
            <a:pPr>
              <a:lnSpc>
                <a:spcPct val="112000"/>
              </a:lnSpc>
              <a:spcAft>
                <a:spcPts val="600"/>
              </a:spcAft>
            </a:pPr>
            <a:r>
              <a:rPr sz="1050" b="1">
                <a:solidFill>
                  <a:srgbClr val="A78BFA"/>
                </a:solidFill>
                <a:latin typeface="Segoe UI"/>
              </a:rPr>
              <a:t>•  </a:t>
            </a:r>
            <a:r>
              <a:rPr sz="1050">
                <a:solidFill>
                  <a:srgbClr val="E6EDF3"/>
                </a:solidFill>
                <a:latin typeface="Segoe UI"/>
              </a:rPr>
              <a:t>Factory and hospital domain packs (DomainModel)</a:t>
            </a:r>
          </a:p>
          <a:p>
            <a:pPr>
              <a:lnSpc>
                <a:spcPct val="112000"/>
              </a:lnSpc>
              <a:spcAft>
                <a:spcPts val="600"/>
              </a:spcAft>
            </a:pPr>
            <a:r>
              <a:rPr sz="1050" b="1">
                <a:solidFill>
                  <a:srgbClr val="A78BFA"/>
                </a:solidFill>
                <a:latin typeface="Segoe UI"/>
              </a:rPr>
              <a:t>•  </a:t>
            </a:r>
            <a:r>
              <a:rPr sz="1050">
                <a:solidFill>
                  <a:srgbClr val="E6EDF3"/>
                </a:solidFill>
                <a:latin typeface="Segoe UI"/>
              </a:rPr>
              <a:t>WMS and fleet-manager connectors; Isaac Sim bridge</a:t>
            </a:r>
          </a:p>
          <a:p>
            <a:pPr>
              <a:lnSpc>
                <a:spcPct val="112000"/>
              </a:lnSpc>
              <a:spcAft>
                <a:spcPts val="600"/>
              </a:spcAft>
            </a:pPr>
            <a:r>
              <a:rPr sz="1050" b="1">
                <a:solidFill>
                  <a:srgbClr val="A78BFA"/>
                </a:solidFill>
                <a:latin typeface="Segoe UI"/>
              </a:rPr>
              <a:t>•  </a:t>
            </a:r>
            <a:r>
              <a:rPr sz="1050">
                <a:solidFill>
                  <a:srgbClr val="E6EDF3"/>
                </a:solidFill>
                <a:latin typeface="Segoe UI"/>
              </a:rPr>
              <a:t>Multi-site twins with shared inventory</a:t>
            </a:r>
          </a:p>
        </p:txBody>
      </p:sp>
      <p:sp>
        <p:nvSpPr>
          <p:cNvPr id="28" name="Rounded Rectangle 27"/>
          <p:cNvSpPr/>
          <p:nvPr/>
        </p:nvSpPr>
        <p:spPr>
          <a:xfrm>
            <a:off x="8046719" y="2697480"/>
            <a:ext cx="3611880" cy="356616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599" y="2816352"/>
            <a:ext cx="3200400" cy="320040"/>
          </a:xfrm>
          <a:prstGeom prst="rect">
            <a:avLst/>
          </a:prstGeom>
          <a:noFill/>
        </p:spPr>
        <p:txBody>
          <a:bodyPr wrap="square" anchor="t" lIns="36576" rIns="36576" tIns="36576" bIns="36576">
            <a:spAutoFit/>
          </a:bodyPr>
          <a:lstStyle/>
          <a:p>
            <a:pPr algn="l">
              <a:lnSpc>
                <a:spcPct val="110000"/>
              </a:lnSpc>
              <a:spcAft>
                <a:spcPts val="400"/>
              </a:spcAft>
            </a:pPr>
            <a:r>
              <a:rPr sz="1200" b="1" i="0">
                <a:solidFill>
                  <a:srgbClr val="F59E0B"/>
                </a:solidFill>
                <a:latin typeface="Segoe UI"/>
              </a:rPr>
              <a:t>9–18 MONTHS</a:t>
            </a:r>
          </a:p>
        </p:txBody>
      </p:sp>
      <p:sp>
        <p:nvSpPr>
          <p:cNvPr id="30" name="TextBox 29"/>
          <p:cNvSpPr txBox="1"/>
          <p:nvPr/>
        </p:nvSpPr>
        <p:spPr>
          <a:xfrm>
            <a:off x="8183879" y="3200400"/>
            <a:ext cx="3383280" cy="3017520"/>
          </a:xfrm>
          <a:prstGeom prst="rect">
            <a:avLst/>
          </a:prstGeom>
          <a:noFill/>
        </p:spPr>
        <p:txBody>
          <a:bodyPr wrap="square" lIns="45720" rIns="45720">
            <a:spAutoFit/>
          </a:bodyPr>
          <a:lstStyle/>
          <a:p>
            <a:pPr>
              <a:lnSpc>
                <a:spcPct val="112000"/>
              </a:lnSpc>
              <a:spcAft>
                <a:spcPts val="600"/>
              </a:spcAft>
            </a:pPr>
            <a:r>
              <a:rPr sz="1050" b="1">
                <a:solidFill>
                  <a:srgbClr val="F59E0B"/>
                </a:solidFill>
                <a:latin typeface="Segoe UI"/>
              </a:rPr>
              <a:t>•  </a:t>
            </a:r>
            <a:r>
              <a:rPr sz="1050">
                <a:solidFill>
                  <a:srgbClr val="E6EDF3"/>
                </a:solidFill>
                <a:latin typeface="Segoe UI"/>
              </a:rPr>
              <a:t>Enterprise: SSO, RBAC, audit export, SLAs</a:t>
            </a:r>
          </a:p>
          <a:p>
            <a:pPr>
              <a:lnSpc>
                <a:spcPct val="112000"/>
              </a:lnSpc>
              <a:spcAft>
                <a:spcPts val="600"/>
              </a:spcAft>
            </a:pPr>
            <a:r>
              <a:rPr sz="1050" b="1">
                <a:solidFill>
                  <a:srgbClr val="F59E0B"/>
                </a:solidFill>
                <a:latin typeface="Segoe UI"/>
              </a:rPr>
              <a:t>•  </a:t>
            </a:r>
            <a:r>
              <a:rPr sz="1050">
                <a:solidFill>
                  <a:srgbClr val="E6EDF3"/>
                </a:solidFill>
                <a:latin typeface="Segoe UI"/>
              </a:rPr>
              <a:t>Fine-tuned local planner model on the decision log</a:t>
            </a:r>
          </a:p>
          <a:p>
            <a:pPr>
              <a:lnSpc>
                <a:spcPct val="112000"/>
              </a:lnSpc>
              <a:spcAft>
                <a:spcPts val="600"/>
              </a:spcAft>
            </a:pPr>
            <a:r>
              <a:rPr sz="1050" b="1">
                <a:solidFill>
                  <a:srgbClr val="F59E0B"/>
                </a:solidFill>
                <a:latin typeface="Segoe UI"/>
              </a:rPr>
              <a:t>•  </a:t>
            </a:r>
            <a:r>
              <a:rPr sz="1050">
                <a:solidFill>
                  <a:srgbClr val="E6EDF3"/>
                </a:solidFill>
                <a:latin typeface="Segoe UI"/>
              </a:rPr>
              <a:t>Marketplace of playbooks and domain packs</a:t>
            </a:r>
          </a:p>
          <a:p>
            <a:pPr>
              <a:lnSpc>
                <a:spcPct val="112000"/>
              </a:lnSpc>
              <a:spcAft>
                <a:spcPts val="600"/>
              </a:spcAft>
            </a:pPr>
            <a:r>
              <a:rPr sz="1050" b="1">
                <a:solidFill>
                  <a:srgbClr val="F59E0B"/>
                </a:solidFill>
                <a:latin typeface="Segoe UI"/>
              </a:rPr>
              <a:t>•  </a:t>
            </a:r>
            <a:r>
              <a:rPr sz="1050">
                <a:solidFill>
                  <a:srgbClr val="E6EDF3"/>
                </a:solidFill>
                <a:latin typeface="Segoe UI"/>
              </a:rPr>
              <a:t>OEM licensing to WMS / robotics vendors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0D12"/>
        </a:solidFill>
        <a:effectLst/>
      </p:bgPr>
    </p:bg>
    <p:spTree>
      <p:nvGrpSpPr>
        <p:cNvPr id="1" name=""/>
        <p:cNvGrpSpPr/>
        <p:nvPr/>
      </p:nvGrpSpPr>
      <p:grpSpPr/>
      <p:sp>
        <p:nvSpPr>
          <p:cNvPr id="2" name="TextBox 1"/>
          <p:cNvSpPr txBox="1"/>
          <p:nvPr/>
        </p:nvSpPr>
        <p:spPr>
          <a:xfrm>
            <a:off x="548640" y="256032"/>
            <a:ext cx="8229600" cy="274320"/>
          </a:xfrm>
          <a:prstGeom prst="rect">
            <a:avLst/>
          </a:prstGeom>
          <a:noFill/>
        </p:spPr>
        <p:txBody>
          <a:bodyPr wrap="square" anchor="t" lIns="36576" rIns="36576" tIns="36576" bIns="36576">
            <a:spAutoFit/>
          </a:bodyPr>
          <a:lstStyle/>
          <a:p>
            <a:pPr algn="l">
              <a:lnSpc>
                <a:spcPct val="110000"/>
              </a:lnSpc>
              <a:spcAft>
                <a:spcPts val="400"/>
              </a:spcAft>
            </a:pPr>
            <a:r>
              <a:rPr sz="1050" b="1" i="0">
                <a:solidFill>
                  <a:srgbClr val="22D3EE"/>
                </a:solidFill>
                <a:latin typeface="Segoe UI"/>
              </a:rPr>
              <a:t>TEAM &amp; PORTFOLIO</a:t>
            </a:r>
          </a:p>
        </p:txBody>
      </p:sp>
      <p:sp>
        <p:nvSpPr>
          <p:cNvPr id="3" name="TextBox 2"/>
          <p:cNvSpPr txBox="1"/>
          <p:nvPr/>
        </p:nvSpPr>
        <p:spPr>
          <a:xfrm>
            <a:off x="548640" y="502920"/>
            <a:ext cx="10607040" cy="731520"/>
          </a:xfrm>
          <a:prstGeom prst="rect">
            <a:avLst/>
          </a:prstGeom>
          <a:noFill/>
        </p:spPr>
        <p:txBody>
          <a:bodyPr wrap="square" anchor="ctr" lIns="36576" rIns="36576" tIns="36576" bIns="36576">
            <a:spAutoFit/>
          </a:bodyPr>
          <a:lstStyle/>
          <a:p>
            <a:pPr algn="l">
              <a:lnSpc>
                <a:spcPct val="110000"/>
              </a:lnSpc>
              <a:spcAft>
                <a:spcPts val="400"/>
              </a:spcAft>
            </a:pPr>
            <a:r>
              <a:rPr sz="2800" b="1" i="0">
                <a:solidFill>
                  <a:srgbClr val="E6EDF3"/>
                </a:solidFill>
                <a:latin typeface="Segoe UI"/>
              </a:rPr>
              <a:t>One engineer, four layers of AI systems</a:t>
            </a:r>
          </a:p>
        </p:txBody>
      </p:sp>
      <p:sp>
        <p:nvSpPr>
          <p:cNvPr id="4" name="Rectangle 3"/>
          <p:cNvSpPr/>
          <p:nvPr/>
        </p:nvSpPr>
        <p:spPr>
          <a:xfrm>
            <a:off x="566928" y="1216152"/>
            <a:ext cx="100584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6400800" cy="274320"/>
          </a:xfrm>
          <a:prstGeom prst="rect">
            <a:avLst/>
          </a:prstGeom>
          <a:noFill/>
        </p:spPr>
        <p:txBody>
          <a:bodyPr wrap="square" anchor="t" lIns="36576" rIns="36576" tIns="36576" bIns="36576">
            <a:spAutoFit/>
          </a:bodyPr>
          <a:lstStyle/>
          <a:p>
            <a:pPr algn="l">
              <a:lnSpc>
                <a:spcPct val="110000"/>
              </a:lnSpc>
              <a:spcAft>
                <a:spcPts val="400"/>
              </a:spcAft>
            </a:pPr>
            <a:r>
              <a:rPr sz="950" b="0" i="0">
                <a:solidFill>
                  <a:srgbClr val="8B98A5"/>
                </a:solidFill>
                <a:latin typeface="Segoe UI"/>
              </a:rPr>
              <a:t>NEXUS · Autonomous Operations Intelligence</a:t>
            </a:r>
          </a:p>
        </p:txBody>
      </p:sp>
      <p:sp>
        <p:nvSpPr>
          <p:cNvPr id="6" name="TextBox 5"/>
          <p:cNvSpPr txBox="1"/>
          <p:nvPr/>
        </p:nvSpPr>
        <p:spPr>
          <a:xfrm>
            <a:off x="10607040" y="6446520"/>
            <a:ext cx="1051560" cy="274320"/>
          </a:xfrm>
          <a:prstGeom prst="rect">
            <a:avLst/>
          </a:prstGeom>
          <a:noFill/>
        </p:spPr>
        <p:txBody>
          <a:bodyPr wrap="square" anchor="t" lIns="36576" rIns="36576" tIns="36576" bIns="36576">
            <a:spAutoFit/>
          </a:bodyPr>
          <a:lstStyle/>
          <a:p>
            <a:pPr algn="r">
              <a:lnSpc>
                <a:spcPct val="110000"/>
              </a:lnSpc>
              <a:spcAft>
                <a:spcPts val="400"/>
              </a:spcAft>
            </a:pPr>
            <a:r>
              <a:rPr sz="950" b="0" i="0">
                <a:solidFill>
                  <a:srgbClr val="8B98A5"/>
                </a:solidFill>
                <a:latin typeface="Consolas"/>
              </a:rPr>
              <a:t>30</a:t>
            </a:r>
          </a:p>
        </p:txBody>
      </p:sp>
      <p:sp>
        <p:nvSpPr>
          <p:cNvPr id="7" name="Rounded Rectangle 6"/>
          <p:cNvSpPr/>
          <p:nvPr/>
        </p:nvSpPr>
        <p:spPr>
          <a:xfrm>
            <a:off x="548640" y="1554480"/>
            <a:ext cx="2651760" cy="1600200"/>
          </a:xfrm>
          <a:prstGeom prst="roundRect">
            <a:avLst>
              <a:gd name="adj" fmla="val 12000"/>
            </a:avLst>
          </a:prstGeom>
          <a:solidFill>
            <a:srgbClr val="11161D"/>
          </a:solidFill>
          <a:ln w="12700">
            <a:solidFill>
              <a:srgbClr val="8B98A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1">
                <a:solidFill>
                  <a:srgbClr val="8B98A5"/>
                </a:solidFill>
                <a:latin typeface="Segoe UI"/>
              </a:rPr>
              <a:t>SHERRY</a:t>
            </a:r>
          </a:p>
          <a:p>
            <a:pPr algn="ctr">
              <a:spcBef>
                <a:spcPts val="200"/>
              </a:spcBef>
            </a:pPr>
            <a:r>
              <a:rPr sz="950">
                <a:solidFill>
                  <a:srgbClr val="8B98A5"/>
                </a:solidFill>
                <a:latin typeface="Segoe UI"/>
              </a:rPr>
              <a:t>Personal AI OS
execute tasks for a human</a:t>
            </a:r>
          </a:p>
        </p:txBody>
      </p:sp>
      <p:cxnSp>
        <p:nvCxnSpPr>
          <p:cNvPr id="8" name="Connector 7"/>
          <p:cNvCxnSpPr/>
          <p:nvPr/>
        </p:nvCxnSpPr>
        <p:spPr>
          <a:xfrm>
            <a:off x="3200400" y="2354580"/>
            <a:ext cx="164592" cy="0"/>
          </a:xfrm>
          <a:prstGeom prst="line">
            <a:avLst/>
          </a:prstGeom>
          <a:ln w="15875">
            <a:solidFill>
              <a:srgbClr val="8B98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364992" y="1554480"/>
            <a:ext cx="2651760" cy="1600200"/>
          </a:xfrm>
          <a:prstGeom prst="roundRect">
            <a:avLst>
              <a:gd name="adj" fmla="val 12000"/>
            </a:avLst>
          </a:prstGeom>
          <a:solidFill>
            <a:srgbClr val="11161D"/>
          </a:solidFill>
          <a:ln w="12700">
            <a:solidFill>
              <a:srgbClr val="60A5F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1">
                <a:solidFill>
                  <a:srgbClr val="60A5FA"/>
                </a:solidFill>
                <a:latin typeface="Segoe UI"/>
              </a:rPr>
              <a:t>SENTINEL</a:t>
            </a:r>
          </a:p>
          <a:p>
            <a:pPr algn="ctr">
              <a:spcBef>
                <a:spcPts val="200"/>
              </a:spcBef>
            </a:pPr>
            <a:r>
              <a:rPr sz="950">
                <a:solidFill>
                  <a:srgbClr val="8B98A5"/>
                </a:solidFill>
                <a:latin typeface="Segoe UI"/>
              </a:rPr>
              <a:t>AI incident investigation
diagnose failures in software infrastructure</a:t>
            </a:r>
          </a:p>
        </p:txBody>
      </p:sp>
      <p:cxnSp>
        <p:nvCxnSpPr>
          <p:cNvPr id="10" name="Connector 9"/>
          <p:cNvCxnSpPr/>
          <p:nvPr/>
        </p:nvCxnSpPr>
        <p:spPr>
          <a:xfrm>
            <a:off x="6016752" y="2354580"/>
            <a:ext cx="164592" cy="0"/>
          </a:xfrm>
          <a:prstGeom prst="line">
            <a:avLst/>
          </a:prstGeom>
          <a:ln w="15875">
            <a:solidFill>
              <a:srgbClr val="8B98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181344" y="1554480"/>
            <a:ext cx="2651760" cy="1600200"/>
          </a:xfrm>
          <a:prstGeom prst="roundRect">
            <a:avLst>
              <a:gd name="adj" fmla="val 12000"/>
            </a:avLst>
          </a:prstGeom>
          <a:solidFill>
            <a:srgbClr val="11161D"/>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1">
                <a:solidFill>
                  <a:srgbClr val="A78BFA"/>
                </a:solidFill>
                <a:latin typeface="Segoe UI"/>
              </a:rPr>
              <a:t>AEGIS</a:t>
            </a:r>
          </a:p>
          <a:p>
            <a:pPr algn="ctr">
              <a:spcBef>
                <a:spcPts val="200"/>
              </a:spcBef>
            </a:pPr>
            <a:r>
              <a:rPr sz="950">
                <a:solidFill>
                  <a:srgbClr val="8B98A5"/>
                </a:solidFill>
                <a:latin typeface="Segoe UI"/>
              </a:rPr>
              <a:t>AI cybersecurity investigation
detect threats — 100% detection / 2% FPR on a reproducible benchmark</a:t>
            </a:r>
          </a:p>
        </p:txBody>
      </p:sp>
      <p:cxnSp>
        <p:nvCxnSpPr>
          <p:cNvPr id="12" name="Connector 11"/>
          <p:cNvCxnSpPr/>
          <p:nvPr/>
        </p:nvCxnSpPr>
        <p:spPr>
          <a:xfrm>
            <a:off x="8833104" y="2354580"/>
            <a:ext cx="164592" cy="0"/>
          </a:xfrm>
          <a:prstGeom prst="line">
            <a:avLst/>
          </a:prstGeom>
          <a:ln w="15875">
            <a:solidFill>
              <a:srgbClr val="8B98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997696" y="1554480"/>
            <a:ext cx="2651760" cy="1600200"/>
          </a:xfrm>
          <a:prstGeom prst="roundRect">
            <a:avLst>
              <a:gd name="adj" fmla="val 12000"/>
            </a:avLst>
          </a:prstGeom>
          <a:solidFill>
            <a:srgbClr val="11161D"/>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1">
                <a:solidFill>
                  <a:srgbClr val="22D3EE"/>
                </a:solidFill>
                <a:latin typeface="Segoe UI"/>
              </a:rPr>
              <a:t>NEXUS</a:t>
            </a:r>
          </a:p>
          <a:p>
            <a:pPr algn="ctr">
              <a:spcBef>
                <a:spcPts val="200"/>
              </a:spcBef>
            </a:pPr>
            <a:r>
              <a:rPr sz="950">
                <a:solidFill>
                  <a:srgbClr val="8B98A5"/>
                </a:solidFill>
                <a:latin typeface="Segoe UI"/>
              </a:rPr>
              <a:t>Digital twin &amp; autonomous operations
predict · simulate · optimize physical reality</a:t>
            </a:r>
          </a:p>
        </p:txBody>
      </p:sp>
      <p:sp>
        <p:nvSpPr>
          <p:cNvPr id="14" name="TextBox 13"/>
          <p:cNvSpPr txBox="1"/>
          <p:nvPr/>
        </p:nvSpPr>
        <p:spPr>
          <a:xfrm>
            <a:off x="548640" y="3291840"/>
            <a:ext cx="11064240" cy="365760"/>
          </a:xfrm>
          <a:prstGeom prst="rect">
            <a:avLst/>
          </a:prstGeom>
          <a:noFill/>
        </p:spPr>
        <p:txBody>
          <a:bodyPr wrap="square" anchor="t" lIns="36576" rIns="36576" tIns="36576" bIns="36576">
            <a:spAutoFit/>
          </a:bodyPr>
          <a:lstStyle/>
          <a:p>
            <a:pPr algn="ctr">
              <a:lnSpc>
                <a:spcPct val="110000"/>
              </a:lnSpc>
              <a:spcAft>
                <a:spcPts val="400"/>
              </a:spcAft>
            </a:pPr>
            <a:r>
              <a:rPr sz="1200" b="0" i="1">
                <a:solidFill>
                  <a:srgbClr val="8B98A5"/>
                </a:solidFill>
                <a:latin typeface="Segoe UI"/>
              </a:rPr>
              <a:t>AI operating systems → AI infrastructure → AI security → AI physical intelligence</a:t>
            </a:r>
          </a:p>
        </p:txBody>
      </p:sp>
      <p:sp>
        <p:nvSpPr>
          <p:cNvPr id="15" name="Rounded Rectangle 14"/>
          <p:cNvSpPr/>
          <p:nvPr/>
        </p:nvSpPr>
        <p:spPr>
          <a:xfrm>
            <a:off x="548640" y="3840480"/>
            <a:ext cx="11109960" cy="242316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6656" y="3931920"/>
            <a:ext cx="10853928" cy="274320"/>
          </a:xfrm>
          <a:prstGeom prst="rect">
            <a:avLst/>
          </a:prstGeom>
          <a:noFill/>
        </p:spPr>
        <p:txBody>
          <a:bodyPr wrap="square" anchor="t" lIns="36576" rIns="36576" tIns="36576" bIns="36576">
            <a:spAutoFit/>
          </a:bodyPr>
          <a:lstStyle/>
          <a:p>
            <a:pPr algn="l">
              <a:lnSpc>
                <a:spcPct val="110000"/>
              </a:lnSpc>
              <a:spcAft>
                <a:spcPts val="400"/>
              </a:spcAft>
            </a:pPr>
            <a:r>
              <a:rPr sz="950" b="1" i="0">
                <a:solidFill>
                  <a:srgbClr val="22D3EE"/>
                </a:solidFill>
                <a:latin typeface="Segoe UI"/>
              </a:rPr>
              <a:t>RAUNIT THAKUR — AI ENGINEER</a:t>
            </a:r>
          </a:p>
        </p:txBody>
      </p:sp>
      <p:sp>
        <p:nvSpPr>
          <p:cNvPr id="17" name="TextBox 16"/>
          <p:cNvSpPr txBox="1"/>
          <p:nvPr/>
        </p:nvSpPr>
        <p:spPr>
          <a:xfrm>
            <a:off x="685800" y="4206240"/>
            <a:ext cx="10881360" cy="2011680"/>
          </a:xfrm>
          <a:prstGeom prst="rect">
            <a:avLst/>
          </a:prstGeom>
          <a:noFill/>
        </p:spPr>
        <p:txBody>
          <a:bodyPr wrap="square" lIns="45720" rIns="45720">
            <a:spAutoFit/>
          </a:bodyPr>
          <a:lstStyle/>
          <a:p>
            <a:pPr>
              <a:lnSpc>
                <a:spcPct val="112000"/>
              </a:lnSpc>
              <a:spcAft>
                <a:spcPts val="600"/>
              </a:spcAft>
            </a:pPr>
            <a:r>
              <a:rPr sz="1100" b="1">
                <a:solidFill>
                  <a:srgbClr val="22D3EE"/>
                </a:solidFill>
                <a:latin typeface="Segoe UI"/>
              </a:rPr>
              <a:t>•  </a:t>
            </a:r>
            <a:r>
              <a:rPr b="1" sz="1100">
                <a:solidFill>
                  <a:srgbClr val="E6EDF3"/>
                </a:solidFill>
                <a:latin typeface="Segoe UI"/>
              </a:rPr>
              <a:t>Systems + AI: </a:t>
            </a:r>
            <a:r>
              <a:rPr sz="1100">
                <a:solidFill>
                  <a:srgbClr val="E6EDF3"/>
                </a:solidFill>
                <a:latin typeface="Segoe UI"/>
              </a:rPr>
              <a:t>event-sourced deterministic simulation, operations research (CP-SAT, Hungarian, GA), forecasting, multi-agent runtimes with structured LLM output, real-time UIs (Three.js), production tooling (Docker, CI, observability).</a:t>
            </a:r>
          </a:p>
          <a:p>
            <a:pPr>
              <a:lnSpc>
                <a:spcPct val="112000"/>
              </a:lnSpc>
              <a:spcAft>
                <a:spcPts val="600"/>
              </a:spcAft>
            </a:pPr>
            <a:r>
              <a:rPr sz="1100" b="1">
                <a:solidFill>
                  <a:srgbClr val="22D3EE"/>
                </a:solidFill>
                <a:latin typeface="Segoe UI"/>
              </a:rPr>
              <a:t>•  </a:t>
            </a:r>
            <a:r>
              <a:rPr b="1" sz="1100">
                <a:solidFill>
                  <a:srgbClr val="E6EDF3"/>
                </a:solidFill>
                <a:latin typeface="Segoe UI"/>
              </a:rPr>
              <a:t>Working style: </a:t>
            </a:r>
            <a:r>
              <a:rPr sz="1100">
                <a:solidFill>
                  <a:srgbClr val="E6EDF3"/>
                </a:solidFill>
                <a:latin typeface="Segoe UI"/>
              </a:rPr>
              <a:t>benchmark-first, local-first, zero-API-key architectures; every claim reproducible with one command.</a:t>
            </a:r>
          </a:p>
          <a:p>
            <a:pPr>
              <a:lnSpc>
                <a:spcPct val="112000"/>
              </a:lnSpc>
              <a:spcAft>
                <a:spcPts val="600"/>
              </a:spcAft>
            </a:pPr>
            <a:r>
              <a:rPr sz="1100" b="1">
                <a:solidFill>
                  <a:srgbClr val="22D3EE"/>
                </a:solidFill>
                <a:latin typeface="Segoe UI"/>
              </a:rPr>
              <a:t>•  </a:t>
            </a:r>
            <a:r>
              <a:rPr b="1" sz="1100">
                <a:solidFill>
                  <a:srgbClr val="E6EDF3"/>
                </a:solidFill>
                <a:latin typeface="Segoe UI"/>
              </a:rPr>
              <a:t>Looking for: </a:t>
            </a:r>
            <a:r>
              <a:rPr sz="1100">
                <a:solidFill>
                  <a:srgbClr val="E6EDF3"/>
                </a:solidFill>
                <a:latin typeface="Segoe UI"/>
              </a:rPr>
              <a:t>design partners with robot fleets, advisors in robotics and supply-chain operations, and early-stage backing to build the bridges to real equipment.</a:t>
            </a:r>
          </a:p>
          <a:p>
            <a:pPr>
              <a:lnSpc>
                <a:spcPct val="112000"/>
              </a:lnSpc>
              <a:spcAft>
                <a:spcPts val="600"/>
              </a:spcAft>
            </a:pPr>
            <a:r>
              <a:rPr sz="1100" b="1">
                <a:solidFill>
                  <a:srgbClr val="22D3EE"/>
                </a:solidFill>
                <a:latin typeface="Segoe UI"/>
              </a:rPr>
              <a:t>•  </a:t>
            </a:r>
            <a:r>
              <a:rPr b="1" sz="1100">
                <a:solidFill>
                  <a:srgbClr val="E6EDF3"/>
                </a:solidFill>
                <a:latin typeface="Segoe UI"/>
              </a:rPr>
              <a:t>Contact: </a:t>
            </a:r>
            <a:r>
              <a:rPr sz="1100">
                <a:solidFill>
                  <a:srgbClr val="E6EDF3"/>
                </a:solidFill>
                <a:latin typeface="Segoe UI"/>
              </a:rPr>
              <a:t>raunit.thakur@gmail.com · github.com/raunitgrey7 (sentinel, aegis, nexus are public)</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0D12"/>
        </a:solidFill>
        <a:effectLst/>
      </p:bgPr>
    </p:bg>
    <p:spTree>
      <p:nvGrpSpPr>
        <p:cNvPr id="1" name=""/>
        <p:cNvGrpSpPr/>
        <p:nvPr/>
      </p:nvGrpSpPr>
      <p:grpSpPr/>
      <p:sp>
        <p:nvSpPr>
          <p:cNvPr id="2" name="TextBox 1"/>
          <p:cNvSpPr txBox="1"/>
          <p:nvPr/>
        </p:nvSpPr>
        <p:spPr>
          <a:xfrm>
            <a:off x="548640" y="256032"/>
            <a:ext cx="8229600" cy="274320"/>
          </a:xfrm>
          <a:prstGeom prst="rect">
            <a:avLst/>
          </a:prstGeom>
          <a:noFill/>
        </p:spPr>
        <p:txBody>
          <a:bodyPr wrap="square" anchor="t" lIns="36576" rIns="36576" tIns="36576" bIns="36576">
            <a:spAutoFit/>
          </a:bodyPr>
          <a:lstStyle/>
          <a:p>
            <a:pPr algn="l">
              <a:lnSpc>
                <a:spcPct val="110000"/>
              </a:lnSpc>
              <a:spcAft>
                <a:spcPts val="400"/>
              </a:spcAft>
            </a:pPr>
            <a:r>
              <a:rPr sz="1050" b="1" i="0">
                <a:solidFill>
                  <a:srgbClr val="22D3EE"/>
                </a:solidFill>
                <a:latin typeface="Segoe UI"/>
              </a:rPr>
              <a:t>THE ASK</a:t>
            </a:r>
          </a:p>
        </p:txBody>
      </p:sp>
      <p:sp>
        <p:nvSpPr>
          <p:cNvPr id="3" name="TextBox 2"/>
          <p:cNvSpPr txBox="1"/>
          <p:nvPr/>
        </p:nvSpPr>
        <p:spPr>
          <a:xfrm>
            <a:off x="548640" y="502920"/>
            <a:ext cx="10607040" cy="731520"/>
          </a:xfrm>
          <a:prstGeom prst="rect">
            <a:avLst/>
          </a:prstGeom>
          <a:noFill/>
        </p:spPr>
        <p:txBody>
          <a:bodyPr wrap="square" anchor="ctr" lIns="36576" rIns="36576" tIns="36576" bIns="36576">
            <a:spAutoFit/>
          </a:bodyPr>
          <a:lstStyle/>
          <a:p>
            <a:pPr algn="l">
              <a:lnSpc>
                <a:spcPct val="110000"/>
              </a:lnSpc>
              <a:spcAft>
                <a:spcPts val="400"/>
              </a:spcAft>
            </a:pPr>
            <a:r>
              <a:rPr sz="2800" b="1" i="0">
                <a:solidFill>
                  <a:srgbClr val="E6EDF3"/>
                </a:solidFill>
                <a:latin typeface="Segoe UI"/>
              </a:rPr>
              <a:t>Help NEXUS meet its first real robots</a:t>
            </a:r>
          </a:p>
        </p:txBody>
      </p:sp>
      <p:sp>
        <p:nvSpPr>
          <p:cNvPr id="4" name="Rectangle 3"/>
          <p:cNvSpPr/>
          <p:nvPr/>
        </p:nvSpPr>
        <p:spPr>
          <a:xfrm>
            <a:off x="566928" y="1216152"/>
            <a:ext cx="100584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6400800" cy="274320"/>
          </a:xfrm>
          <a:prstGeom prst="rect">
            <a:avLst/>
          </a:prstGeom>
          <a:noFill/>
        </p:spPr>
        <p:txBody>
          <a:bodyPr wrap="square" anchor="t" lIns="36576" rIns="36576" tIns="36576" bIns="36576">
            <a:spAutoFit/>
          </a:bodyPr>
          <a:lstStyle/>
          <a:p>
            <a:pPr algn="l">
              <a:lnSpc>
                <a:spcPct val="110000"/>
              </a:lnSpc>
              <a:spcAft>
                <a:spcPts val="400"/>
              </a:spcAft>
            </a:pPr>
            <a:r>
              <a:rPr sz="950" b="0" i="0">
                <a:solidFill>
                  <a:srgbClr val="8B98A5"/>
                </a:solidFill>
                <a:latin typeface="Segoe UI"/>
              </a:rPr>
              <a:t>NEXUS · Autonomous Operations Intelligence</a:t>
            </a:r>
          </a:p>
        </p:txBody>
      </p:sp>
      <p:sp>
        <p:nvSpPr>
          <p:cNvPr id="6" name="TextBox 5"/>
          <p:cNvSpPr txBox="1"/>
          <p:nvPr/>
        </p:nvSpPr>
        <p:spPr>
          <a:xfrm>
            <a:off x="10607040" y="6446520"/>
            <a:ext cx="1051560" cy="274320"/>
          </a:xfrm>
          <a:prstGeom prst="rect">
            <a:avLst/>
          </a:prstGeom>
          <a:noFill/>
        </p:spPr>
        <p:txBody>
          <a:bodyPr wrap="square" anchor="t" lIns="36576" rIns="36576" tIns="36576" bIns="36576">
            <a:spAutoFit/>
          </a:bodyPr>
          <a:lstStyle/>
          <a:p>
            <a:pPr algn="r">
              <a:lnSpc>
                <a:spcPct val="110000"/>
              </a:lnSpc>
              <a:spcAft>
                <a:spcPts val="400"/>
              </a:spcAft>
            </a:pPr>
            <a:r>
              <a:rPr sz="950" b="0" i="0">
                <a:solidFill>
                  <a:srgbClr val="8B98A5"/>
                </a:solidFill>
                <a:latin typeface="Consolas"/>
              </a:rPr>
              <a:t>31</a:t>
            </a:r>
          </a:p>
        </p:txBody>
      </p:sp>
      <p:sp>
        <p:nvSpPr>
          <p:cNvPr id="7" name="Rounded Rectangle 6"/>
          <p:cNvSpPr/>
          <p:nvPr/>
        </p:nvSpPr>
        <p:spPr>
          <a:xfrm>
            <a:off x="548640" y="1508760"/>
            <a:ext cx="3611880" cy="1920240"/>
          </a:xfrm>
          <a:prstGeom prst="roundRect">
            <a:avLst>
              <a:gd name="adj" fmla="val 12000"/>
            </a:avLst>
          </a:prstGeom>
          <a:solidFill>
            <a:srgbClr val="11161D"/>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a:solidFill>
                  <a:srgbClr val="22D3EE"/>
                </a:solidFill>
                <a:latin typeface="Segoe UI"/>
              </a:rPr>
              <a:t>DESIGN PARTNERS</a:t>
            </a:r>
          </a:p>
          <a:p>
            <a:pPr algn="ctr">
              <a:spcBef>
                <a:spcPts val="200"/>
              </a:spcBef>
            </a:pPr>
            <a:r>
              <a:rPr sz="1050">
                <a:solidFill>
                  <a:srgbClr val="8B98A5"/>
                </a:solidFill>
                <a:latin typeface="Segoe UI"/>
              </a:rPr>
              <a:t>2–3 warehouse / 3PL sites with robot fleets for calibrated pilots: replay history, benchmark strategies, run what-ifs on real questions</a:t>
            </a:r>
          </a:p>
        </p:txBody>
      </p:sp>
      <p:sp>
        <p:nvSpPr>
          <p:cNvPr id="8" name="Rounded Rectangle 7"/>
          <p:cNvSpPr/>
          <p:nvPr/>
        </p:nvSpPr>
        <p:spPr>
          <a:xfrm>
            <a:off x="4297679" y="1508760"/>
            <a:ext cx="3611880" cy="1920240"/>
          </a:xfrm>
          <a:prstGeom prst="roundRect">
            <a:avLst>
              <a:gd name="adj" fmla="val 12000"/>
            </a:avLst>
          </a:prstGeom>
          <a:solidFill>
            <a:srgbClr val="11161D"/>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a:solidFill>
                  <a:srgbClr val="22C55E"/>
                </a:solidFill>
                <a:latin typeface="Segoe UI"/>
              </a:rPr>
              <a:t>PRE-SEED SUPPORT</a:t>
            </a:r>
          </a:p>
          <a:p>
            <a:pPr algn="ctr">
              <a:spcBef>
                <a:spcPts val="200"/>
              </a:spcBef>
            </a:pPr>
            <a:r>
              <a:rPr sz="1050">
                <a:solidFill>
                  <a:srgbClr val="8B98A5"/>
                </a:solidFill>
                <a:latin typeface="Segoe UI"/>
              </a:rPr>
              <a:t>12–18 months of runway for simulator bridges (Webots / Gazebo / Isaac), fleet-manager connectors and domain packs</a:t>
            </a:r>
          </a:p>
        </p:txBody>
      </p:sp>
      <p:sp>
        <p:nvSpPr>
          <p:cNvPr id="9" name="Rounded Rectangle 8"/>
          <p:cNvSpPr/>
          <p:nvPr/>
        </p:nvSpPr>
        <p:spPr>
          <a:xfrm>
            <a:off x="8046719" y="1508760"/>
            <a:ext cx="3611880" cy="1920240"/>
          </a:xfrm>
          <a:prstGeom prst="roundRect">
            <a:avLst>
              <a:gd name="adj" fmla="val 12000"/>
            </a:avLst>
          </a:prstGeom>
          <a:solidFill>
            <a:srgbClr val="11161D"/>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a:solidFill>
                  <a:srgbClr val="A78BFA"/>
                </a:solidFill>
                <a:latin typeface="Segoe UI"/>
              </a:rPr>
              <a:t>ADVISORS</a:t>
            </a:r>
          </a:p>
          <a:p>
            <a:pPr algn="ctr">
              <a:spcBef>
                <a:spcPts val="200"/>
              </a:spcBef>
            </a:pPr>
            <a:r>
              <a:rPr sz="1050">
                <a:solidFill>
                  <a:srgbClr val="8B98A5"/>
                </a:solidFill>
                <a:latin typeface="Segoe UI"/>
              </a:rPr>
              <a:t>robotics, warehouse operations and supply-chain leaders who have lived through the incidents NEXUS is built for</a:t>
            </a:r>
          </a:p>
        </p:txBody>
      </p:sp>
      <p:sp>
        <p:nvSpPr>
          <p:cNvPr id="10" name="Rounded Rectangle 9"/>
          <p:cNvSpPr/>
          <p:nvPr/>
        </p:nvSpPr>
        <p:spPr>
          <a:xfrm>
            <a:off x="548640" y="3703320"/>
            <a:ext cx="11109960" cy="1508760"/>
          </a:xfrm>
          <a:prstGeom prst="roundRect">
            <a:avLst>
              <a:gd name="adj" fmla="val 5000"/>
            </a:avLst>
          </a:prstGeom>
          <a:solidFill>
            <a:srgbClr val="0E1319"/>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840480"/>
            <a:ext cx="10789920" cy="1280160"/>
          </a:xfrm>
          <a:prstGeom prst="rect">
            <a:avLst/>
          </a:prstGeom>
          <a:noFill/>
        </p:spPr>
        <p:txBody>
          <a:bodyPr wrap="square" anchor="t" lIns="36576" rIns="36576" tIns="36576" bIns="36576">
            <a:spAutoFit/>
          </a:bodyPr>
          <a:lstStyle/>
          <a:p>
            <a:pPr algn="l">
              <a:lnSpc>
                <a:spcPct val="125000"/>
              </a:lnSpc>
              <a:spcAft>
                <a:spcPts val="600"/>
              </a:spcAft>
            </a:pPr>
            <a:r>
              <a:rPr sz="1200" b="0" i="0">
                <a:solidFill>
                  <a:srgbClr val="E6EDF3"/>
                </a:solidFill>
                <a:latin typeface="Consolas"/>
              </a:rPr>
              <a:t>Everything in this deck runs on one laptop:</a:t>
            </a:r>
          </a:p>
          <a:p>
            <a:pPr algn="l">
              <a:lnSpc>
                <a:spcPct val="125000"/>
              </a:lnSpc>
              <a:spcAft>
                <a:spcPts val="600"/>
              </a:spcAft>
            </a:pPr>
            <a:r>
              <a:rPr sz="1200" b="0" i="0">
                <a:solidFill>
                  <a:srgbClr val="E6EDF3"/>
                </a:solidFill>
                <a:latin typeface="Consolas"/>
              </a:rPr>
              <a:t>docker compose up --build   →   UI :3000 · API :8000/docs · Grafana :3001 · Prometheus :9090</a:t>
            </a:r>
          </a:p>
          <a:p>
            <a:pPr algn="l">
              <a:lnSpc>
                <a:spcPct val="125000"/>
              </a:lnSpc>
              <a:spcAft>
                <a:spcPts val="600"/>
              </a:spcAft>
            </a:pPr>
            <a:r>
              <a:rPr sz="1200" b="0" i="0">
                <a:solidFill>
                  <a:srgbClr val="E6EDF3"/>
                </a:solidFill>
                <a:latin typeface="Consolas"/>
              </a:rPr>
              <a:t>uv run nexus demo   →   the storyline in the terminal (twin → surge → R07 fails → nine plans simulated → best plan executed)</a:t>
            </a:r>
          </a:p>
        </p:txBody>
      </p:sp>
      <p:sp>
        <p:nvSpPr>
          <p:cNvPr id="12" name="TextBox 11"/>
          <p:cNvSpPr txBox="1"/>
          <p:nvPr/>
        </p:nvSpPr>
        <p:spPr>
          <a:xfrm>
            <a:off x="548640" y="5440680"/>
            <a:ext cx="11109960" cy="457200"/>
          </a:xfrm>
          <a:prstGeom prst="rect">
            <a:avLst/>
          </a:prstGeom>
          <a:noFill/>
        </p:spPr>
        <p:txBody>
          <a:bodyPr wrap="square" anchor="t" lIns="36576" rIns="36576" tIns="36576" bIns="36576">
            <a:spAutoFit/>
          </a:bodyPr>
          <a:lstStyle/>
          <a:p>
            <a:pPr algn="ctr">
              <a:lnSpc>
                <a:spcPct val="110000"/>
              </a:lnSpc>
              <a:spcAft>
                <a:spcPts val="400"/>
              </a:spcAft>
            </a:pPr>
            <a:r>
              <a:rPr sz="1600" b="1" i="0">
                <a:solidFill>
                  <a:srgbClr val="22D3EE"/>
                </a:solidFill>
                <a:latin typeface="Segoe UI"/>
              </a:rPr>
              <a:t>Raunit Thakur  ·  raunit.thakur@gmail.com  ·  github.com/raunitgrey7/nexus</a:t>
            </a:r>
          </a:p>
        </p:txBody>
      </p:sp>
      <p:sp>
        <p:nvSpPr>
          <p:cNvPr id="13" name="TextBox 12"/>
          <p:cNvSpPr txBox="1"/>
          <p:nvPr/>
        </p:nvSpPr>
        <p:spPr>
          <a:xfrm>
            <a:off x="548640" y="5897880"/>
            <a:ext cx="11109960" cy="365760"/>
          </a:xfrm>
          <a:prstGeom prst="rect">
            <a:avLst/>
          </a:prstGeom>
          <a:noFill/>
        </p:spPr>
        <p:txBody>
          <a:bodyPr wrap="square" anchor="t" lIns="36576" rIns="36576" tIns="36576" bIns="36576">
            <a:spAutoFit/>
          </a:bodyPr>
          <a:lstStyle/>
          <a:p>
            <a:pPr algn="ctr">
              <a:lnSpc>
                <a:spcPct val="110000"/>
              </a:lnSpc>
              <a:spcAft>
                <a:spcPts val="400"/>
              </a:spcAft>
            </a:pPr>
            <a:r>
              <a:rPr sz="1100" b="0" i="0">
                <a:solidFill>
                  <a:srgbClr val="8B98A5"/>
                </a:solidFill>
                <a:latin typeface="Segoe UI"/>
              </a:rPr>
              <a:t>Apache-2.0 · local-first · zero API keys · simulate before execute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0D12"/>
        </a:solidFill>
        <a:effectLst/>
      </p:bgPr>
    </p:bg>
    <p:spTree>
      <p:nvGrpSpPr>
        <p:cNvPr id="1" name=""/>
        <p:cNvGrpSpPr/>
        <p:nvPr/>
      </p:nvGrpSpPr>
      <p:grpSpPr/>
      <p:sp>
        <p:nvSpPr>
          <p:cNvPr id="2" name="TextBox 1"/>
          <p:cNvSpPr txBox="1"/>
          <p:nvPr/>
        </p:nvSpPr>
        <p:spPr>
          <a:xfrm>
            <a:off x="548640" y="256032"/>
            <a:ext cx="8229600" cy="274320"/>
          </a:xfrm>
          <a:prstGeom prst="rect">
            <a:avLst/>
          </a:prstGeom>
          <a:noFill/>
        </p:spPr>
        <p:txBody>
          <a:bodyPr wrap="square" anchor="t" lIns="36576" rIns="36576" tIns="36576" bIns="36576">
            <a:spAutoFit/>
          </a:bodyPr>
          <a:lstStyle/>
          <a:p>
            <a:pPr algn="l">
              <a:lnSpc>
                <a:spcPct val="110000"/>
              </a:lnSpc>
              <a:spcAft>
                <a:spcPts val="400"/>
              </a:spcAft>
            </a:pPr>
            <a:r>
              <a:rPr sz="1050" b="1" i="0">
                <a:solidFill>
                  <a:srgbClr val="22D3EE"/>
                </a:solidFill>
                <a:latin typeface="Segoe UI"/>
              </a:rPr>
              <a:t>APPENDIX A</a:t>
            </a:r>
          </a:p>
        </p:txBody>
      </p:sp>
      <p:sp>
        <p:nvSpPr>
          <p:cNvPr id="3" name="TextBox 2"/>
          <p:cNvSpPr txBox="1"/>
          <p:nvPr/>
        </p:nvSpPr>
        <p:spPr>
          <a:xfrm>
            <a:off x="548640" y="502920"/>
            <a:ext cx="10607040" cy="731520"/>
          </a:xfrm>
          <a:prstGeom prst="rect">
            <a:avLst/>
          </a:prstGeom>
          <a:noFill/>
        </p:spPr>
        <p:txBody>
          <a:bodyPr wrap="square" anchor="ctr" lIns="36576" rIns="36576" tIns="36576" bIns="36576">
            <a:spAutoFit/>
          </a:bodyPr>
          <a:lstStyle/>
          <a:p>
            <a:pPr algn="l">
              <a:lnSpc>
                <a:spcPct val="110000"/>
              </a:lnSpc>
              <a:spcAft>
                <a:spcPts val="400"/>
              </a:spcAft>
            </a:pPr>
            <a:r>
              <a:rPr sz="2800" b="1" i="0">
                <a:solidFill>
                  <a:srgbClr val="E6EDF3"/>
                </a:solidFill>
                <a:latin typeface="Segoe UI"/>
              </a:rPr>
              <a:t>KPI definitions and the action vocabulary</a:t>
            </a:r>
          </a:p>
        </p:txBody>
      </p:sp>
      <p:sp>
        <p:nvSpPr>
          <p:cNvPr id="4" name="Rectangle 3"/>
          <p:cNvSpPr/>
          <p:nvPr/>
        </p:nvSpPr>
        <p:spPr>
          <a:xfrm>
            <a:off x="566928" y="1216152"/>
            <a:ext cx="100584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6400800" cy="274320"/>
          </a:xfrm>
          <a:prstGeom prst="rect">
            <a:avLst/>
          </a:prstGeom>
          <a:noFill/>
        </p:spPr>
        <p:txBody>
          <a:bodyPr wrap="square" anchor="t" lIns="36576" rIns="36576" tIns="36576" bIns="36576">
            <a:spAutoFit/>
          </a:bodyPr>
          <a:lstStyle/>
          <a:p>
            <a:pPr algn="l">
              <a:lnSpc>
                <a:spcPct val="110000"/>
              </a:lnSpc>
              <a:spcAft>
                <a:spcPts val="400"/>
              </a:spcAft>
            </a:pPr>
            <a:r>
              <a:rPr sz="950" b="0" i="0">
                <a:solidFill>
                  <a:srgbClr val="8B98A5"/>
                </a:solidFill>
                <a:latin typeface="Segoe UI"/>
              </a:rPr>
              <a:t>NEXUS · Autonomous Operations Intelligence</a:t>
            </a:r>
          </a:p>
        </p:txBody>
      </p:sp>
      <p:sp>
        <p:nvSpPr>
          <p:cNvPr id="6" name="TextBox 5"/>
          <p:cNvSpPr txBox="1"/>
          <p:nvPr/>
        </p:nvSpPr>
        <p:spPr>
          <a:xfrm>
            <a:off x="10607040" y="6446520"/>
            <a:ext cx="1051560" cy="274320"/>
          </a:xfrm>
          <a:prstGeom prst="rect">
            <a:avLst/>
          </a:prstGeom>
          <a:noFill/>
        </p:spPr>
        <p:txBody>
          <a:bodyPr wrap="square" anchor="t" lIns="36576" rIns="36576" tIns="36576" bIns="36576">
            <a:spAutoFit/>
          </a:bodyPr>
          <a:lstStyle/>
          <a:p>
            <a:pPr algn="r">
              <a:lnSpc>
                <a:spcPct val="110000"/>
              </a:lnSpc>
              <a:spcAft>
                <a:spcPts val="400"/>
              </a:spcAft>
            </a:pPr>
            <a:r>
              <a:rPr sz="950" b="0" i="0">
                <a:solidFill>
                  <a:srgbClr val="8B98A5"/>
                </a:solidFill>
                <a:latin typeface="Consolas"/>
              </a:rPr>
              <a:t>32</a:t>
            </a:r>
          </a:p>
        </p:txBody>
      </p:sp>
      <p:graphicFrame>
        <p:nvGraphicFramePr>
          <p:cNvPr id="7" name="Table 6"/>
          <p:cNvGraphicFramePr>
            <a:graphicFrameLocks noGrp="1"/>
          </p:cNvGraphicFramePr>
          <p:nvPr/>
        </p:nvGraphicFramePr>
        <p:xfrm>
          <a:off x="548640" y="1417320"/>
          <a:ext cx="6766560" cy="3566160"/>
        </p:xfrm>
        <a:graphic>
          <a:graphicData uri="http://schemas.openxmlformats.org/drawingml/2006/table">
            <a:tbl>
              <a:tblPr firstRow="1" bandRow="0">
                <a:tableStyleId>{2D5ABB26-0587-4C30-8999-92F81FD0307C}</a:tableStyleId>
              </a:tblPr>
              <a:tblGrid>
                <a:gridCol w="1737360"/>
                <a:gridCol w="5029200"/>
              </a:tblGrid>
              <a:tr h="445770">
                <a:tc>
                  <a:txBody>
                    <a:bodyPr wrap="square"/>
                    <a:lstStyle/>
                    <a:p>
                      <a:pPr algn="l"/>
                      <a:r>
                        <a:rPr sz="900" b="1">
                          <a:solidFill>
                            <a:srgbClr val="22D3EE"/>
                          </a:solidFill>
                          <a:latin typeface="Segoe UI"/>
                        </a:rPr>
                        <a:t>KPI</a:t>
                      </a:r>
                    </a:p>
                  </a:txBody>
                  <a:tcPr marL="64008" marR="64008" marT="27432" marB="27432" anchor="ctr">
                    <a:solidFill>
                      <a:srgbClr val="182130"/>
                    </a:solidFill>
                  </a:tcPr>
                </a:tc>
                <a:tc>
                  <a:txBody>
                    <a:bodyPr wrap="square"/>
                    <a:lstStyle/>
                    <a:p>
                      <a:pPr algn="l"/>
                      <a:r>
                        <a:rPr sz="900" b="1">
                          <a:solidFill>
                            <a:srgbClr val="22D3EE"/>
                          </a:solidFill>
                          <a:latin typeface="Segoe UI"/>
                        </a:rPr>
                        <a:t>definition</a:t>
                      </a:r>
                    </a:p>
                  </a:txBody>
                  <a:tcPr marL="64008" marR="64008" marT="27432" marB="27432" anchor="ctr">
                    <a:solidFill>
                      <a:srgbClr val="182130"/>
                    </a:solidFill>
                  </a:tcPr>
                </a:tc>
              </a:tr>
              <a:tr h="445770">
                <a:tc>
                  <a:txBody>
                    <a:bodyPr wrap="square"/>
                    <a:lstStyle/>
                    <a:p>
                      <a:pPr algn="l"/>
                      <a:r>
                        <a:rPr sz="950" b="0">
                          <a:solidFill>
                            <a:srgbClr val="E6EDF3"/>
                          </a:solidFill>
                          <a:latin typeface="Segoe UI"/>
                        </a:rPr>
                        <a:t>Avg fulfilment time</a:t>
                      </a:r>
                    </a:p>
                  </a:txBody>
                  <a:tcPr marL="64008" marR="64008" marT="27432" marB="27432" anchor="ctr">
                    <a:solidFill>
                      <a:srgbClr val="11161D"/>
                    </a:solidFill>
                  </a:tcPr>
                </a:tc>
                <a:tc>
                  <a:txBody>
                    <a:bodyPr wrap="square"/>
                    <a:lstStyle/>
                    <a:p>
                      <a:pPr algn="l"/>
                      <a:r>
                        <a:rPr sz="950" b="0">
                          <a:solidFill>
                            <a:srgbClr val="E6EDF3"/>
                          </a:solidFill>
                          <a:latin typeface="Segoe UI"/>
                        </a:rPr>
                        <a:t>mean(delivered_at − created_at) over delivered orders</a:t>
                      </a:r>
                    </a:p>
                  </a:txBody>
                  <a:tcPr marL="64008" marR="64008" marT="27432" marB="27432" anchor="ctr">
                    <a:solidFill>
                      <a:srgbClr val="11161D"/>
                    </a:solidFill>
                  </a:tcPr>
                </a:tc>
              </a:tr>
              <a:tr h="445770">
                <a:tc>
                  <a:txBody>
                    <a:bodyPr wrap="square"/>
                    <a:lstStyle/>
                    <a:p>
                      <a:pPr algn="l"/>
                      <a:r>
                        <a:rPr sz="950" b="0">
                          <a:solidFill>
                            <a:srgbClr val="E6EDF3"/>
                          </a:solidFill>
                          <a:latin typeface="Segoe UI"/>
                        </a:rPr>
                        <a:t>SLA breach (projected)</a:t>
                      </a:r>
                    </a:p>
                  </a:txBody>
                  <a:tcPr marL="64008" marR="64008" marT="27432" marB="27432" anchor="ctr">
                    <a:solidFill>
                      <a:srgbClr val="0E1319"/>
                    </a:solidFill>
                  </a:tcPr>
                </a:tc>
                <a:tc>
                  <a:txBody>
                    <a:bodyPr wrap="square"/>
                    <a:lstStyle/>
                    <a:p>
                      <a:pPr algn="l"/>
                      <a:r>
                        <a:rPr sz="950" b="0">
                          <a:solidFill>
                            <a:srgbClr val="E6EDF3"/>
                          </a:solidFill>
                          <a:latin typeface="Segoe UI"/>
                        </a:rPr>
                        <a:t>late delivered + open-overdue orders over delivered + open — the headline number</a:t>
                      </a:r>
                    </a:p>
                  </a:txBody>
                  <a:tcPr marL="64008" marR="64008" marT="27432" marB="27432" anchor="ctr">
                    <a:solidFill>
                      <a:srgbClr val="0E1319"/>
                    </a:solidFill>
                  </a:tcPr>
                </a:tc>
              </a:tr>
              <a:tr h="445770">
                <a:tc>
                  <a:txBody>
                    <a:bodyPr wrap="square"/>
                    <a:lstStyle/>
                    <a:p>
                      <a:pPr algn="l"/>
                      <a:r>
                        <a:rPr sz="950" b="0">
                          <a:solidFill>
                            <a:srgbClr val="E6EDF3"/>
                          </a:solidFill>
                          <a:latin typeface="Segoe UI"/>
                        </a:rPr>
                        <a:t>Throughput</a:t>
                      </a:r>
                    </a:p>
                  </a:txBody>
                  <a:tcPr marL="64008" marR="64008" marT="27432" marB="27432" anchor="ctr">
                    <a:solidFill>
                      <a:srgbClr val="11161D"/>
                    </a:solidFill>
                  </a:tcPr>
                </a:tc>
                <a:tc>
                  <a:txBody>
                    <a:bodyPr wrap="square"/>
                    <a:lstStyle/>
                    <a:p>
                      <a:pPr algn="l"/>
                      <a:r>
                        <a:rPr sz="950" b="0">
                          <a:solidFill>
                            <a:srgbClr val="E6EDF3"/>
                          </a:solidFill>
                          <a:latin typeface="Segoe UI"/>
                        </a:rPr>
                        <a:t>delivered orders per simulated hour</a:t>
                      </a:r>
                    </a:p>
                  </a:txBody>
                  <a:tcPr marL="64008" marR="64008" marT="27432" marB="27432" anchor="ctr">
                    <a:solidFill>
                      <a:srgbClr val="11161D"/>
                    </a:solidFill>
                  </a:tcPr>
                </a:tc>
              </a:tr>
              <a:tr h="445770">
                <a:tc>
                  <a:txBody>
                    <a:bodyPr wrap="square"/>
                    <a:lstStyle/>
                    <a:p>
                      <a:pPr algn="l"/>
                      <a:r>
                        <a:rPr sz="950" b="0">
                          <a:solidFill>
                            <a:srgbClr val="E6EDF3"/>
                          </a:solidFill>
                          <a:latin typeface="Segoe UI"/>
                        </a:rPr>
                        <a:t>Robot utilization</a:t>
                      </a:r>
                    </a:p>
                  </a:txBody>
                  <a:tcPr marL="64008" marR="64008" marT="27432" marB="27432" anchor="ctr">
                    <a:solidFill>
                      <a:srgbClr val="0E1319"/>
                    </a:solidFill>
                  </a:tcPr>
                </a:tc>
                <a:tc>
                  <a:txBody>
                    <a:bodyPr wrap="square"/>
                    <a:lstStyle/>
                    <a:p>
                      <a:pPr algn="l"/>
                      <a:r>
                        <a:rPr sz="950" b="0">
                          <a:solidFill>
                            <a:srgbClr val="E6EDF3"/>
                          </a:solidFill>
                          <a:latin typeface="Segoe UI"/>
                        </a:rPr>
                        <a:t>share of robot-ticks in a productive state (moving to pick / deliver, picking, unloading)</a:t>
                      </a:r>
                    </a:p>
                  </a:txBody>
                  <a:tcPr marL="64008" marR="64008" marT="27432" marB="27432" anchor="ctr">
                    <a:solidFill>
                      <a:srgbClr val="0E1319"/>
                    </a:solidFill>
                  </a:tcPr>
                </a:tc>
              </a:tr>
              <a:tr h="445770">
                <a:tc>
                  <a:txBody>
                    <a:bodyPr wrap="square"/>
                    <a:lstStyle/>
                    <a:p>
                      <a:pPr algn="l"/>
                      <a:r>
                        <a:rPr sz="950" b="0">
                          <a:solidFill>
                            <a:srgbClr val="E6EDF3"/>
                          </a:solidFill>
                          <a:latin typeface="Segoe UI"/>
                        </a:rPr>
                        <a:t>Congestion index</a:t>
                      </a:r>
                    </a:p>
                  </a:txBody>
                  <a:tcPr marL="64008" marR="64008" marT="27432" marB="27432" anchor="ctr">
                    <a:solidFill>
                      <a:srgbClr val="11161D"/>
                    </a:solidFill>
                  </a:tcPr>
                </a:tc>
                <a:tc>
                  <a:txBody>
                    <a:bodyPr wrap="square"/>
                    <a:lstStyle/>
                    <a:p>
                      <a:pPr algn="l"/>
                      <a:r>
                        <a:rPr sz="950" b="0">
                          <a:solidFill>
                            <a:srgbClr val="E6EDF3"/>
                          </a:solidFill>
                          <a:latin typeface="Segoe UI"/>
                        </a:rPr>
                        <a:t>mean over ticks of Σ zones max(0, robots_in_zone − capacity)</a:t>
                      </a:r>
                    </a:p>
                  </a:txBody>
                  <a:tcPr marL="64008" marR="64008" marT="27432" marB="27432" anchor="ctr">
                    <a:solidFill>
                      <a:srgbClr val="11161D"/>
                    </a:solidFill>
                  </a:tcPr>
                </a:tc>
              </a:tr>
              <a:tr h="445770">
                <a:tc>
                  <a:txBody>
                    <a:bodyPr wrap="square"/>
                    <a:lstStyle/>
                    <a:p>
                      <a:pPr algn="l"/>
                      <a:r>
                        <a:rPr sz="950" b="0">
                          <a:solidFill>
                            <a:srgbClr val="E6EDF3"/>
                          </a:solidFill>
                          <a:latin typeface="Segoe UI"/>
                        </a:rPr>
                        <a:t>Distance / energy</a:t>
                      </a:r>
                    </a:p>
                  </a:txBody>
                  <a:tcPr marL="64008" marR="64008" marT="27432" marB="27432" anchor="ctr">
                    <a:solidFill>
                      <a:srgbClr val="0E1319"/>
                    </a:solidFill>
                  </a:tcPr>
                </a:tc>
                <a:tc>
                  <a:txBody>
                    <a:bodyPr wrap="square"/>
                    <a:lstStyle/>
                    <a:p>
                      <a:pPr algn="l"/>
                      <a:r>
                        <a:rPr sz="950" b="0">
                          <a:solidFill>
                            <a:srgbClr val="E6EDF3"/>
                          </a:solidFill>
                          <a:latin typeface="Segoe UI"/>
                        </a:rPr>
                        <a:t>cells travelled · battery percentage points consumed (per order in the benchmark tables)</a:t>
                      </a:r>
                    </a:p>
                  </a:txBody>
                  <a:tcPr marL="64008" marR="64008" marT="27432" marB="27432" anchor="ctr">
                    <a:solidFill>
                      <a:srgbClr val="0E1319"/>
                    </a:solidFill>
                  </a:tcPr>
                </a:tc>
              </a:tr>
              <a:tr h="445770">
                <a:tc>
                  <a:txBody>
                    <a:bodyPr wrap="square"/>
                    <a:lstStyle/>
                    <a:p>
                      <a:pPr algn="l"/>
                      <a:r>
                        <a:rPr sz="950" b="0">
                          <a:solidFill>
                            <a:srgbClr val="E6EDF3"/>
                          </a:solidFill>
                          <a:latin typeface="Segoe UI"/>
                        </a:rPr>
                        <a:t>Planning latency</a:t>
                      </a:r>
                    </a:p>
                  </a:txBody>
                  <a:tcPr marL="64008" marR="64008" marT="27432" marB="27432" anchor="ctr">
                    <a:solidFill>
                      <a:srgbClr val="11161D"/>
                    </a:solidFill>
                  </a:tcPr>
                </a:tc>
                <a:tc>
                  <a:txBody>
                    <a:bodyPr wrap="square"/>
                    <a:lstStyle/>
                    <a:p>
                      <a:pPr algn="l"/>
                      <a:r>
                        <a:rPr sz="950" b="0">
                          <a:solidFill>
                            <a:srgbClr val="E6EDF3"/>
                          </a:solidFill>
                          <a:latin typeface="Segoe UI"/>
                        </a:rPr>
                        <a:t>wall-clock seconds to produce a decision (plan → optimize → simulate → risk)</a:t>
                      </a:r>
                    </a:p>
                  </a:txBody>
                  <a:tcPr marL="64008" marR="64008" marT="27432" marB="27432" anchor="ctr">
                    <a:solidFill>
                      <a:srgbClr val="11161D"/>
                    </a:solidFill>
                  </a:tcPr>
                </a:tc>
              </a:tr>
            </a:tbl>
          </a:graphicData>
        </a:graphic>
      </p:graphicFrame>
      <p:sp>
        <p:nvSpPr>
          <p:cNvPr id="8" name="Rounded Rectangle 7"/>
          <p:cNvSpPr/>
          <p:nvPr/>
        </p:nvSpPr>
        <p:spPr>
          <a:xfrm>
            <a:off x="7543800" y="1417320"/>
            <a:ext cx="4114800" cy="475488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71816" y="1508760"/>
            <a:ext cx="3858768" cy="274320"/>
          </a:xfrm>
          <a:prstGeom prst="rect">
            <a:avLst/>
          </a:prstGeom>
          <a:noFill/>
        </p:spPr>
        <p:txBody>
          <a:bodyPr wrap="square" anchor="t" lIns="36576" rIns="36576" tIns="36576" bIns="36576">
            <a:spAutoFit/>
          </a:bodyPr>
          <a:lstStyle/>
          <a:p>
            <a:pPr algn="l">
              <a:lnSpc>
                <a:spcPct val="110000"/>
              </a:lnSpc>
              <a:spcAft>
                <a:spcPts val="400"/>
              </a:spcAft>
            </a:pPr>
            <a:r>
              <a:rPr sz="950" b="1" i="0">
                <a:solidFill>
                  <a:srgbClr val="22D3EE"/>
                </a:solidFill>
                <a:latin typeface="Segoe UI"/>
              </a:rPr>
              <a:t>ACTION VOCABULARY (16 TYPES)</a:t>
            </a:r>
          </a:p>
        </p:txBody>
      </p:sp>
      <p:sp>
        <p:nvSpPr>
          <p:cNvPr id="10" name="TextBox 9"/>
          <p:cNvSpPr txBox="1"/>
          <p:nvPr/>
        </p:nvSpPr>
        <p:spPr>
          <a:xfrm>
            <a:off x="7726679" y="1810512"/>
            <a:ext cx="1965960" cy="457200"/>
          </a:xfrm>
          <a:prstGeom prst="rect">
            <a:avLst/>
          </a:prstGeom>
          <a:noFill/>
        </p:spPr>
        <p:txBody>
          <a:bodyPr wrap="square" anchor="t" lIns="36576" rIns="36576" tIns="36576" bIns="36576">
            <a:spAutoFit/>
          </a:bodyPr>
          <a:lstStyle/>
          <a:p>
            <a:pPr algn="l">
              <a:lnSpc>
                <a:spcPct val="110000"/>
              </a:lnSpc>
              <a:spcAft>
                <a:spcPts val="400"/>
              </a:spcAft>
            </a:pPr>
            <a:r>
              <a:rPr sz="900" b="0" i="0">
                <a:solidFill>
                  <a:srgbClr val="E6EDF3"/>
                </a:solidFill>
                <a:latin typeface="Consolas"/>
              </a:rPr>
              <a:t>REASSIGN_TASKS</a:t>
            </a:r>
          </a:p>
        </p:txBody>
      </p:sp>
      <p:sp>
        <p:nvSpPr>
          <p:cNvPr id="11" name="TextBox 10"/>
          <p:cNvSpPr txBox="1"/>
          <p:nvPr/>
        </p:nvSpPr>
        <p:spPr>
          <a:xfrm>
            <a:off x="9738359" y="1810512"/>
            <a:ext cx="1965960" cy="457200"/>
          </a:xfrm>
          <a:prstGeom prst="rect">
            <a:avLst/>
          </a:prstGeom>
          <a:noFill/>
        </p:spPr>
        <p:txBody>
          <a:bodyPr wrap="square" anchor="t" lIns="36576" rIns="36576" tIns="36576" bIns="36576">
            <a:spAutoFit/>
          </a:bodyPr>
          <a:lstStyle/>
          <a:p>
            <a:pPr algn="l">
              <a:lnSpc>
                <a:spcPct val="110000"/>
              </a:lnSpc>
              <a:spcAft>
                <a:spcPts val="400"/>
              </a:spcAft>
            </a:pPr>
            <a:r>
              <a:rPr sz="900" b="0" i="0">
                <a:solidFill>
                  <a:srgbClr val="E6EDF3"/>
                </a:solidFill>
                <a:latin typeface="Consolas"/>
              </a:rPr>
              <a:t>REPRIORITIZE_ORDERS</a:t>
            </a:r>
          </a:p>
        </p:txBody>
      </p:sp>
      <p:sp>
        <p:nvSpPr>
          <p:cNvPr id="12" name="TextBox 11"/>
          <p:cNvSpPr txBox="1"/>
          <p:nvPr/>
        </p:nvSpPr>
        <p:spPr>
          <a:xfrm>
            <a:off x="7726679" y="2313432"/>
            <a:ext cx="1965960" cy="457200"/>
          </a:xfrm>
          <a:prstGeom prst="rect">
            <a:avLst/>
          </a:prstGeom>
          <a:noFill/>
        </p:spPr>
        <p:txBody>
          <a:bodyPr wrap="square" anchor="t" lIns="36576" rIns="36576" tIns="36576" bIns="36576">
            <a:spAutoFit/>
          </a:bodyPr>
          <a:lstStyle/>
          <a:p>
            <a:pPr algn="l">
              <a:lnSpc>
                <a:spcPct val="110000"/>
              </a:lnSpc>
              <a:spcAft>
                <a:spcPts val="400"/>
              </a:spcAft>
            </a:pPr>
            <a:r>
              <a:rPr sz="900" b="0" i="0">
                <a:solidFill>
                  <a:srgbClr val="E6EDF3"/>
                </a:solidFill>
                <a:latin typeface="Consolas"/>
              </a:rPr>
              <a:t>SEND_TO_CHARGE</a:t>
            </a:r>
          </a:p>
        </p:txBody>
      </p:sp>
      <p:sp>
        <p:nvSpPr>
          <p:cNvPr id="13" name="TextBox 12"/>
          <p:cNvSpPr txBox="1"/>
          <p:nvPr/>
        </p:nvSpPr>
        <p:spPr>
          <a:xfrm>
            <a:off x="9738359" y="2313432"/>
            <a:ext cx="1965960" cy="457200"/>
          </a:xfrm>
          <a:prstGeom prst="rect">
            <a:avLst/>
          </a:prstGeom>
          <a:noFill/>
        </p:spPr>
        <p:txBody>
          <a:bodyPr wrap="square" anchor="t" lIns="36576" rIns="36576" tIns="36576" bIns="36576">
            <a:spAutoFit/>
          </a:bodyPr>
          <a:lstStyle/>
          <a:p>
            <a:pPr algn="l">
              <a:lnSpc>
                <a:spcPct val="110000"/>
              </a:lnSpc>
              <a:spcAft>
                <a:spcPts val="400"/>
              </a:spcAft>
            </a:pPr>
            <a:r>
              <a:rPr sz="900" b="0" i="0">
                <a:solidFill>
                  <a:srgbClr val="E6EDF3"/>
                </a:solidFill>
                <a:latin typeface="Consolas"/>
              </a:rPr>
              <a:t>REROUTE_AVOID_ZONE</a:t>
            </a:r>
          </a:p>
        </p:txBody>
      </p:sp>
      <p:sp>
        <p:nvSpPr>
          <p:cNvPr id="14" name="TextBox 13"/>
          <p:cNvSpPr txBox="1"/>
          <p:nvPr/>
        </p:nvSpPr>
        <p:spPr>
          <a:xfrm>
            <a:off x="7726679" y="2816352"/>
            <a:ext cx="1965960" cy="457200"/>
          </a:xfrm>
          <a:prstGeom prst="rect">
            <a:avLst/>
          </a:prstGeom>
          <a:noFill/>
        </p:spPr>
        <p:txBody>
          <a:bodyPr wrap="square" anchor="t" lIns="36576" rIns="36576" tIns="36576" bIns="36576">
            <a:spAutoFit/>
          </a:bodyPr>
          <a:lstStyle/>
          <a:p>
            <a:pPr algn="l">
              <a:lnSpc>
                <a:spcPct val="110000"/>
              </a:lnSpc>
              <a:spcAft>
                <a:spcPts val="400"/>
              </a:spcAft>
            </a:pPr>
            <a:r>
              <a:rPr sz="900" b="0" i="0">
                <a:solidFill>
                  <a:srgbClr val="E6EDF3"/>
                </a:solidFill>
                <a:latin typeface="Consolas"/>
              </a:rPr>
              <a:t>PREFER_CORRIDOR</a:t>
            </a:r>
          </a:p>
        </p:txBody>
      </p:sp>
      <p:sp>
        <p:nvSpPr>
          <p:cNvPr id="15" name="TextBox 14"/>
          <p:cNvSpPr txBox="1"/>
          <p:nvPr/>
        </p:nvSpPr>
        <p:spPr>
          <a:xfrm>
            <a:off x="9738359" y="2816352"/>
            <a:ext cx="1965960" cy="457200"/>
          </a:xfrm>
          <a:prstGeom prst="rect">
            <a:avLst/>
          </a:prstGeom>
          <a:noFill/>
        </p:spPr>
        <p:txBody>
          <a:bodyPr wrap="square" anchor="t" lIns="36576" rIns="36576" tIns="36576" bIns="36576">
            <a:spAutoFit/>
          </a:bodyPr>
          <a:lstStyle/>
          <a:p>
            <a:pPr algn="l">
              <a:lnSpc>
                <a:spcPct val="110000"/>
              </a:lnSpc>
              <a:spcAft>
                <a:spcPts val="400"/>
              </a:spcAft>
            </a:pPr>
            <a:r>
              <a:rPr sz="900" b="0" i="0">
                <a:solidFill>
                  <a:srgbClr val="E6EDF3"/>
                </a:solidFill>
                <a:latin typeface="Consolas"/>
              </a:rPr>
              <a:t>REPOSITION_INVENTORY</a:t>
            </a:r>
          </a:p>
        </p:txBody>
      </p:sp>
      <p:sp>
        <p:nvSpPr>
          <p:cNvPr id="16" name="TextBox 15"/>
          <p:cNvSpPr txBox="1"/>
          <p:nvPr/>
        </p:nvSpPr>
        <p:spPr>
          <a:xfrm>
            <a:off x="7726679" y="3319272"/>
            <a:ext cx="1965960" cy="457200"/>
          </a:xfrm>
          <a:prstGeom prst="rect">
            <a:avLst/>
          </a:prstGeom>
          <a:noFill/>
        </p:spPr>
        <p:txBody>
          <a:bodyPr wrap="square" anchor="t" lIns="36576" rIns="36576" tIns="36576" bIns="36576">
            <a:spAutoFit/>
          </a:bodyPr>
          <a:lstStyle/>
          <a:p>
            <a:pPr algn="l">
              <a:lnSpc>
                <a:spcPct val="110000"/>
              </a:lnSpc>
              <a:spcAft>
                <a:spcPts val="400"/>
              </a:spcAft>
            </a:pPr>
            <a:r>
              <a:rPr sz="900" b="0" i="0">
                <a:solidFill>
                  <a:srgbClr val="E6EDF3"/>
                </a:solidFill>
                <a:latin typeface="Consolas"/>
              </a:rPr>
              <a:t>SET_BATCHING</a:t>
            </a:r>
          </a:p>
        </p:txBody>
      </p:sp>
      <p:sp>
        <p:nvSpPr>
          <p:cNvPr id="17" name="TextBox 16"/>
          <p:cNvSpPr txBox="1"/>
          <p:nvPr/>
        </p:nvSpPr>
        <p:spPr>
          <a:xfrm>
            <a:off x="9738359" y="3319272"/>
            <a:ext cx="1965960" cy="457200"/>
          </a:xfrm>
          <a:prstGeom prst="rect">
            <a:avLst/>
          </a:prstGeom>
          <a:noFill/>
        </p:spPr>
        <p:txBody>
          <a:bodyPr wrap="square" anchor="t" lIns="36576" rIns="36576" tIns="36576" bIns="36576">
            <a:spAutoFit/>
          </a:bodyPr>
          <a:lstStyle/>
          <a:p>
            <a:pPr algn="l">
              <a:lnSpc>
                <a:spcPct val="110000"/>
              </a:lnSpc>
              <a:spcAft>
                <a:spcPts val="400"/>
              </a:spcAft>
            </a:pPr>
            <a:r>
              <a:rPr sz="900" b="0" i="0">
                <a:solidFill>
                  <a:srgbClr val="E6EDF3"/>
                </a:solidFill>
                <a:latin typeface="Consolas"/>
              </a:rPr>
              <a:t>SET_ZONE_CAPACITY</a:t>
            </a:r>
          </a:p>
        </p:txBody>
      </p:sp>
      <p:sp>
        <p:nvSpPr>
          <p:cNvPr id="18" name="TextBox 17"/>
          <p:cNvSpPr txBox="1"/>
          <p:nvPr/>
        </p:nvSpPr>
        <p:spPr>
          <a:xfrm>
            <a:off x="7726679" y="3822191"/>
            <a:ext cx="1965960" cy="457200"/>
          </a:xfrm>
          <a:prstGeom prst="rect">
            <a:avLst/>
          </a:prstGeom>
          <a:noFill/>
        </p:spPr>
        <p:txBody>
          <a:bodyPr wrap="square" anchor="t" lIns="36576" rIns="36576" tIns="36576" bIns="36576">
            <a:spAutoFit/>
          </a:bodyPr>
          <a:lstStyle/>
          <a:p>
            <a:pPr algn="l">
              <a:lnSpc>
                <a:spcPct val="110000"/>
              </a:lnSpc>
              <a:spcAft>
                <a:spcPts val="400"/>
              </a:spcAft>
            </a:pPr>
            <a:r>
              <a:rPr sz="900" b="0" i="0">
                <a:solidFill>
                  <a:srgbClr val="E6EDF3"/>
                </a:solidFill>
                <a:latin typeface="Consolas"/>
              </a:rPr>
              <a:t>CLOSE_ZONE</a:t>
            </a:r>
          </a:p>
        </p:txBody>
      </p:sp>
      <p:sp>
        <p:nvSpPr>
          <p:cNvPr id="19" name="TextBox 18"/>
          <p:cNvSpPr txBox="1"/>
          <p:nvPr/>
        </p:nvSpPr>
        <p:spPr>
          <a:xfrm>
            <a:off x="9738359" y="3822191"/>
            <a:ext cx="1965960" cy="457200"/>
          </a:xfrm>
          <a:prstGeom prst="rect">
            <a:avLst/>
          </a:prstGeom>
          <a:noFill/>
        </p:spPr>
        <p:txBody>
          <a:bodyPr wrap="square" anchor="t" lIns="36576" rIns="36576" tIns="36576" bIns="36576">
            <a:spAutoFit/>
          </a:bodyPr>
          <a:lstStyle/>
          <a:p>
            <a:pPr algn="l">
              <a:lnSpc>
                <a:spcPct val="110000"/>
              </a:lnSpc>
              <a:spcAft>
                <a:spcPts val="400"/>
              </a:spcAft>
            </a:pPr>
            <a:r>
              <a:rPr sz="900" b="0" i="0">
                <a:solidFill>
                  <a:srgbClr val="E6EDF3"/>
                </a:solidFill>
                <a:latin typeface="Consolas"/>
              </a:rPr>
              <a:t>OPEN_ZONE</a:t>
            </a:r>
          </a:p>
        </p:txBody>
      </p:sp>
      <p:sp>
        <p:nvSpPr>
          <p:cNvPr id="20" name="TextBox 19"/>
          <p:cNvSpPr txBox="1"/>
          <p:nvPr/>
        </p:nvSpPr>
        <p:spPr>
          <a:xfrm>
            <a:off x="7726679" y="4325112"/>
            <a:ext cx="1965960" cy="457200"/>
          </a:xfrm>
          <a:prstGeom prst="rect">
            <a:avLst/>
          </a:prstGeom>
          <a:noFill/>
        </p:spPr>
        <p:txBody>
          <a:bodyPr wrap="square" anchor="t" lIns="36576" rIns="36576" tIns="36576" bIns="36576">
            <a:spAutoFit/>
          </a:bodyPr>
          <a:lstStyle/>
          <a:p>
            <a:pPr algn="l">
              <a:lnSpc>
                <a:spcPct val="110000"/>
              </a:lnSpc>
              <a:spcAft>
                <a:spcPts val="400"/>
              </a:spcAft>
            </a:pPr>
            <a:r>
              <a:rPr sz="900" b="0" i="0">
                <a:solidFill>
                  <a:srgbClr val="E6EDF3"/>
                </a:solidFill>
                <a:latin typeface="Consolas"/>
              </a:rPr>
              <a:t>ADD_ROBOTS</a:t>
            </a:r>
          </a:p>
        </p:txBody>
      </p:sp>
      <p:sp>
        <p:nvSpPr>
          <p:cNvPr id="21" name="TextBox 20"/>
          <p:cNvSpPr txBox="1"/>
          <p:nvPr/>
        </p:nvSpPr>
        <p:spPr>
          <a:xfrm>
            <a:off x="9738359" y="4325112"/>
            <a:ext cx="1965960" cy="457200"/>
          </a:xfrm>
          <a:prstGeom prst="rect">
            <a:avLst/>
          </a:prstGeom>
          <a:noFill/>
        </p:spPr>
        <p:txBody>
          <a:bodyPr wrap="square" anchor="t" lIns="36576" rIns="36576" tIns="36576" bIns="36576">
            <a:spAutoFit/>
          </a:bodyPr>
          <a:lstStyle/>
          <a:p>
            <a:pPr algn="l">
              <a:lnSpc>
                <a:spcPct val="110000"/>
              </a:lnSpc>
              <a:spcAft>
                <a:spcPts val="400"/>
              </a:spcAft>
            </a:pPr>
            <a:r>
              <a:rPr sz="900" b="0" i="0">
                <a:solidFill>
                  <a:srgbClr val="E6EDF3"/>
                </a:solidFill>
                <a:latin typeface="Consolas"/>
              </a:rPr>
              <a:t>REMOVE_ROBOTS</a:t>
            </a:r>
          </a:p>
        </p:txBody>
      </p:sp>
      <p:sp>
        <p:nvSpPr>
          <p:cNvPr id="22" name="TextBox 21"/>
          <p:cNvSpPr txBox="1"/>
          <p:nvPr/>
        </p:nvSpPr>
        <p:spPr>
          <a:xfrm>
            <a:off x="7726679" y="4828032"/>
            <a:ext cx="1965960" cy="457200"/>
          </a:xfrm>
          <a:prstGeom prst="rect">
            <a:avLst/>
          </a:prstGeom>
          <a:noFill/>
        </p:spPr>
        <p:txBody>
          <a:bodyPr wrap="square" anchor="t" lIns="36576" rIns="36576" tIns="36576" bIns="36576">
            <a:spAutoFit/>
          </a:bodyPr>
          <a:lstStyle/>
          <a:p>
            <a:pPr algn="l">
              <a:lnSpc>
                <a:spcPct val="110000"/>
              </a:lnSpc>
              <a:spcAft>
                <a:spcPts val="400"/>
              </a:spcAft>
            </a:pPr>
            <a:r>
              <a:rPr sz="900" b="0" i="0">
                <a:solidFill>
                  <a:srgbClr val="E6EDF3"/>
                </a:solidFill>
                <a:latin typeface="Consolas"/>
              </a:rPr>
              <a:t>DISPATCH_WORKER</a:t>
            </a:r>
          </a:p>
        </p:txBody>
      </p:sp>
      <p:sp>
        <p:nvSpPr>
          <p:cNvPr id="23" name="TextBox 22"/>
          <p:cNvSpPr txBox="1"/>
          <p:nvPr/>
        </p:nvSpPr>
        <p:spPr>
          <a:xfrm>
            <a:off x="9738359" y="4828032"/>
            <a:ext cx="1965960" cy="457200"/>
          </a:xfrm>
          <a:prstGeom prst="rect">
            <a:avLst/>
          </a:prstGeom>
          <a:noFill/>
        </p:spPr>
        <p:txBody>
          <a:bodyPr wrap="square" anchor="t" lIns="36576" rIns="36576" tIns="36576" bIns="36576">
            <a:spAutoFit/>
          </a:bodyPr>
          <a:lstStyle/>
          <a:p>
            <a:pPr algn="l">
              <a:lnSpc>
                <a:spcPct val="110000"/>
              </a:lnSpc>
              <a:spcAft>
                <a:spcPts val="400"/>
              </a:spcAft>
            </a:pPr>
            <a:r>
              <a:rPr sz="900" b="0" i="0">
                <a:solidFill>
                  <a:srgbClr val="E6EDF3"/>
                </a:solidFill>
                <a:latin typeface="Consolas"/>
              </a:rPr>
              <a:t>CANCEL_TASKS</a:t>
            </a:r>
          </a:p>
        </p:txBody>
      </p:sp>
      <p:sp>
        <p:nvSpPr>
          <p:cNvPr id="24" name="TextBox 23"/>
          <p:cNvSpPr txBox="1"/>
          <p:nvPr/>
        </p:nvSpPr>
        <p:spPr>
          <a:xfrm>
            <a:off x="7726679" y="5330952"/>
            <a:ext cx="1965960" cy="457200"/>
          </a:xfrm>
          <a:prstGeom prst="rect">
            <a:avLst/>
          </a:prstGeom>
          <a:noFill/>
        </p:spPr>
        <p:txBody>
          <a:bodyPr wrap="square" anchor="t" lIns="36576" rIns="36576" tIns="36576" bIns="36576">
            <a:spAutoFit/>
          </a:bodyPr>
          <a:lstStyle/>
          <a:p>
            <a:pPr algn="l">
              <a:lnSpc>
                <a:spcPct val="110000"/>
              </a:lnSpc>
              <a:spcAft>
                <a:spcPts val="400"/>
              </a:spcAft>
            </a:pPr>
            <a:r>
              <a:rPr sz="900" b="0" i="0">
                <a:solidFill>
                  <a:srgbClr val="E6EDF3"/>
                </a:solidFill>
                <a:latin typeface="Consolas"/>
              </a:rPr>
              <a:t>SET_STRATEGY</a:t>
            </a:r>
          </a:p>
        </p:txBody>
      </p:sp>
      <p:sp>
        <p:nvSpPr>
          <p:cNvPr id="25" name="TextBox 24"/>
          <p:cNvSpPr txBox="1"/>
          <p:nvPr/>
        </p:nvSpPr>
        <p:spPr>
          <a:xfrm>
            <a:off x="9738359" y="5330952"/>
            <a:ext cx="1965960" cy="457200"/>
          </a:xfrm>
          <a:prstGeom prst="rect">
            <a:avLst/>
          </a:prstGeom>
          <a:noFill/>
        </p:spPr>
        <p:txBody>
          <a:bodyPr wrap="square" anchor="t" lIns="36576" rIns="36576" tIns="36576" bIns="36576">
            <a:spAutoFit/>
          </a:bodyPr>
          <a:lstStyle/>
          <a:p>
            <a:pPr algn="l">
              <a:lnSpc>
                <a:spcPct val="110000"/>
              </a:lnSpc>
              <a:spcAft>
                <a:spcPts val="400"/>
              </a:spcAft>
            </a:pPr>
            <a:r>
              <a:rPr sz="900" b="0" i="0">
                <a:solidFill>
                  <a:srgbClr val="E6EDF3"/>
                </a:solidFill>
                <a:latin typeface="Consolas"/>
              </a:rPr>
              <a:t>NOOP</a:t>
            </a:r>
          </a:p>
        </p:txBody>
      </p:sp>
      <p:sp>
        <p:nvSpPr>
          <p:cNvPr id="26" name="TextBox 25"/>
          <p:cNvSpPr txBox="1"/>
          <p:nvPr/>
        </p:nvSpPr>
        <p:spPr>
          <a:xfrm>
            <a:off x="548640" y="5120640"/>
            <a:ext cx="6766560" cy="1051560"/>
          </a:xfrm>
          <a:prstGeom prst="rect">
            <a:avLst/>
          </a:prstGeom>
          <a:noFill/>
        </p:spPr>
        <p:txBody>
          <a:bodyPr wrap="square" anchor="t" lIns="36576" rIns="36576" tIns="36576" bIns="36576">
            <a:spAutoFit/>
          </a:bodyPr>
          <a:lstStyle/>
          <a:p>
            <a:pPr algn="l">
              <a:lnSpc>
                <a:spcPct val="120000"/>
              </a:lnSpc>
              <a:spcAft>
                <a:spcPts val="400"/>
              </a:spcAft>
            </a:pPr>
            <a:r>
              <a:rPr sz="950" b="0" i="0">
                <a:solidFill>
                  <a:srgbClr val="8B98A5"/>
                </a:solidFill>
                <a:latin typeface="Segoe UI"/>
              </a:rPr>
              <a:t>SLA targets in the calibrated world: LOW 20 min · NORMAL 10 · HIGH 5 · CRITICAL 3. Pick 6 s per line, unload 4 s (×2 without a loader), battery 0.02 %/cell, charge 0.15 %/s, low-battery threshold 20 %. All constants live in SimConfig and are part of the world (forks carry them).</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0D12"/>
        </a:solidFill>
        <a:effectLst/>
      </p:bgPr>
    </p:bg>
    <p:spTree>
      <p:nvGrpSpPr>
        <p:cNvPr id="1" name=""/>
        <p:cNvGrpSpPr/>
        <p:nvPr/>
      </p:nvGrpSpPr>
      <p:grpSpPr/>
      <p:sp>
        <p:nvSpPr>
          <p:cNvPr id="2" name="TextBox 1"/>
          <p:cNvSpPr txBox="1"/>
          <p:nvPr/>
        </p:nvSpPr>
        <p:spPr>
          <a:xfrm>
            <a:off x="548640" y="256032"/>
            <a:ext cx="8229600" cy="274320"/>
          </a:xfrm>
          <a:prstGeom prst="rect">
            <a:avLst/>
          </a:prstGeom>
          <a:noFill/>
        </p:spPr>
        <p:txBody>
          <a:bodyPr wrap="square" anchor="t" lIns="36576" rIns="36576" tIns="36576" bIns="36576">
            <a:spAutoFit/>
          </a:bodyPr>
          <a:lstStyle/>
          <a:p>
            <a:pPr algn="l">
              <a:lnSpc>
                <a:spcPct val="110000"/>
              </a:lnSpc>
              <a:spcAft>
                <a:spcPts val="400"/>
              </a:spcAft>
            </a:pPr>
            <a:r>
              <a:rPr sz="1050" b="1" i="0">
                <a:solidFill>
                  <a:srgbClr val="22D3EE"/>
                </a:solidFill>
                <a:latin typeface="Segoe UI"/>
              </a:rPr>
              <a:t>APPENDIX B</a:t>
            </a:r>
          </a:p>
        </p:txBody>
      </p:sp>
      <p:sp>
        <p:nvSpPr>
          <p:cNvPr id="3" name="TextBox 2"/>
          <p:cNvSpPr txBox="1"/>
          <p:nvPr/>
        </p:nvSpPr>
        <p:spPr>
          <a:xfrm>
            <a:off x="548640" y="502920"/>
            <a:ext cx="10607040" cy="731520"/>
          </a:xfrm>
          <a:prstGeom prst="rect">
            <a:avLst/>
          </a:prstGeom>
          <a:noFill/>
        </p:spPr>
        <p:txBody>
          <a:bodyPr wrap="square" anchor="ctr" lIns="36576" rIns="36576" tIns="36576" bIns="36576">
            <a:spAutoFit/>
          </a:bodyPr>
          <a:lstStyle/>
          <a:p>
            <a:pPr algn="l">
              <a:lnSpc>
                <a:spcPct val="110000"/>
              </a:lnSpc>
              <a:spcAft>
                <a:spcPts val="400"/>
              </a:spcAft>
            </a:pPr>
            <a:r>
              <a:rPr sz="2800" b="1" i="0">
                <a:solidFill>
                  <a:srgbClr val="E6EDF3"/>
                </a:solidFill>
                <a:latin typeface="Segoe UI"/>
              </a:rPr>
              <a:t>API surface and live stream</a:t>
            </a:r>
          </a:p>
        </p:txBody>
      </p:sp>
      <p:sp>
        <p:nvSpPr>
          <p:cNvPr id="4" name="Rectangle 3"/>
          <p:cNvSpPr/>
          <p:nvPr/>
        </p:nvSpPr>
        <p:spPr>
          <a:xfrm>
            <a:off x="566928" y="1216152"/>
            <a:ext cx="1005840" cy="4114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6400800" cy="274320"/>
          </a:xfrm>
          <a:prstGeom prst="rect">
            <a:avLst/>
          </a:prstGeom>
          <a:noFill/>
        </p:spPr>
        <p:txBody>
          <a:bodyPr wrap="square" anchor="t" lIns="36576" rIns="36576" tIns="36576" bIns="36576">
            <a:spAutoFit/>
          </a:bodyPr>
          <a:lstStyle/>
          <a:p>
            <a:pPr algn="l">
              <a:lnSpc>
                <a:spcPct val="110000"/>
              </a:lnSpc>
              <a:spcAft>
                <a:spcPts val="400"/>
              </a:spcAft>
            </a:pPr>
            <a:r>
              <a:rPr sz="950" b="0" i="0">
                <a:solidFill>
                  <a:srgbClr val="8B98A5"/>
                </a:solidFill>
                <a:latin typeface="Segoe UI"/>
              </a:rPr>
              <a:t>NEXUS · Autonomous Operations Intelligence</a:t>
            </a:r>
          </a:p>
        </p:txBody>
      </p:sp>
      <p:sp>
        <p:nvSpPr>
          <p:cNvPr id="6" name="TextBox 5"/>
          <p:cNvSpPr txBox="1"/>
          <p:nvPr/>
        </p:nvSpPr>
        <p:spPr>
          <a:xfrm>
            <a:off x="10607040" y="6446520"/>
            <a:ext cx="1051560" cy="274320"/>
          </a:xfrm>
          <a:prstGeom prst="rect">
            <a:avLst/>
          </a:prstGeom>
          <a:noFill/>
        </p:spPr>
        <p:txBody>
          <a:bodyPr wrap="square" anchor="t" lIns="36576" rIns="36576" tIns="36576" bIns="36576">
            <a:spAutoFit/>
          </a:bodyPr>
          <a:lstStyle/>
          <a:p>
            <a:pPr algn="r">
              <a:lnSpc>
                <a:spcPct val="110000"/>
              </a:lnSpc>
              <a:spcAft>
                <a:spcPts val="400"/>
              </a:spcAft>
            </a:pPr>
            <a:r>
              <a:rPr sz="950" b="0" i="0">
                <a:solidFill>
                  <a:srgbClr val="8B98A5"/>
                </a:solidFill>
                <a:latin typeface="Consolas"/>
              </a:rPr>
              <a:t>33</a:t>
            </a:r>
          </a:p>
        </p:txBody>
      </p:sp>
      <p:sp>
        <p:nvSpPr>
          <p:cNvPr id="7" name="Rounded Rectangle 6"/>
          <p:cNvSpPr/>
          <p:nvPr/>
        </p:nvSpPr>
        <p:spPr>
          <a:xfrm>
            <a:off x="548640" y="1417320"/>
            <a:ext cx="6949440" cy="146304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6656" y="1508760"/>
            <a:ext cx="6693407" cy="274320"/>
          </a:xfrm>
          <a:prstGeom prst="rect">
            <a:avLst/>
          </a:prstGeom>
          <a:noFill/>
        </p:spPr>
        <p:txBody>
          <a:bodyPr wrap="square" anchor="t" lIns="36576" rIns="36576" tIns="36576" bIns="36576">
            <a:spAutoFit/>
          </a:bodyPr>
          <a:lstStyle/>
          <a:p>
            <a:pPr algn="l">
              <a:lnSpc>
                <a:spcPct val="110000"/>
              </a:lnSpc>
              <a:spcAft>
                <a:spcPts val="400"/>
              </a:spcAft>
            </a:pPr>
            <a:r>
              <a:rPr sz="950" b="1" i="0">
                <a:solidFill>
                  <a:srgbClr val="22D3EE"/>
                </a:solidFill>
                <a:latin typeface="Segoe UI"/>
              </a:rPr>
              <a:t>TWIN &amp; CONTROL</a:t>
            </a:r>
          </a:p>
        </p:txBody>
      </p:sp>
      <p:sp>
        <p:nvSpPr>
          <p:cNvPr id="9" name="TextBox 8"/>
          <p:cNvSpPr txBox="1"/>
          <p:nvPr/>
        </p:nvSpPr>
        <p:spPr>
          <a:xfrm>
            <a:off x="731520" y="1801368"/>
            <a:ext cx="6583680" cy="1051560"/>
          </a:xfrm>
          <a:prstGeom prst="rect">
            <a:avLst/>
          </a:prstGeom>
          <a:noFill/>
        </p:spPr>
        <p:txBody>
          <a:bodyPr wrap="square" anchor="t" lIns="36576" rIns="36576" tIns="36576" bIns="36576">
            <a:spAutoFit/>
          </a:bodyPr>
          <a:lstStyle/>
          <a:p>
            <a:pPr algn="l">
              <a:lnSpc>
                <a:spcPct val="120000"/>
              </a:lnSpc>
              <a:spcAft>
                <a:spcPts val="200"/>
              </a:spcAft>
            </a:pPr>
            <a:r>
              <a:rPr sz="900" b="0" i="0">
                <a:solidFill>
                  <a:srgbClr val="E6EDF3"/>
                </a:solidFill>
                <a:latin typeface="Consolas"/>
              </a:rPr>
              <a:t>GET /api/health · /api/status</a:t>
            </a:r>
          </a:p>
          <a:p>
            <a:pPr algn="l">
              <a:lnSpc>
                <a:spcPct val="120000"/>
              </a:lnSpc>
              <a:spcAft>
                <a:spcPts val="200"/>
              </a:spcAft>
            </a:pPr>
            <a:r>
              <a:rPr sz="900" b="0" i="0">
                <a:solidFill>
                  <a:srgbClr val="E6EDF3"/>
                </a:solidFill>
                <a:latin typeface="Consolas"/>
              </a:rPr>
              <a:t>POST /api/sim/control (start · pause · step · reset · speed · autopilot)</a:t>
            </a:r>
          </a:p>
          <a:p>
            <a:pPr algn="l">
              <a:lnSpc>
                <a:spcPct val="120000"/>
              </a:lnSpc>
              <a:spcAft>
                <a:spcPts val="200"/>
              </a:spcAft>
            </a:pPr>
            <a:r>
              <a:rPr sz="900" b="0" i="0">
                <a:solidFill>
                  <a:srgbClr val="E6EDF3"/>
                </a:solidFill>
                <a:latin typeface="Consolas"/>
              </a:rPr>
              <a:t>GET /api/world · /world/robots · /world/orders · /world/entity/{id} · /world/relations/{id}</a:t>
            </a:r>
          </a:p>
          <a:p>
            <a:pPr algn="l">
              <a:lnSpc>
                <a:spcPct val="120000"/>
              </a:lnSpc>
              <a:spcAft>
                <a:spcPts val="200"/>
              </a:spcAft>
            </a:pPr>
            <a:r>
              <a:rPr sz="900" b="0" i="0">
                <a:solidFill>
                  <a:srgbClr val="E6EDF3"/>
                </a:solidFill>
                <a:latin typeface="Consolas"/>
              </a:rPr>
              <a:t>GET /api/kpis · /api/spatial · /api/timeline · /api/snapshots/{tick}</a:t>
            </a:r>
          </a:p>
        </p:txBody>
      </p:sp>
      <p:sp>
        <p:nvSpPr>
          <p:cNvPr id="10" name="Rounded Rectangle 9"/>
          <p:cNvSpPr/>
          <p:nvPr/>
        </p:nvSpPr>
        <p:spPr>
          <a:xfrm>
            <a:off x="548640" y="3017520"/>
            <a:ext cx="6949440" cy="146304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08960"/>
            <a:ext cx="6693407" cy="274320"/>
          </a:xfrm>
          <a:prstGeom prst="rect">
            <a:avLst/>
          </a:prstGeom>
          <a:noFill/>
        </p:spPr>
        <p:txBody>
          <a:bodyPr wrap="square" anchor="t" lIns="36576" rIns="36576" tIns="36576" bIns="36576">
            <a:spAutoFit/>
          </a:bodyPr>
          <a:lstStyle/>
          <a:p>
            <a:pPr algn="l">
              <a:lnSpc>
                <a:spcPct val="110000"/>
              </a:lnSpc>
              <a:spcAft>
                <a:spcPts val="400"/>
              </a:spcAft>
            </a:pPr>
            <a:r>
              <a:rPr sz="950" b="1" i="0">
                <a:solidFill>
                  <a:srgbClr val="22D3EE"/>
                </a:solidFill>
                <a:latin typeface="Segoe UI"/>
              </a:rPr>
              <a:t>EVENTS &amp; FAULTS</a:t>
            </a:r>
          </a:p>
        </p:txBody>
      </p:sp>
      <p:sp>
        <p:nvSpPr>
          <p:cNvPr id="12" name="TextBox 11"/>
          <p:cNvSpPr txBox="1"/>
          <p:nvPr/>
        </p:nvSpPr>
        <p:spPr>
          <a:xfrm>
            <a:off x="731520" y="3401568"/>
            <a:ext cx="6583680" cy="1051560"/>
          </a:xfrm>
          <a:prstGeom prst="rect">
            <a:avLst/>
          </a:prstGeom>
          <a:noFill/>
        </p:spPr>
        <p:txBody>
          <a:bodyPr wrap="square" anchor="t" lIns="36576" rIns="36576" tIns="36576" bIns="36576">
            <a:spAutoFit/>
          </a:bodyPr>
          <a:lstStyle/>
          <a:p>
            <a:pPr algn="l">
              <a:lnSpc>
                <a:spcPct val="120000"/>
              </a:lnSpc>
              <a:spcAft>
                <a:spcPts val="200"/>
              </a:spcAft>
            </a:pPr>
            <a:r>
              <a:rPr sz="900" b="0" i="0">
                <a:solidFill>
                  <a:srgbClr val="E6EDF3"/>
                </a:solidFill>
                <a:latin typeface="Consolas"/>
              </a:rPr>
              <a:t>GET /api/events?since_seq · /api/events/recent</a:t>
            </a:r>
          </a:p>
          <a:p>
            <a:pPr algn="l">
              <a:lnSpc>
                <a:spcPct val="120000"/>
              </a:lnSpc>
              <a:spcAft>
                <a:spcPts val="200"/>
              </a:spcAft>
            </a:pPr>
            <a:r>
              <a:rPr sz="900" b="0" i="0">
                <a:solidFill>
                  <a:srgbClr val="E6EDF3"/>
                </a:solidFill>
                <a:latin typeface="Consolas"/>
              </a:rPr>
              <a:t>POST /api/events/inject (idempotent by key)</a:t>
            </a:r>
          </a:p>
          <a:p>
            <a:pPr algn="l">
              <a:lnSpc>
                <a:spcPct val="120000"/>
              </a:lnSpc>
              <a:spcAft>
                <a:spcPts val="200"/>
              </a:spcAft>
            </a:pPr>
            <a:r>
              <a:rPr sz="900" b="0" i="0">
                <a:solidFill>
                  <a:srgbClr val="E6EDF3"/>
                </a:solidFill>
                <a:latin typeface="Consolas"/>
              </a:rPr>
              <a:t>GET /api/faults/presets · POST /api/faults/{preset}</a:t>
            </a:r>
          </a:p>
        </p:txBody>
      </p:sp>
      <p:sp>
        <p:nvSpPr>
          <p:cNvPr id="13" name="Rounded Rectangle 12"/>
          <p:cNvSpPr/>
          <p:nvPr/>
        </p:nvSpPr>
        <p:spPr>
          <a:xfrm>
            <a:off x="548640" y="4617720"/>
            <a:ext cx="6949440" cy="146304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6656" y="4709159"/>
            <a:ext cx="6693407" cy="274320"/>
          </a:xfrm>
          <a:prstGeom prst="rect">
            <a:avLst/>
          </a:prstGeom>
          <a:noFill/>
        </p:spPr>
        <p:txBody>
          <a:bodyPr wrap="square" anchor="t" lIns="36576" rIns="36576" tIns="36576" bIns="36576">
            <a:spAutoFit/>
          </a:bodyPr>
          <a:lstStyle/>
          <a:p>
            <a:pPr algn="l">
              <a:lnSpc>
                <a:spcPct val="110000"/>
              </a:lnSpc>
              <a:spcAft>
                <a:spcPts val="400"/>
              </a:spcAft>
            </a:pPr>
            <a:r>
              <a:rPr sz="950" b="1" i="0">
                <a:solidFill>
                  <a:srgbClr val="22D3EE"/>
                </a:solidFill>
                <a:latin typeface="Segoe UI"/>
              </a:rPr>
              <a:t>INTELLIGENCE</a:t>
            </a:r>
          </a:p>
        </p:txBody>
      </p:sp>
      <p:sp>
        <p:nvSpPr>
          <p:cNvPr id="15" name="TextBox 14"/>
          <p:cNvSpPr txBox="1"/>
          <p:nvPr/>
        </p:nvSpPr>
        <p:spPr>
          <a:xfrm>
            <a:off x="731520" y="5001768"/>
            <a:ext cx="6583680" cy="1051560"/>
          </a:xfrm>
          <a:prstGeom prst="rect">
            <a:avLst/>
          </a:prstGeom>
          <a:noFill/>
        </p:spPr>
        <p:txBody>
          <a:bodyPr wrap="square" anchor="t" lIns="36576" rIns="36576" tIns="36576" bIns="36576">
            <a:spAutoFit/>
          </a:bodyPr>
          <a:lstStyle/>
          <a:p>
            <a:pPr algn="l">
              <a:lnSpc>
                <a:spcPct val="120000"/>
              </a:lnSpc>
              <a:spcAft>
                <a:spcPts val="200"/>
              </a:spcAft>
            </a:pPr>
            <a:r>
              <a:rPr sz="900" b="0" i="0">
                <a:solidFill>
                  <a:srgbClr val="E6EDF3"/>
                </a:solidFill>
                <a:latin typeface="Consolas"/>
              </a:rPr>
              <a:t>GET /api/forecast?horizon_min</a:t>
            </a:r>
          </a:p>
          <a:p>
            <a:pPr algn="l">
              <a:lnSpc>
                <a:spcPct val="120000"/>
              </a:lnSpc>
              <a:spcAft>
                <a:spcPts val="200"/>
              </a:spcAft>
            </a:pPr>
            <a:r>
              <a:rPr sz="900" b="0" i="0">
                <a:solidFill>
                  <a:srgbClr val="E6EDF3"/>
                </a:solidFill>
                <a:latin typeface="Consolas"/>
              </a:rPr>
              <a:t>POST /api/decisions · GET /api/decisions[/{id}] · POST /api/decisions/{id}/actions (approve · reject · execute)</a:t>
            </a:r>
          </a:p>
          <a:p>
            <a:pPr algn="l">
              <a:lnSpc>
                <a:spcPct val="120000"/>
              </a:lnSpc>
              <a:spcAft>
                <a:spcPts val="200"/>
              </a:spcAft>
            </a:pPr>
            <a:r>
              <a:rPr sz="900" b="0" i="0">
                <a:solidFill>
                  <a:srgbClr val="E6EDF3"/>
                </a:solidFill>
                <a:latin typeface="Consolas"/>
              </a:rPr>
              <a:t>POST /api/whatif (async) · /api/whatif/run (sync) · GET /api/whatif[/{id}] · /api/whatif/presets</a:t>
            </a:r>
          </a:p>
          <a:p>
            <a:pPr algn="l">
              <a:lnSpc>
                <a:spcPct val="120000"/>
              </a:lnSpc>
              <a:spcAft>
                <a:spcPts val="200"/>
              </a:spcAft>
            </a:pPr>
            <a:r>
              <a:rPr sz="900" b="0" i="0">
                <a:solidFill>
                  <a:srgbClr val="E6EDF3"/>
                </a:solidFill>
                <a:latin typeface="Consolas"/>
              </a:rPr>
              <a:t>POST /api/nlq · GET /api/strategies · GET /api/benchmarks · GET /metrics</a:t>
            </a:r>
          </a:p>
        </p:txBody>
      </p:sp>
      <p:sp>
        <p:nvSpPr>
          <p:cNvPr id="16" name="Rounded Rectangle 15"/>
          <p:cNvSpPr/>
          <p:nvPr/>
        </p:nvSpPr>
        <p:spPr>
          <a:xfrm>
            <a:off x="7726679" y="1417320"/>
            <a:ext cx="3931920" cy="4663440"/>
          </a:xfrm>
          <a:prstGeom prst="roundRect">
            <a:avLst>
              <a:gd name="adj" fmla="val 5000"/>
            </a:avLst>
          </a:prstGeom>
          <a:solidFill>
            <a:srgbClr val="11161D"/>
          </a:solidFill>
          <a:ln w="9525">
            <a:solidFill>
              <a:srgbClr val="1F2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54696" y="1508760"/>
            <a:ext cx="3675887" cy="274320"/>
          </a:xfrm>
          <a:prstGeom prst="rect">
            <a:avLst/>
          </a:prstGeom>
          <a:noFill/>
        </p:spPr>
        <p:txBody>
          <a:bodyPr wrap="square" anchor="t" lIns="36576" rIns="36576" tIns="36576" bIns="36576">
            <a:spAutoFit/>
          </a:bodyPr>
          <a:lstStyle/>
          <a:p>
            <a:pPr algn="l">
              <a:lnSpc>
                <a:spcPct val="110000"/>
              </a:lnSpc>
              <a:spcAft>
                <a:spcPts val="400"/>
              </a:spcAft>
            </a:pPr>
            <a:r>
              <a:rPr sz="950" b="1" i="0">
                <a:solidFill>
                  <a:srgbClr val="22D3EE"/>
                </a:solidFill>
                <a:latin typeface="Segoe UI"/>
              </a:rPr>
              <a:t>WEBSOCKET /WS/LIVE</a:t>
            </a:r>
          </a:p>
        </p:txBody>
      </p:sp>
      <p:sp>
        <p:nvSpPr>
          <p:cNvPr id="18" name="TextBox 17"/>
          <p:cNvSpPr txBox="1"/>
          <p:nvPr/>
        </p:nvSpPr>
        <p:spPr>
          <a:xfrm>
            <a:off x="7909560" y="1810512"/>
            <a:ext cx="3611880" cy="4206240"/>
          </a:xfrm>
          <a:prstGeom prst="rect">
            <a:avLst/>
          </a:prstGeom>
          <a:noFill/>
        </p:spPr>
        <p:txBody>
          <a:bodyPr wrap="square" anchor="t" lIns="36576" rIns="36576" tIns="36576" bIns="36576">
            <a:spAutoFit/>
          </a:bodyPr>
          <a:lstStyle/>
          <a:p>
            <a:pPr algn="l">
              <a:lnSpc>
                <a:spcPct val="125000"/>
              </a:lnSpc>
              <a:spcAft>
                <a:spcPts val="200"/>
              </a:spcAft>
            </a:pPr>
            <a:r>
              <a:rPr sz="900" b="0" i="0">
                <a:solidFill>
                  <a:srgbClr val="E6EDF3"/>
                </a:solidFill>
                <a:latin typeface="Consolas"/>
              </a:rPr>
              <a:t>server → client</a:t>
            </a:r>
          </a:p>
          <a:p>
            <a:pPr algn="l">
              <a:lnSpc>
                <a:spcPct val="125000"/>
              </a:lnSpc>
              <a:spcAft>
                <a:spcPts val="200"/>
              </a:spcAft>
            </a:pPr>
            <a:r>
              <a:rPr sz="900" b="0" i="0">
                <a:solidFill>
                  <a:srgbClr val="E6EDF3"/>
                </a:solidFill>
                <a:latin typeface="Consolas"/>
              </a:rPr>
              <a:t>  hello   world + KPIs + status</a:t>
            </a:r>
          </a:p>
          <a:p>
            <a:pPr algn="l">
              <a:lnSpc>
                <a:spcPct val="125000"/>
              </a:lnSpc>
              <a:spcAft>
                <a:spcPts val="200"/>
              </a:spcAft>
            </a:pPr>
            <a:r>
              <a:rPr sz="900" b="0" i="0">
                <a:solidFill>
                  <a:srgbClr val="E6EDF3"/>
                </a:solidFill>
                <a:latin typeface="Consolas"/>
              </a:rPr>
              <a:t>  tick    robots, KPIs, zones, docks, chargers (≤ 20 / s)</a:t>
            </a:r>
          </a:p>
          <a:p>
            <a:pPr algn="l">
              <a:lnSpc>
                <a:spcPct val="125000"/>
              </a:lnSpc>
              <a:spcAft>
                <a:spcPts val="200"/>
              </a:spcAft>
            </a:pPr>
            <a:r>
              <a:rPr sz="900" b="0" i="0">
                <a:solidFill>
                  <a:srgbClr val="E6EDF3"/>
                </a:solidFill>
                <a:latin typeface="Consolas"/>
              </a:rPr>
              <a:t>  event   notable + order / task events</a:t>
            </a:r>
          </a:p>
          <a:p>
            <a:pPr algn="l">
              <a:lnSpc>
                <a:spcPct val="125000"/>
              </a:lnSpc>
              <a:spcAft>
                <a:spcPts val="200"/>
              </a:spcAft>
            </a:pPr>
            <a:r>
              <a:rPr sz="900" b="0" i="0">
                <a:solidFill>
                  <a:srgbClr val="E6EDF3"/>
                </a:solidFill>
                <a:latin typeface="Consolas"/>
              </a:rPr>
              <a:t>  decision · forecast · whatif · status</a:t>
            </a:r>
          </a:p>
          <a:p>
            <a:pPr algn="l">
              <a:lnSpc>
                <a:spcPct val="125000"/>
              </a:lnSpc>
              <a:spcAft>
                <a:spcPts val="200"/>
              </a:spcAft>
            </a:pPr>
            <a:r>
              <a:rPr sz="900" b="0" i="0">
                <a:solidFill>
                  <a:srgbClr val="E6EDF3"/>
                </a:solidFill>
                <a:latin typeface="Consolas"/>
              </a:rPr>
              <a:t/>
            </a:r>
          </a:p>
          <a:p>
            <a:pPr algn="l">
              <a:lnSpc>
                <a:spcPct val="125000"/>
              </a:lnSpc>
              <a:spcAft>
                <a:spcPts val="200"/>
              </a:spcAft>
            </a:pPr>
            <a:r>
              <a:rPr sz="900" b="0" i="0">
                <a:solidFill>
                  <a:srgbClr val="E6EDF3"/>
                </a:solidFill>
                <a:latin typeface="Consolas"/>
              </a:rPr>
              <a:t>client → server</a:t>
            </a:r>
          </a:p>
          <a:p>
            <a:pPr algn="l">
              <a:lnSpc>
                <a:spcPct val="125000"/>
              </a:lnSpc>
              <a:spcAft>
                <a:spcPts val="200"/>
              </a:spcAft>
            </a:pPr>
            <a:r>
              <a:rPr sz="900" b="0" i="0">
                <a:solidFill>
                  <a:srgbClr val="E6EDF3"/>
                </a:solidFill>
                <a:latin typeface="Consolas"/>
              </a:rPr>
              <a:t>  control {action, ticks_per_second, autopilot}</a:t>
            </a:r>
          </a:p>
          <a:p>
            <a:pPr algn="l">
              <a:lnSpc>
                <a:spcPct val="125000"/>
              </a:lnSpc>
              <a:spcAft>
                <a:spcPts val="200"/>
              </a:spcAft>
            </a:pPr>
            <a:r>
              <a:rPr sz="900" b="0" i="0">
                <a:solidFill>
                  <a:srgbClr val="E6EDF3"/>
                </a:solidFill>
                <a:latin typeface="Consolas"/>
              </a:rPr>
              <a:t>  subscribe {tick_every}</a:t>
            </a:r>
          </a:p>
          <a:p>
            <a:pPr algn="l">
              <a:lnSpc>
                <a:spcPct val="125000"/>
              </a:lnSpc>
              <a:spcAft>
                <a:spcPts val="200"/>
              </a:spcAft>
            </a:pPr>
            <a:r>
              <a:rPr sz="900" b="0" i="0">
                <a:solidFill>
                  <a:srgbClr val="E6EDF3"/>
                </a:solidFill>
                <a:latin typeface="Consolas"/>
              </a:rPr>
              <a:t>  ping → pong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